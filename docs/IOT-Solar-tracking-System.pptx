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773" r:id="rId2"/>
  </p:sldMasterIdLst>
  <p:notesMasterIdLst>
    <p:notesMasterId r:id="rId59"/>
  </p:notesMasterIdLst>
  <p:sldIdLst>
    <p:sldId id="256" r:id="rId3"/>
    <p:sldId id="257" r:id="rId4"/>
    <p:sldId id="276" r:id="rId5"/>
    <p:sldId id="27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8" r:id="rId25"/>
    <p:sldId id="293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15" r:id="rId37"/>
    <p:sldId id="327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</p:sldIdLst>
  <p:sldSz cx="14630400" cy="8229600"/>
  <p:notesSz cx="8229600" cy="14630400"/>
  <p:embeddedFontLst>
    <p:embeddedFont>
      <p:font typeface="a Awal Ramadhan" panose="02000503000000000000" pitchFamily="50" charset="0"/>
      <p:regular r:id="rId60"/>
    </p:embeddedFont>
    <p:embeddedFont>
      <p:font typeface="Consolas" panose="020B0609020204030204" pitchFamily="49" charset="0"/>
      <p:regular r:id="rId61"/>
      <p:bold r:id="rId62"/>
      <p:italic r:id="rId63"/>
      <p:boldItalic r:id="rId64"/>
    </p:embeddedFont>
    <p:embeddedFont>
      <p:font typeface="Montserrat" pitchFamily="2" charset="0"/>
      <p:regular r:id="rId65"/>
      <p:bold r:id="rId66"/>
      <p:italic r:id="rId67"/>
      <p:boldItalic r:id="rId68"/>
    </p:embeddedFont>
    <p:embeddedFont>
      <p:font typeface="Montserrat Bold" pitchFamily="2" charset="0"/>
      <p:bold r:id="rId69"/>
    </p:embeddedFont>
    <p:embeddedFont>
      <p:font typeface="Montserrat Light" pitchFamily="2" charset="0"/>
      <p:regular r:id="rId70"/>
      <p:italic r:id="rId71"/>
    </p:embeddedFont>
    <p:embeddedFont>
      <p:font typeface="Montserrat Medium" pitchFamily="2" charset="0"/>
      <p:regular r:id="rId72"/>
      <p:italic r:id="rId73"/>
    </p:embeddedFont>
    <p:embeddedFont>
      <p:font typeface="Source Sans 3" panose="020B0604020202020204" charset="0"/>
      <p:regular r:id="rId74"/>
    </p:embeddedFont>
    <p:embeddedFont>
      <p:font typeface="Tomorrow" pitchFamily="2" charset="0"/>
      <p:regular r:id="rId75"/>
      <p:bold r:id="rId76"/>
      <p:italic r:id="rId77"/>
      <p:boldItalic r:id="rId7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02" y="6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5.fntdata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2.fntdata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font" Target="fonts/font18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3.fntdata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font" Target="fonts/font19.fntdata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7.fntdata"/><Relationship Id="rId7" Type="http://schemas.openxmlformats.org/officeDocument/2006/relationships/slide" Target="slides/slide5.xml"/><Relationship Id="rId71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40DB7-FF75-4748-80AD-51CE34378930}" type="datetimeFigureOut">
              <a:rPr lang="en-IN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73511-24B6-4231-90DE-7B3FB72C3BF4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20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1C94-C5A6-8AD1-B9B8-5C3AD345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33F16-8148-BAD7-EA24-A802E4636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ACF38-17A6-8335-3EA6-6B7A42696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19545-57C7-CCD1-9282-54BF36272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59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6038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2885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100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027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1098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057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140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81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506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320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1577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449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295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275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145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973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989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676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807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547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46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59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8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4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1.png"/><Relationship Id="rId5" Type="http://schemas.openxmlformats.org/officeDocument/2006/relationships/image" Target="../media/image63.svg"/><Relationship Id="rId4" Type="http://schemas.openxmlformats.org/officeDocument/2006/relationships/image" Target="../media/image6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1.png"/><Relationship Id="rId5" Type="http://schemas.openxmlformats.org/officeDocument/2006/relationships/image" Target="../media/image41.svg"/><Relationship Id="rId4" Type="http://schemas.openxmlformats.org/officeDocument/2006/relationships/image" Target="../media/image6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3.svg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4.png"/><Relationship Id="rId7" Type="http://schemas.openxmlformats.org/officeDocument/2006/relationships/image" Target="../media/image78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7.svg"/><Relationship Id="rId5" Type="http://schemas.openxmlformats.org/officeDocument/2006/relationships/image" Target="../media/image76.svg"/><Relationship Id="rId4" Type="http://schemas.openxmlformats.org/officeDocument/2006/relationships/image" Target="../media/image75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2.png"/><Relationship Id="rId11" Type="http://schemas.openxmlformats.org/officeDocument/2006/relationships/image" Target="../media/image69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0.svg"/><Relationship Id="rId5" Type="http://schemas.openxmlformats.org/officeDocument/2006/relationships/image" Target="../media/image89.svg"/><Relationship Id="rId4" Type="http://schemas.openxmlformats.org/officeDocument/2006/relationships/image" Target="../media/image88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6996" y="2163564"/>
            <a:ext cx="7461409" cy="232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INTELLIGENT SOLAR TRACKING AND ENERGY PREDICTION SYSTEM USING MACHINE LEARNING</a:t>
            </a:r>
            <a:endParaRPr lang="en-US" sz="2400" spc="300" dirty="0"/>
          </a:p>
        </p:txBody>
      </p:sp>
      <p:sp>
        <p:nvSpPr>
          <p:cNvPr id="4" name="Text 1"/>
          <p:cNvSpPr/>
          <p:nvPr/>
        </p:nvSpPr>
        <p:spPr>
          <a:xfrm>
            <a:off x="841296" y="4213463"/>
            <a:ext cx="7461409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innovative solution integrating IoT and Machine Learning for enhanced renewable energy management.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41296" y="5106670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Presented By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41296" y="5698292"/>
            <a:ext cx="7461409" cy="152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Sharkesh – 234031101119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Sheik Abdullah – 234031101121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Sree Sharan – 234031101123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Srinath – 234031101124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Sriram – 234031101125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1296" y="7433860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Date: 31.12.2025 | 1</a:t>
            </a:r>
            <a:r>
              <a:rPr lang="en-US" sz="1700" baseline="300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</a:t>
            </a: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Review | Project Guide: Surya (IBM) | Project Reviewer: Dr. C. Priya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98663"/>
            <a:ext cx="5486400" cy="822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10D464-D0BC-F396-0539-31090E336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911EA5-2F46-8247-2529-C4D378903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975" y="6969304"/>
            <a:ext cx="37814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E40F20-50D6-43C4-6552-A94B4A27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860" y="114300"/>
            <a:ext cx="3940679" cy="11216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2B74602-5C12-8F7A-9F9F-DBF64E82C311}"/>
              </a:ext>
            </a:extLst>
          </p:cNvPr>
          <p:cNvSpPr txBox="1"/>
          <p:nvPr/>
        </p:nvSpPr>
        <p:spPr>
          <a:xfrm>
            <a:off x="774700" y="1338966"/>
            <a:ext cx="139573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300" dirty="0"/>
              <a:t>PROJECT ABSTRACT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rising demand for renewable energy highlights the need for efficient solar power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Fixed solar panels cannot follow the sun, leading to energy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project proposes an </a:t>
            </a:r>
            <a:r>
              <a:rPr lang="en-US" sz="2000" b="1" dirty="0"/>
              <a:t>IoT-based intelligent solar tracking system</a:t>
            </a:r>
            <a:r>
              <a:rPr lang="en-US" sz="2000" dirty="0"/>
              <a:t> with </a:t>
            </a:r>
            <a:r>
              <a:rPr lang="en-US" sz="2000" b="1" dirty="0"/>
              <a:t>machine learning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LDR sensors</a:t>
            </a:r>
            <a:r>
              <a:rPr lang="en-US" sz="2000" dirty="0"/>
              <a:t> detect sunlight intensity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 </a:t>
            </a:r>
            <a:r>
              <a:rPr lang="en-US" sz="2000" b="1" dirty="0"/>
              <a:t>ESP32 microcontroller</a:t>
            </a:r>
            <a:r>
              <a:rPr lang="en-US" sz="2000" dirty="0"/>
              <a:t> controls a </a:t>
            </a:r>
            <a:r>
              <a:rPr lang="en-US" sz="2000" b="1" dirty="0"/>
              <a:t>servo motor</a:t>
            </a:r>
            <a:r>
              <a:rPr lang="en-US" sz="2000" dirty="0"/>
              <a:t> to align the solar panel optimally.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Real-time solar tracking improves energy generation compared to fixed panels.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measures </a:t>
            </a:r>
            <a:r>
              <a:rPr lang="en-US" sz="2000" b="1" dirty="0"/>
              <a:t>voltage, current, and power output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is sent to the cloud using </a:t>
            </a:r>
            <a:r>
              <a:rPr lang="en-US" sz="2000" b="1" dirty="0"/>
              <a:t>Wi-Fi</a:t>
            </a:r>
            <a:r>
              <a:rPr lang="en-US" sz="2000" dirty="0"/>
              <a:t> for storage 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Machine learning models</a:t>
            </a:r>
            <a:r>
              <a:rPr lang="en-US" sz="2000" dirty="0"/>
              <a:t> predict future energy generation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is </a:t>
            </a:r>
            <a:r>
              <a:rPr lang="en-US" sz="2000" b="1" dirty="0"/>
              <a:t>low-cost, scalable, and suitable for educational and small-scale use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29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397BA8-A77B-F83A-65E7-D0F17ADC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860" y="114300"/>
            <a:ext cx="3940679" cy="11216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813ACF-5638-5852-B352-32F68F871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975" y="6969304"/>
            <a:ext cx="37814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30991C-4A75-7A62-7AE1-EDFB6598A57D}"/>
              </a:ext>
            </a:extLst>
          </p:cNvPr>
          <p:cNvSpPr txBox="1"/>
          <p:nvPr/>
        </p:nvSpPr>
        <p:spPr>
          <a:xfrm>
            <a:off x="0" y="1385930"/>
            <a:ext cx="1463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spc="300" dirty="0"/>
              <a:t>PROBLEM STATEMENT</a:t>
            </a:r>
          </a:p>
          <a:p>
            <a:pPr algn="ctr">
              <a:buNone/>
            </a:pPr>
            <a:endParaRPr lang="en-US" sz="2400" b="1" spc="3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256301-6376-5B5A-FFDD-7658475F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955" y="2357428"/>
            <a:ext cx="1124699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Increasing demand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renewable energy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 due to high cost of conventional power sources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Solar energy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 is a major alternative, but efficiency is still a challenge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Traditional solar panels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fixed at one angle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Fixed panels cannot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track sun movement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, leading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energy loss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Conventional systems lack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real-time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 of solar performance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No 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performance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 to optimize energy output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Lack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predictive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 makes maintenance difficult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low-cost intelligent solar tracking system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System should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0"/>
              </a:rPr>
              <a:t>automatic sun tracking + electrical monitoring + predictive analytics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34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0E46A-DEDE-B633-BD95-6FABCA611A90}"/>
              </a:ext>
            </a:extLst>
          </p:cNvPr>
          <p:cNvSpPr txBox="1"/>
          <p:nvPr/>
        </p:nvSpPr>
        <p:spPr>
          <a:xfrm>
            <a:off x="2236676" y="1235911"/>
            <a:ext cx="10337800" cy="526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spc="300" dirty="0"/>
              <a:t>OBJECTIVES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design and develop an </a:t>
            </a:r>
            <a:r>
              <a:rPr lang="en-US" b="1" dirty="0"/>
              <a:t>IoT-based intelligent solar tracking system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automatically align the solar panel toward maximum sunlight using </a:t>
            </a:r>
            <a:r>
              <a:rPr lang="en-US" b="1" dirty="0"/>
              <a:t>LDR sensors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control solar panel movement using an </a:t>
            </a:r>
            <a:r>
              <a:rPr lang="en-US" b="1" dirty="0"/>
              <a:t>ESP32 microcontroller and servo motor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improve energy generation compared to fixed-angle solar panels.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measure key electrical parameters such as </a:t>
            </a:r>
            <a:r>
              <a:rPr lang="en-US" b="1" dirty="0"/>
              <a:t>voltage, current, and power output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transmit real-time data to a cloud server using </a:t>
            </a:r>
            <a:r>
              <a:rPr lang="en-US" b="1" dirty="0"/>
              <a:t>Wi-Fi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apply </a:t>
            </a:r>
            <a:r>
              <a:rPr lang="en-US" b="1" dirty="0"/>
              <a:t>machine learning regression models</a:t>
            </a:r>
            <a:r>
              <a:rPr lang="en-US" dirty="0"/>
              <a:t> for energy prediction and performance analysis.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visualize real-time and predicted data through an </a:t>
            </a:r>
            <a:r>
              <a:rPr lang="en-US" b="1" dirty="0"/>
              <a:t>interactive dashboard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compare the performance of the tracking system with a fixed solar panel.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develop a </a:t>
            </a:r>
            <a:r>
              <a:rPr lang="en-US" b="1" dirty="0"/>
              <a:t>low-cost, scalable system</a:t>
            </a:r>
            <a:r>
              <a:rPr lang="en-US" dirty="0"/>
              <a:t> suitable for educational and small-scale applications.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3837F-5219-2DED-1313-FC2849778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975" y="6969304"/>
            <a:ext cx="37814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D19721-1E44-0802-57C6-0B9DF3A27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860" y="114300"/>
            <a:ext cx="3940679" cy="1121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C760C8-01C6-67EE-21E1-5AF2B129D902}"/>
              </a:ext>
            </a:extLst>
          </p:cNvPr>
          <p:cNvSpPr txBox="1"/>
          <p:nvPr/>
        </p:nvSpPr>
        <p:spPr>
          <a:xfrm>
            <a:off x="2148073" y="6885043"/>
            <a:ext cx="11163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Base Paper: IoT-Enabled Solar Tracking Systems with Machine Learning-Based Energy Prediction, IEEE Access, 2025.Focus: IoT architecture, solar monitoring, ML-based forecasting</a:t>
            </a:r>
          </a:p>
        </p:txBody>
      </p:sp>
    </p:spTree>
    <p:extLst>
      <p:ext uri="{BB962C8B-B14F-4D97-AF65-F5344CB8AC3E}">
        <p14:creationId xmlns:p14="http://schemas.microsoft.com/office/powerpoint/2010/main" val="273354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551" y="1561231"/>
            <a:ext cx="13032082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8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 OF EXISTING SOLAR SYSTEMS</a:t>
            </a:r>
            <a:endParaRPr lang="en-US" sz="2800" spc="300" dirty="0"/>
          </a:p>
        </p:txBody>
      </p:sp>
      <p:sp>
        <p:nvSpPr>
          <p:cNvPr id="3" name="Text 1"/>
          <p:cNvSpPr/>
          <p:nvPr/>
        </p:nvSpPr>
        <p:spPr>
          <a:xfrm>
            <a:off x="726450" y="2065266"/>
            <a:ext cx="12902803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solar energy setups face several challenges that hinder optimal performance and efficiency.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51" y="3126387"/>
            <a:ext cx="586145" cy="5861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9064" y="3126387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Static Installation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559064" y="3592993"/>
            <a:ext cx="3250763" cy="171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Solar panels are installed with a fixed tilt and orientation, unable to adapt to the sun's dynamic movement throughout the day or seasons.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196" y="3126387"/>
            <a:ext cx="586145" cy="5861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2709" y="3126387"/>
            <a:ext cx="2689027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Reduced Efficiency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5952709" y="3592993"/>
            <a:ext cx="3250883" cy="171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improper alignment results in a significant reduction in energy generation efficiency, missing out on optimal solar irradiance.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1959" y="3126387"/>
            <a:ext cx="586145" cy="5861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46472" y="3126387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Lack of Monitoring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0346472" y="3592993"/>
            <a:ext cx="3250763" cy="137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traditional systems lack real-time monitoring capabilities for critical data such as voltage, current, and power output.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51" y="5752310"/>
            <a:ext cx="586145" cy="5861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49374" y="5752310"/>
            <a:ext cx="3250763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Predictive Capability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3749374" y="6551934"/>
            <a:ext cx="3250763" cy="137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is an absence of intelligent predictive models for estimating future power generation, leading to less efficient energy planning.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8143019" y="5752310"/>
            <a:ext cx="2925008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Maintenance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8143019" y="6218916"/>
            <a:ext cx="3250883" cy="171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systems often require manual evaluation and maintenance, which increases operational costs and reduces overall reliability.</a:t>
            </a:r>
            <a:endParaRPr lang="en-US" sz="1800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728" y="7531680"/>
            <a:ext cx="37814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CA5DA5-4292-B93C-A1B9-78EDCAB20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68785"/>
            <a:ext cx="12902804" cy="3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OUR INTELLIGENT SOLAR SOLUTION</a:t>
            </a:r>
            <a:endParaRPr lang="en-US" sz="2250" spc="300" dirty="0"/>
          </a:p>
        </p:txBody>
      </p:sp>
      <p:sp>
        <p:nvSpPr>
          <p:cNvPr id="3" name="Text 1"/>
          <p:cNvSpPr/>
          <p:nvPr/>
        </p:nvSpPr>
        <p:spPr>
          <a:xfrm>
            <a:off x="863798" y="2441833"/>
            <a:ext cx="12902803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integrates cutting-edge IoT technology with machine learning to revolutionize solar energy harnessing and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03770" y="2757706"/>
            <a:ext cx="22860" cy="5283041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017187" y="2926655"/>
            <a:ext cx="320873" cy="22860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255073" y="2877959"/>
            <a:ext cx="120253" cy="120253"/>
          </a:xfrm>
          <a:prstGeom prst="roundRect">
            <a:avLst>
              <a:gd name="adj" fmla="val 380198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4850368" y="2812832"/>
            <a:ext cx="1823085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798" y="3103106"/>
            <a:ext cx="5809655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Utilizes intelligent solar tracking with real-time feedback from Light Dependent Resistors (LDRs) for optimal sun alignment.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92340" y="3776881"/>
            <a:ext cx="320873" cy="22860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7255073" y="3728184"/>
            <a:ext cx="120253" cy="120253"/>
          </a:xfrm>
          <a:prstGeom prst="roundRect">
            <a:avLst>
              <a:gd name="adj" fmla="val 380198"/>
            </a:avLst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7956947" y="3663057"/>
            <a:ext cx="191738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Dynamic 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6947" y="3953331"/>
            <a:ext cx="5809655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ESP32 microcontroller processes sensor data and controls servo motors, ensuring dynamic adjustment of panel orientation.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17187" y="4550430"/>
            <a:ext cx="320873" cy="22860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7255073" y="4501733"/>
            <a:ext cx="120253" cy="120253"/>
          </a:xfrm>
          <a:prstGeom prst="roundRect">
            <a:avLst>
              <a:gd name="adj" fmla="val 380198"/>
            </a:avLst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4850368" y="4436606"/>
            <a:ext cx="1823085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3798" y="4726880"/>
            <a:ext cx="5809655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continuous measurement of critical parameters like voltage, current, and power output for immediate insights.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2340" y="5323979"/>
            <a:ext cx="320873" cy="22860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255073" y="5275282"/>
            <a:ext cx="120253" cy="120253"/>
          </a:xfrm>
          <a:prstGeom prst="roundRect">
            <a:avLst>
              <a:gd name="adj" fmla="val 380198"/>
            </a:avLst>
          </a:prstGeom>
          <a:solidFill>
            <a:srgbClr val="2D2E34"/>
          </a:solidFill>
          <a:ln/>
        </p:spPr>
      </p:sp>
      <p:sp>
        <p:nvSpPr>
          <p:cNvPr id="19" name="Text 17"/>
          <p:cNvSpPr/>
          <p:nvPr/>
        </p:nvSpPr>
        <p:spPr>
          <a:xfrm>
            <a:off x="7956947" y="5210155"/>
            <a:ext cx="2128599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Wireless Transmission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6947" y="5500429"/>
            <a:ext cx="5809655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collected data is transmitted wirelessly to a backend server via Wi-Fi for seamless data flow and accessibility.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017187" y="6097528"/>
            <a:ext cx="320873" cy="22860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5073" y="6048831"/>
            <a:ext cx="120253" cy="120253"/>
          </a:xfrm>
          <a:prstGeom prst="roundRect">
            <a:avLst>
              <a:gd name="adj" fmla="val 380198"/>
            </a:avLst>
          </a:prstGeom>
          <a:solidFill>
            <a:srgbClr val="2D2E34"/>
          </a:solidFill>
          <a:ln/>
        </p:spPr>
      </p:sp>
      <p:sp>
        <p:nvSpPr>
          <p:cNvPr id="23" name="Text 21"/>
          <p:cNvSpPr/>
          <p:nvPr/>
        </p:nvSpPr>
        <p:spPr>
          <a:xfrm>
            <a:off x="4850368" y="5983704"/>
            <a:ext cx="1823085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Predictions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3798" y="6273979"/>
            <a:ext cx="5809655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regression models are employed to accurately predict future energy generation, enabling proactive energy planning.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92340" y="6871077"/>
            <a:ext cx="320873" cy="22860"/>
          </a:xfrm>
          <a:prstGeom prst="roundRect">
            <a:avLst>
              <a:gd name="adj" fmla="val 105276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5073" y="6822380"/>
            <a:ext cx="120253" cy="120253"/>
          </a:xfrm>
          <a:prstGeom prst="roundRect">
            <a:avLst>
              <a:gd name="adj" fmla="val 380198"/>
            </a:avLst>
          </a:prstGeom>
          <a:solidFill>
            <a:srgbClr val="2D2E34"/>
          </a:solidFill>
          <a:ln/>
        </p:spPr>
      </p:sp>
      <p:sp>
        <p:nvSpPr>
          <p:cNvPr id="27" name="Text 25"/>
          <p:cNvSpPr/>
          <p:nvPr/>
        </p:nvSpPr>
        <p:spPr>
          <a:xfrm>
            <a:off x="7956947" y="6757253"/>
            <a:ext cx="2121337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6947" y="7047528"/>
            <a:ext cx="5809655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and predicted energy trends are visualized on an intuitive and user-friendly dashboard for comprehensive monitoring.</a:t>
            </a:r>
            <a:endParaRPr lang="en-US" sz="125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FED871EB-E556-2157-2208-4761DB69C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975" y="7444720"/>
            <a:ext cx="3781425" cy="743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BA9BC7F-AD39-68F3-0D86-CB7298176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1087" y="1731264"/>
            <a:ext cx="12879943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REQUIREMENTS</a:t>
            </a:r>
            <a:endParaRPr lang="en-US" sz="3500" spc="300" dirty="0"/>
          </a:p>
        </p:txBody>
      </p:sp>
      <p:sp>
        <p:nvSpPr>
          <p:cNvPr id="3" name="Text 1"/>
          <p:cNvSpPr/>
          <p:nvPr/>
        </p:nvSpPr>
        <p:spPr>
          <a:xfrm>
            <a:off x="1040025" y="2373337"/>
            <a:ext cx="12902803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implement our intelligent solar tracking and energy prediction system, specific hardware and software components are essential.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38227" y="3841397"/>
            <a:ext cx="6372463" cy="3887986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1087" y="3864257"/>
            <a:ext cx="6326743" cy="592336"/>
          </a:xfrm>
          <a:prstGeom prst="roundRect">
            <a:avLst>
              <a:gd name="adj" fmla="val 36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3976345" y="3975343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8493" y="4614470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Hardware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58493" y="4989755"/>
            <a:ext cx="5931932" cy="213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Solar Panel: For efficient energy capture.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Microcontroller: Central to data processing and control.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LDRs (Light Dependent Resistors): Detects sunlight intensity.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Servo Motor: Enables precise panel adjustment.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Sensors: For accurate voltage and current monitoring.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Wi-Fi Connectivity: Facilitates seamless data transmission.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Supply: Ensures continuous system operation.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Mounting Structure: Provides stable physical support for the system.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68567" y="3841397"/>
            <a:ext cx="6372463" cy="3887986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1427" y="3864257"/>
            <a:ext cx="6326743" cy="592336"/>
          </a:xfrm>
          <a:prstGeom prst="roundRect">
            <a:avLst>
              <a:gd name="adj" fmla="val 36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506685" y="3975343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688833" y="4614470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88833" y="4989755"/>
            <a:ext cx="5931932" cy="159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 IDE / ESP32: Integrated programming environment.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Python: Utilized for ML model development.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 Libraries: Includes Scikit-learn and Pandas for data analysis.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Database: MySQL / Firebase for secure data storage.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 Dashboard: For interactive data visualization and user interface.</a:t>
            </a:r>
            <a:endParaRPr lang="en-US" sz="1550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404" y="7788001"/>
            <a:ext cx="37814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FA634C-179E-BE24-4784-D6AB9570F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4">
            <a:extLst>
              <a:ext uri="{FF2B5EF4-FFF2-40B4-BE49-F238E27FC236}">
                <a16:creationId xmlns:a16="http://schemas.microsoft.com/office/drawing/2014/main" id="{FFE534E1-F2C6-AA82-30AD-439ADBD95466}"/>
              </a:ext>
            </a:extLst>
          </p:cNvPr>
          <p:cNvSpPr/>
          <p:nvPr/>
        </p:nvSpPr>
        <p:spPr>
          <a:xfrm>
            <a:off x="841296" y="7555838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Date: 12.01.2026 | 2</a:t>
            </a:r>
            <a:r>
              <a:rPr lang="en-US" sz="1700" baseline="300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nd</a:t>
            </a: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Review |Project Guide: Surya (IBM) | Project Reviewer: Dr. C. Priya</a:t>
            </a:r>
            <a:endParaRPr lang="en-US" sz="17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0D88E914-A164-3108-F48B-A34A64D20DB4}"/>
              </a:ext>
            </a:extLst>
          </p:cNvPr>
          <p:cNvSpPr/>
          <p:nvPr/>
        </p:nvSpPr>
        <p:spPr>
          <a:xfrm>
            <a:off x="726996" y="2163564"/>
            <a:ext cx="7461409" cy="232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INTELLIGENT SOLAR TRACKING AND ENERGY PREDICTION SYSTEM USING MACHINE LEARNING</a:t>
            </a:r>
            <a:endParaRPr lang="en-US" sz="2400" spc="3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4A73154-D7CD-DEB1-9BE2-98A998EAAD31}"/>
              </a:ext>
            </a:extLst>
          </p:cNvPr>
          <p:cNvSpPr/>
          <p:nvPr/>
        </p:nvSpPr>
        <p:spPr>
          <a:xfrm>
            <a:off x="841296" y="4213463"/>
            <a:ext cx="7461409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innovative solution integrating IoT and Machine Learning for enhanced renewable energy management.</a:t>
            </a:r>
            <a:endParaRPr lang="en-US" sz="17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16080EB-7349-A4FF-9EAA-4E06DA64EABE}"/>
              </a:ext>
            </a:extLst>
          </p:cNvPr>
          <p:cNvSpPr/>
          <p:nvPr/>
        </p:nvSpPr>
        <p:spPr>
          <a:xfrm>
            <a:off x="841296" y="5106670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Presented By</a:t>
            </a:r>
            <a:endParaRPr lang="en-US" sz="19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4E65DA1-48BC-23A1-BE6E-B4FA8645BB6F}"/>
              </a:ext>
            </a:extLst>
          </p:cNvPr>
          <p:cNvSpPr/>
          <p:nvPr/>
        </p:nvSpPr>
        <p:spPr>
          <a:xfrm>
            <a:off x="841296" y="5698292"/>
            <a:ext cx="7461409" cy="152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Sharkesh – 234031101119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Sheik Abdullah – 234031101121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Sree Sharan – 234031101123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Srinath – 234031101124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Sriram – 234031101125</a:t>
            </a:r>
            <a:endParaRPr lang="en-US" sz="17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1A1C876-39B5-9DB3-E4E9-2D34CB87ABC6}"/>
              </a:ext>
            </a:extLst>
          </p:cNvPr>
          <p:cNvSpPr/>
          <p:nvPr/>
        </p:nvSpPr>
        <p:spPr>
          <a:xfrm>
            <a:off x="841296" y="7433860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70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0BAB1F7C-7B5F-783B-422B-DD285D8F4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2" y="85249"/>
            <a:ext cx="5486400" cy="822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3639D-C455-DD16-643A-2B25037E6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320039"/>
            <a:ext cx="1304282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2000" b="1" spc="300" dirty="0">
                <a:solidFill>
                  <a:srgbClr val="1D1D1B"/>
                </a:solidFill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SYSTEM ARCHITECTURE: INTEGRATING INTELLIGENCE INTO SOLAR ENERGY</a:t>
            </a:r>
            <a:endParaRPr lang="en-US" sz="2000" b="1" spc="300" dirty="0">
              <a:latin typeface="Montserrat Bol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33712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Our system meticulously integrates several components to achieve optimal solar energy capture and prediction. From physical tracking to advanced analytics, each element plays a crucial role in enhancing efficiency.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3058590"/>
            <a:ext cx="4241721" cy="1429822"/>
          </a:xfrm>
          <a:prstGeom prst="roundRect">
            <a:avLst>
              <a:gd name="adj" fmla="val 7674"/>
            </a:avLst>
          </a:prstGeom>
          <a:solidFill>
            <a:srgbClr val="FCFCFC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035730"/>
            <a:ext cx="4241721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6" name="Shape 4"/>
          <p:cNvSpPr/>
          <p:nvPr/>
        </p:nvSpPr>
        <p:spPr>
          <a:xfrm>
            <a:off x="2676525" y="282046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3455425"/>
            <a:ext cx="290381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Solar Panel with Servo Motor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5360" y="3798682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Dynamic positioning for maximum sunlight absorption.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94221" y="3058590"/>
            <a:ext cx="4241840" cy="1429822"/>
          </a:xfrm>
          <a:prstGeom prst="roundRect">
            <a:avLst>
              <a:gd name="adj" fmla="val 7674"/>
            </a:avLst>
          </a:prstGeom>
          <a:solidFill>
            <a:srgbClr val="FCFCFC"/>
          </a:solidFill>
          <a:ln/>
        </p:spPr>
      </p:sp>
      <p:sp>
        <p:nvSpPr>
          <p:cNvPr id="11" name="Shape 8"/>
          <p:cNvSpPr/>
          <p:nvPr/>
        </p:nvSpPr>
        <p:spPr>
          <a:xfrm>
            <a:off x="5194221" y="3035730"/>
            <a:ext cx="4241840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6956" y="282046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/>
          </a:p>
          <a:p>
            <a:endParaRPr lang="en-IN" dirty="0"/>
          </a:p>
        </p:txBody>
      </p:sp>
      <p:sp>
        <p:nvSpPr>
          <p:cNvPr id="14" name="Text 10"/>
          <p:cNvSpPr/>
          <p:nvPr/>
        </p:nvSpPr>
        <p:spPr>
          <a:xfrm>
            <a:off x="5375791" y="3455425"/>
            <a:ext cx="351936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LDR Sensors for Sunlight Detection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375791" y="3798682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light intensity measurement for precise tracking.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594771" y="3058590"/>
            <a:ext cx="4241721" cy="1429822"/>
          </a:xfrm>
          <a:prstGeom prst="roundRect">
            <a:avLst>
              <a:gd name="adj" fmla="val 7674"/>
            </a:avLst>
          </a:prstGeom>
          <a:solidFill>
            <a:srgbClr val="FCF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9594771" y="3035730"/>
            <a:ext cx="4241721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77506" y="282046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Text 15"/>
          <p:cNvSpPr/>
          <p:nvPr/>
        </p:nvSpPr>
        <p:spPr>
          <a:xfrm>
            <a:off x="9776341" y="3455425"/>
            <a:ext cx="225040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ESP32 Microcontroller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9776341" y="3798682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brains of the operation, coordinating data and movement.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93790" y="4885247"/>
            <a:ext cx="4241721" cy="1429822"/>
          </a:xfrm>
          <a:prstGeom prst="roundRect">
            <a:avLst>
              <a:gd name="adj" fmla="val 7674"/>
            </a:avLst>
          </a:prstGeom>
          <a:solidFill>
            <a:srgbClr val="FCFC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790" y="4862387"/>
            <a:ext cx="4241721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24" name="Shape 19"/>
          <p:cNvSpPr/>
          <p:nvPr/>
        </p:nvSpPr>
        <p:spPr>
          <a:xfrm>
            <a:off x="2676525" y="464712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</p:sp>
      <p:sp>
        <p:nvSpPr>
          <p:cNvPr id="26" name="Text 20"/>
          <p:cNvSpPr/>
          <p:nvPr/>
        </p:nvSpPr>
        <p:spPr>
          <a:xfrm>
            <a:off x="975360" y="5282082"/>
            <a:ext cx="218420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Wi-Fi Communication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975360" y="5625339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Seamless data transmission to the backend infrastructure.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194221" y="4885247"/>
            <a:ext cx="4241840" cy="1429822"/>
          </a:xfrm>
          <a:prstGeom prst="roundRect">
            <a:avLst>
              <a:gd name="adj" fmla="val 7674"/>
            </a:avLst>
          </a:prstGeom>
          <a:solidFill>
            <a:srgbClr val="FCFCFC"/>
          </a:solidFill>
          <a:ln/>
        </p:spPr>
      </p:sp>
      <p:sp>
        <p:nvSpPr>
          <p:cNvPr id="29" name="Shape 23"/>
          <p:cNvSpPr/>
          <p:nvPr/>
        </p:nvSpPr>
        <p:spPr>
          <a:xfrm>
            <a:off x="5194221" y="4862387"/>
            <a:ext cx="4241840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30" name="Shape 24"/>
          <p:cNvSpPr/>
          <p:nvPr/>
        </p:nvSpPr>
        <p:spPr>
          <a:xfrm>
            <a:off x="6993731" y="4647122"/>
            <a:ext cx="527576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Ⅴ   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2" name="Text 25"/>
          <p:cNvSpPr/>
          <p:nvPr/>
        </p:nvSpPr>
        <p:spPr>
          <a:xfrm>
            <a:off x="5375791" y="5282082"/>
            <a:ext cx="281749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Backend Server &amp; Database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5375791" y="5625339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Secure storage and processing of collected energy data.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9594771" y="4885247"/>
            <a:ext cx="4241721" cy="1429822"/>
          </a:xfrm>
          <a:prstGeom prst="roundRect">
            <a:avLst>
              <a:gd name="adj" fmla="val 7674"/>
            </a:avLst>
          </a:prstGeom>
          <a:solidFill>
            <a:srgbClr val="FCFCFC"/>
          </a:solidFill>
          <a:ln/>
        </p:spPr>
      </p:sp>
      <p:sp>
        <p:nvSpPr>
          <p:cNvPr id="35" name="Shape 28"/>
          <p:cNvSpPr/>
          <p:nvPr/>
        </p:nvSpPr>
        <p:spPr>
          <a:xfrm>
            <a:off x="9594771" y="4862387"/>
            <a:ext cx="4241721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36" name="Shape 29"/>
          <p:cNvSpPr/>
          <p:nvPr/>
        </p:nvSpPr>
        <p:spPr>
          <a:xfrm>
            <a:off x="11477506" y="464712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</p:sp>
      <p:sp>
        <p:nvSpPr>
          <p:cNvPr id="38" name="Text 30"/>
          <p:cNvSpPr/>
          <p:nvPr/>
        </p:nvSpPr>
        <p:spPr>
          <a:xfrm>
            <a:off x="9776341" y="5282082"/>
            <a:ext cx="362664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Machine Learning Prediction Engine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9776341" y="5625339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Predictive analytics for future energy generation forecasts.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793790" y="6711904"/>
            <a:ext cx="13042702" cy="1175742"/>
          </a:xfrm>
          <a:prstGeom prst="roundRect">
            <a:avLst>
              <a:gd name="adj" fmla="val 9333"/>
            </a:avLst>
          </a:prstGeom>
          <a:solidFill>
            <a:srgbClr val="FCFCFC"/>
          </a:solidFill>
          <a:ln/>
        </p:spPr>
      </p:sp>
      <p:sp>
        <p:nvSpPr>
          <p:cNvPr id="41" name="Shape 33"/>
          <p:cNvSpPr/>
          <p:nvPr/>
        </p:nvSpPr>
        <p:spPr>
          <a:xfrm>
            <a:off x="793790" y="6689044"/>
            <a:ext cx="13042702" cy="91440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</p:sp>
      <p:sp>
        <p:nvSpPr>
          <p:cNvPr id="42" name="Shape 34"/>
          <p:cNvSpPr/>
          <p:nvPr/>
        </p:nvSpPr>
        <p:spPr>
          <a:xfrm>
            <a:off x="7076955" y="6473779"/>
            <a:ext cx="643057" cy="476250"/>
          </a:xfrm>
          <a:prstGeom prst="roundRect">
            <a:avLst>
              <a:gd name="adj" fmla="val 192000"/>
            </a:avLst>
          </a:prstGeom>
          <a:solidFill>
            <a:srgbClr val="1D1D1B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Ⅶ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4" name="Text 35"/>
          <p:cNvSpPr/>
          <p:nvPr/>
        </p:nvSpPr>
        <p:spPr>
          <a:xfrm>
            <a:off x="975360" y="7108739"/>
            <a:ext cx="245399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Visualization Dashboard</a:t>
            </a:r>
            <a:endParaRPr lang="en-US" sz="1550" b="1" dirty="0">
              <a:latin typeface="Tomorrow" pitchFamily="2" charset="0"/>
            </a:endParaRPr>
          </a:p>
        </p:txBody>
      </p:sp>
      <p:sp>
        <p:nvSpPr>
          <p:cNvPr id="45" name="Text 36"/>
          <p:cNvSpPr/>
          <p:nvPr/>
        </p:nvSpPr>
        <p:spPr>
          <a:xfrm>
            <a:off x="975360" y="7451996"/>
            <a:ext cx="126795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Intuitive display of real-time and predicted energy insights.</a:t>
            </a:r>
            <a:endParaRPr lang="en-US" sz="12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75" y="7617492"/>
            <a:ext cx="34385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2ACA6CE-18B7-267A-A9D5-95CB2E5468F2}"/>
              </a:ext>
            </a:extLst>
          </p:cNvPr>
          <p:cNvSpPr txBox="1"/>
          <p:nvPr/>
        </p:nvSpPr>
        <p:spPr>
          <a:xfrm>
            <a:off x="2713075" y="2862995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74181F-2703-AF70-9724-18C9BFA35607}"/>
              </a:ext>
            </a:extLst>
          </p:cNvPr>
          <p:cNvSpPr txBox="1"/>
          <p:nvPr/>
        </p:nvSpPr>
        <p:spPr>
          <a:xfrm>
            <a:off x="7107638" y="2610417"/>
            <a:ext cx="468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dirty="0"/>
          </a:p>
          <a:p>
            <a:r>
              <a:rPr lang="en-US" dirty="0">
                <a:solidFill>
                  <a:schemeClr val="bg1"/>
                </a:solidFill>
              </a:rPr>
              <a:t>Ⅱ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D0125F-B056-B020-E35D-820217798964}"/>
              </a:ext>
            </a:extLst>
          </p:cNvPr>
          <p:cNvSpPr txBox="1"/>
          <p:nvPr/>
        </p:nvSpPr>
        <p:spPr>
          <a:xfrm>
            <a:off x="11525865" y="2891052"/>
            <a:ext cx="127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Ⅲ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D41068-9678-02FD-7E04-04AFCAF34496}"/>
              </a:ext>
            </a:extLst>
          </p:cNvPr>
          <p:cNvSpPr txBox="1"/>
          <p:nvPr/>
        </p:nvSpPr>
        <p:spPr>
          <a:xfrm>
            <a:off x="2713075" y="4704933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Ⅳ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36A467-2A9E-B618-8989-F6A6E95BF021}"/>
              </a:ext>
            </a:extLst>
          </p:cNvPr>
          <p:cNvSpPr txBox="1"/>
          <p:nvPr/>
        </p:nvSpPr>
        <p:spPr>
          <a:xfrm>
            <a:off x="11504424" y="4715566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Ⅵ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03B88-FE21-9E7D-6F0F-1DE1488E5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497" y="-80958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14005"/>
            <a:ext cx="1238976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2400" b="1" spc="300" dirty="0">
                <a:solidFill>
                  <a:srgbClr val="1D1D1B"/>
                </a:solidFill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CORE MODULES: DRIVING SOLAR EFFICIENCY AND INTELLIGENCE</a:t>
            </a:r>
            <a:endParaRPr lang="en-US" sz="2400" b="1" spc="300" dirty="0">
              <a:latin typeface="Tomorrow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1526" y="1496914"/>
            <a:ext cx="1306734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Our system is compartmentalized into distinct modules, each responsible for a specific function, ensuring robust performance and scalability.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2016085"/>
            <a:ext cx="893207" cy="10718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53327" y="2162235"/>
            <a:ext cx="272248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1. Solar Tracking Module</a:t>
            </a:r>
            <a:endParaRPr lang="en-US" sz="1750" b="1" dirty="0">
              <a:latin typeface="Tomorrow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53327" y="2548593"/>
            <a:ext cx="119955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Utilizes LDR sensors and a servo motor to dynamically align the solar panel, ensuring optimal exposure to sunlight throughout the day.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26" y="3087886"/>
            <a:ext cx="893207" cy="10718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53327" y="3234036"/>
            <a:ext cx="3007400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2. Data Acquisition Module</a:t>
            </a:r>
            <a:endParaRPr lang="en-US" sz="1750" b="1" dirty="0">
              <a:latin typeface="Tomorrow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53327" y="3620394"/>
            <a:ext cx="119955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Measures critical parameters such as voltage, current, and power generated by the solar panel, providing raw data for analysis.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26" y="4159687"/>
            <a:ext cx="893207" cy="10718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53327" y="4305836"/>
            <a:ext cx="336518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3. IoT Communication Module</a:t>
            </a:r>
            <a:endParaRPr lang="en-US" sz="1750" b="1" dirty="0">
              <a:latin typeface="Tomorrow" pitchFamily="2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853327" y="4724638"/>
            <a:ext cx="119955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Facilitates secure and efficient transmission of acquired data to the central backend server via Wi-Fi, enabling remote monitoring.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26" y="5231487"/>
            <a:ext cx="893207" cy="10718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53327" y="5410081"/>
            <a:ext cx="317611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4. Machine Learning Module</a:t>
            </a:r>
            <a:endParaRPr lang="en-US" sz="1750" b="1" dirty="0">
              <a:latin typeface="Tomorrow" pitchFamily="2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853327" y="5796439"/>
            <a:ext cx="119955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Employs advanced algorithms to analyze historical and real-time data, predicting future energy generation patterns with high accuracy.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26" y="6303288"/>
            <a:ext cx="893207" cy="13150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53327" y="6481882"/>
            <a:ext cx="26184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latin typeface="Tomorrow" pitchFamily="2" charset="0"/>
                <a:ea typeface="Tomorrow Semi Bold" pitchFamily="34" charset="-122"/>
                <a:cs typeface="Tomorrow Semi Bold" pitchFamily="34" charset="-120"/>
              </a:rPr>
              <a:t>5. Visualization Module</a:t>
            </a:r>
            <a:endParaRPr lang="en-US" sz="1750" b="1" dirty="0">
              <a:latin typeface="Tomorrow" pitchFamily="2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853327" y="6868239"/>
            <a:ext cx="119955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Presents real-time operational data and predictive insights through an interactive dashboard, offering a clear overview of system performance.</a:t>
            </a:r>
            <a:endParaRPr lang="en-US" sz="1400" dirty="0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808" y="7597954"/>
            <a:ext cx="34385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68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2800" b="1" spc="300" dirty="0"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FEASIBILITY STUDY: A COMPREHENSIVE ASSESSMENT</a:t>
            </a:r>
            <a:endParaRPr lang="en-US" sz="2800" b="1" spc="300" dirty="0">
              <a:latin typeface="Montserrat Bol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447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We studied whether this project is practical and worth doing.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62789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26278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520083"/>
            <a:ext cx="28821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Technical Feasibility</a:t>
            </a:r>
            <a:endParaRPr lang="en-US" sz="2000" b="1" dirty="0">
              <a:latin typeface="Montserrat Bold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4010501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Uses affordable, easy-to-find parts like the ESP32 chip and light sensors, plus tested machine learning tools.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62789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26278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520083"/>
            <a:ext cx="29751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Economic Feasibility</a:t>
            </a:r>
            <a:endParaRPr lang="en-US" sz="2000" b="1" dirty="0">
              <a:latin typeface="Montserrat Bold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7282" y="4010501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Uses cheap, ready-made parts and free software, so the project won't cost much.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611654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61165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868948"/>
            <a:ext cx="3191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Operational </a:t>
            </a:r>
            <a:r>
              <a:rPr lang="en-US" sz="2000" b="1" dirty="0"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Feasibility</a:t>
            </a:r>
            <a:endParaRPr lang="en-US" sz="2200" b="1" dirty="0">
              <a:latin typeface="Montserrat Bold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2524" y="635936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Easy to use and monitor with a simple dashboard that shows clear, useful information.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611654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61165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868948"/>
            <a:ext cx="28767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Montserrat Bold" pitchFamily="2" charset="0"/>
                <a:ea typeface="Tomorrow Semi Bold" pitchFamily="34" charset="-122"/>
                <a:cs typeface="Tomorrow Semi Bold" pitchFamily="34" charset="-120"/>
              </a:rPr>
              <a:t>Schedule Feasibility</a:t>
            </a:r>
            <a:endParaRPr lang="en-US" sz="2000" b="1" dirty="0">
              <a:latin typeface="Montserrat Bold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7282" y="635936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The project is clear and can be finished in one  semester.</a:t>
            </a:r>
            <a:endParaRPr lang="en-US" sz="1750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808" y="7597954"/>
            <a:ext cx="34385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EA24B5-6099-07A0-8DA8-192A9610C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712" y="114300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350198" y="5426273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477B10D-9A65-4F86-3584-A93FBD39DA5F}"/>
              </a:ext>
            </a:extLst>
          </p:cNvPr>
          <p:cNvSpPr/>
          <p:nvPr/>
        </p:nvSpPr>
        <p:spPr>
          <a:xfrm>
            <a:off x="841296" y="7534574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Date: 29.01.2026 | 3</a:t>
            </a:r>
            <a:r>
              <a:rPr lang="en-US" sz="1700" baseline="300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rd</a:t>
            </a: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Review |Project Guide: Surya (IBM) | Project Reviewer: Dr. C. Priya</a:t>
            </a:r>
            <a:endParaRPr lang="en-US" sz="17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43F9025B-16AB-6904-1301-EFB4556FD00A}"/>
              </a:ext>
            </a:extLst>
          </p:cNvPr>
          <p:cNvSpPr/>
          <p:nvPr/>
        </p:nvSpPr>
        <p:spPr>
          <a:xfrm>
            <a:off x="726996" y="2163564"/>
            <a:ext cx="7461409" cy="232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INTELLIGENT SOLAR TRACKING AND ENERGY PREDICTION SYSTEM USING MACHINE LEARNING</a:t>
            </a:r>
            <a:endParaRPr lang="en-US" sz="2400" spc="3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15E66DE5-1B22-BDC3-5561-8C221BEACB70}"/>
              </a:ext>
            </a:extLst>
          </p:cNvPr>
          <p:cNvSpPr/>
          <p:nvPr/>
        </p:nvSpPr>
        <p:spPr>
          <a:xfrm>
            <a:off x="841296" y="4213463"/>
            <a:ext cx="7461409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innovative solution integrating IoT and Machine Learning for enhanced renewable energy management.</a:t>
            </a:r>
            <a:endParaRPr lang="en-US" sz="17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5861D6FE-ACD4-64CA-FBED-0F5CEC3C06AB}"/>
              </a:ext>
            </a:extLst>
          </p:cNvPr>
          <p:cNvSpPr/>
          <p:nvPr/>
        </p:nvSpPr>
        <p:spPr>
          <a:xfrm>
            <a:off x="841296" y="5106670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Presented By</a:t>
            </a:r>
            <a:endParaRPr lang="en-US" sz="19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3A6F446-8154-B238-6EB3-B3B03D91BD64}"/>
              </a:ext>
            </a:extLst>
          </p:cNvPr>
          <p:cNvSpPr/>
          <p:nvPr/>
        </p:nvSpPr>
        <p:spPr>
          <a:xfrm>
            <a:off x="841296" y="5698292"/>
            <a:ext cx="7461409" cy="152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Sharkesh – 234031101119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Sheik Abdullah – 234031101121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Sree Sharan – 234031101123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Srinath – 234031101124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Sriram – 234031101125</a:t>
            </a:r>
            <a:endParaRPr lang="en-US" sz="17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40282EE-3BF3-152A-3A4B-FF45394F33C5}"/>
              </a:ext>
            </a:extLst>
          </p:cNvPr>
          <p:cNvSpPr/>
          <p:nvPr/>
        </p:nvSpPr>
        <p:spPr>
          <a:xfrm>
            <a:off x="841296" y="7433860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7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C69A3895-2A82-195F-88D1-32E28FF02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2" y="85249"/>
            <a:ext cx="5486400" cy="8229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9C289E-C8B9-5017-C31B-AB0BB3A1D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542" y="205110"/>
            <a:ext cx="1315045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365537" y="279048"/>
            <a:ext cx="10190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DFD LEVEL 0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593096" y="146709"/>
            <a:ext cx="9319504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spc="300" dirty="0">
                <a:solidFill>
                  <a:srgbClr val="000000"/>
                </a:solidFill>
                <a:latin typeface="Aptos Display" panose="020B0004020202020204" pitchFamily="34" charset="0"/>
                <a:ea typeface="Montserrat Bold" pitchFamily="34" charset="-122"/>
                <a:cs typeface="Montserrat Bold" pitchFamily="34" charset="-120"/>
              </a:rPr>
              <a:t>SENSOR DATA ACQUISITION MODULE</a:t>
            </a:r>
            <a:endParaRPr lang="en-US" sz="3500" spc="300" dirty="0">
              <a:latin typeface="Aptos Display" panose="020B00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708678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7053" y="4086709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Sunlight illuminates the solar panel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37053" y="454319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LDR sensors detect light intensity changes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37053" y="4999680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Voltage and     measure power output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37053" y="545616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sensor values collected as raw input data</a:t>
            </a:r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8E1EB7-8B34-5D53-4EC9-075841F6EE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4" t="5683" r="49733" b="50331"/>
          <a:stretch>
            <a:fillRect/>
          </a:stretch>
        </p:blipFill>
        <p:spPr>
          <a:xfrm>
            <a:off x="456415" y="3159561"/>
            <a:ext cx="6666322" cy="4255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E2DBA1-F5F6-CFAB-8DB6-AC55059B7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1080" y="7677073"/>
            <a:ext cx="2829320" cy="552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616D61-BABC-2355-062D-F22279226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83" y="736224"/>
            <a:ext cx="13579813" cy="75050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4AB1F7-273B-1487-B780-AA2895DB7A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4017" y="7051061"/>
            <a:ext cx="3050579" cy="9019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FBC4CA-D545-9AB2-1742-60B40498CD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1093" y="4149010"/>
            <a:ext cx="926938" cy="2844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EDF4EF-B3EA-4EDB-15B0-A8FA799E69F5}"/>
              </a:ext>
            </a:extLst>
          </p:cNvPr>
          <p:cNvSpPr txBox="1"/>
          <p:nvPr/>
        </p:nvSpPr>
        <p:spPr>
          <a:xfrm>
            <a:off x="1819369" y="4091234"/>
            <a:ext cx="867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Battery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FC11D0-1117-A19C-509A-0EA11E58E3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3068" y="3291165"/>
            <a:ext cx="571566" cy="2553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325" y="130892"/>
            <a:ext cx="1315045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564320" y="204829"/>
            <a:ext cx="10190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DFD LEVEL 1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3636180" y="72491"/>
            <a:ext cx="6244471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spc="300" dirty="0">
                <a:solidFill>
                  <a:srgbClr val="000000"/>
                </a:solidFill>
                <a:latin typeface="Aptos Display" panose="020B0004020202020204" pitchFamily="34" charset="0"/>
                <a:ea typeface="Montserrat Bold" pitchFamily="34" charset="-122"/>
                <a:cs typeface="Montserrat Bold" pitchFamily="34" charset="-120"/>
              </a:rPr>
              <a:t>CONTROL &amp; TRACKING MODULE</a:t>
            </a:r>
            <a:endParaRPr lang="en-US" sz="3500" spc="300" dirty="0">
              <a:latin typeface="Aptos Display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60032" y="3511391"/>
            <a:ext cx="1698069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ESP32 Receives Data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60032" y="4711303"/>
            <a:ext cx="169806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Processes LDR sensor readings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462826" y="3511391"/>
            <a:ext cx="1698069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Compares Light Intensity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62826" y="4711303"/>
            <a:ext cx="1698069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direction of brightest sunlight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765619" y="3511391"/>
            <a:ext cx="1698069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Sends Control Signal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65619" y="4711303"/>
            <a:ext cx="1698069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Sends Control Signal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2068532" y="3511391"/>
            <a:ext cx="1698069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Panel Rotates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2068532" y="4360664"/>
            <a:ext cx="1698069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Aligns towards maximum sunlight exposure</a:t>
            </a:r>
            <a:endParaRPr lang="en-US" sz="1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18B6E7-48BB-193D-E77E-8D7EF0E72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080" y="7677073"/>
            <a:ext cx="2829320" cy="552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86F63C-6407-F0E2-64A5-28413FA53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46" y="879276"/>
            <a:ext cx="12875617" cy="6962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002F79-4EB7-A82B-6867-83A9BD548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288" y="7051061"/>
            <a:ext cx="3050579" cy="9019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229949"/>
            <a:ext cx="1315045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303887"/>
            <a:ext cx="10190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DFD LEVEL 2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356298" y="204707"/>
            <a:ext cx="6218039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2800" b="1" spc="300" dirty="0">
                <a:solidFill>
                  <a:srgbClr val="000000"/>
                </a:solidFill>
                <a:latin typeface="Aptos Display" panose="020B0004020202020204" pitchFamily="34" charset="0"/>
                <a:ea typeface="Montserrat Bold" pitchFamily="34" charset="-122"/>
                <a:cs typeface="Montserrat Bold" pitchFamily="34" charset="-120"/>
              </a:rPr>
              <a:t>DATA TRANSMISSION MODULE</a:t>
            </a:r>
            <a:endParaRPr lang="en-US" sz="2800" spc="30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3798" y="3756773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gathers sensor &amp; power data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213258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transmitted to cloud server via Wi-Fi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66974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continuous remote monitoring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5126230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archived for historical analysis</a:t>
            </a:r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6E304E-814A-E77A-FAD8-26617EF73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92" t="49227" r="50000" b="5005"/>
          <a:stretch>
            <a:fillRect/>
          </a:stretch>
        </p:blipFill>
        <p:spPr>
          <a:xfrm>
            <a:off x="7759255" y="2401252"/>
            <a:ext cx="5861481" cy="3956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56B547-CC7A-B28D-D132-9F5D77D28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1080" y="7677073"/>
            <a:ext cx="2829320" cy="5525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AFD2DD-0908-146F-3B95-29526DC42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55525"/>
            <a:ext cx="14630400" cy="70557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4CE28A-9E12-0798-4E32-31E0684C15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8503" y="7227354"/>
            <a:ext cx="2267266" cy="6287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2F2E17-A04B-09E2-C591-99407C6A5F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31" y="5362749"/>
            <a:ext cx="1562318" cy="9945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998" y="305157"/>
            <a:ext cx="1315045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706993" y="379095"/>
            <a:ext cx="101905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DFD LEVEL 3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3397448" y="246756"/>
            <a:ext cx="7081242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spc="300" dirty="0">
                <a:solidFill>
                  <a:srgbClr val="000000"/>
                </a:solidFill>
                <a:latin typeface="Aptos Display" panose="020B0004020202020204" pitchFamily="34" charset="0"/>
                <a:ea typeface="Montserrat Bold" pitchFamily="34" charset="-122"/>
                <a:cs typeface="Montserrat Bold" pitchFamily="34" charset="-120"/>
              </a:rPr>
              <a:t>ANALYTICS &amp; PREDICTION MODULE</a:t>
            </a:r>
            <a:endParaRPr lang="en-US" sz="3500" spc="300" dirty="0">
              <a:latin typeface="Aptos Display" panose="020B00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28387FD-9AE5-9EC5-F495-F6BD8A7C7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080" y="7677073"/>
            <a:ext cx="2829320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968F1-FB8B-E87D-D7E8-145DD7FC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080" y="8085673"/>
            <a:ext cx="2829320" cy="552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A488A-51FB-9212-ACBE-AC93B58A6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043" y="1148336"/>
            <a:ext cx="10924323" cy="822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EDCE27-1909-FB46-DFBF-175B9A0A6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1100" y="8570277"/>
            <a:ext cx="2267266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972" y="773668"/>
            <a:ext cx="181570" cy="181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35305" y="2714683"/>
            <a:ext cx="6172288" cy="470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endParaRPr lang="en-US" sz="2800" spc="300" dirty="0"/>
          </a:p>
        </p:txBody>
      </p:sp>
      <p:sp>
        <p:nvSpPr>
          <p:cNvPr id="6" name="Text 3"/>
          <p:cNvSpPr/>
          <p:nvPr/>
        </p:nvSpPr>
        <p:spPr>
          <a:xfrm>
            <a:off x="807005" y="7786642"/>
            <a:ext cx="13016389" cy="155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diagram illustrates the interconnected components for seamless operation and data flow within the intelligent solar tracking system.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83A7FC-BB95-AAD9-6DA9-72EAAD1BA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713" y="5590807"/>
            <a:ext cx="1876687" cy="2638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BB8D76-1AF0-17A6-0FE8-F0875964F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923" y="5811794"/>
            <a:ext cx="1981477" cy="6192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100F25-2F21-A7D5-08DE-1AAAF0093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48765" y="6261412"/>
            <a:ext cx="2581635" cy="781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2829B-5E2D-4174-2BE4-8CBC733FEF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178" y="66076"/>
            <a:ext cx="5590043" cy="1591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50F436-79F5-1032-DB6E-B109DD49D4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63134" y="5632674"/>
            <a:ext cx="2267266" cy="6287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1F276D-ED6F-D48D-C454-081F02F53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182" y="1006350"/>
            <a:ext cx="11507400" cy="647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0E3054-CF6F-8A2D-B2A0-7ABA46D02F3F}"/>
              </a:ext>
            </a:extLst>
          </p:cNvPr>
          <p:cNvSpPr txBox="1"/>
          <p:nvPr/>
        </p:nvSpPr>
        <p:spPr>
          <a:xfrm>
            <a:off x="5487808" y="1409700"/>
            <a:ext cx="3839513" cy="2966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b="1" spc="30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pc="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2842" y="1680211"/>
            <a:ext cx="7762637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000" b="1" spc="300" dirty="0">
                <a:solidFill>
                  <a:srgbClr val="000000"/>
                </a:solidFill>
                <a:latin typeface="Aptos Display" panose="020B0004020202020204" pitchFamily="34" charset="0"/>
                <a:ea typeface="Montserrat Bold" pitchFamily="34" charset="-122"/>
                <a:cs typeface="Montserrat Bold" pitchFamily="34" charset="-120"/>
              </a:rPr>
              <a:t>UML DIAGRAM – SYSTEM OVERVIEW</a:t>
            </a:r>
            <a:endParaRPr lang="en-US" sz="2000" spc="300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3066455"/>
            <a:ext cx="4136350" cy="2873573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63798" y="3035975"/>
            <a:ext cx="4136350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Shape 3"/>
          <p:cNvSpPr/>
          <p:nvPr/>
        </p:nvSpPr>
        <p:spPr>
          <a:xfrm>
            <a:off x="2561689" y="2696289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2849849" y="2862578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23283" y="3764161"/>
            <a:ext cx="336994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23283" y="4229241"/>
            <a:ext cx="358175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Illustrates user interactions: monitor energy, track panel, view predictions.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46965" y="3035975"/>
            <a:ext cx="4136350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1" name="Shape 9"/>
          <p:cNvSpPr/>
          <p:nvPr/>
        </p:nvSpPr>
        <p:spPr>
          <a:xfrm>
            <a:off x="6944856" y="2696289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7214162" y="2843724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58970" y="371633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Sequence Diagram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8970" y="4214971"/>
            <a:ext cx="358175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Flow of operations: Sensors → ESP32 → Cloud → ML → Dashboard.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3066455"/>
            <a:ext cx="4136350" cy="2873573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0132" y="3035975"/>
            <a:ext cx="4136350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28023" y="2696289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11597329" y="2862578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907429" y="368343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Diagram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907429" y="4182070"/>
            <a:ext cx="358175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Defines system entities: LDR Sensor, Power Sensor, ESP32, Servo Motor, ML Model, Dashboard.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0887" y="6686906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UML diagrams provide clear insights into system behavior and structural relationships.</a:t>
            </a:r>
            <a:endParaRPr lang="en-US" sz="1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DB51AAB-AD8C-C9F6-78C9-DE73ED171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080" y="7677073"/>
            <a:ext cx="2829320" cy="5525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81DD44-6A2C-75DD-A920-46E8B354E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78" y="66076"/>
            <a:ext cx="5590043" cy="1591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5">
            <a:extLst>
              <a:ext uri="{FF2B5EF4-FFF2-40B4-BE49-F238E27FC236}">
                <a16:creationId xmlns:a16="http://schemas.microsoft.com/office/drawing/2014/main" id="{64756D04-D6E3-DBB5-2E67-9E6DE1C3FA51}"/>
              </a:ext>
            </a:extLst>
          </p:cNvPr>
          <p:cNvSpPr/>
          <p:nvPr/>
        </p:nvSpPr>
        <p:spPr>
          <a:xfrm>
            <a:off x="5048250" y="1695570"/>
            <a:ext cx="5031819" cy="1110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000" spc="3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4653ADC-2193-8364-766C-D8B7EE12BE50}"/>
              </a:ext>
            </a:extLst>
          </p:cNvPr>
          <p:cNvSpPr/>
          <p:nvPr/>
        </p:nvSpPr>
        <p:spPr>
          <a:xfrm>
            <a:off x="671195" y="4182070"/>
            <a:ext cx="4561205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950D3-EA53-8F2F-2E3E-22FA2BB68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275" y="7609011"/>
            <a:ext cx="1876687" cy="550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2656D-F347-4FC4-6CF6-99EBD3A8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153" y="31959"/>
            <a:ext cx="9344247" cy="8159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B48CC7-2DEC-EF04-450F-B3B916921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4713" y="7570911"/>
            <a:ext cx="2026249" cy="4997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47D628-3DE6-8A25-1863-C5F71C11BC16}"/>
              </a:ext>
            </a:extLst>
          </p:cNvPr>
          <p:cNvSpPr txBox="1"/>
          <p:nvPr/>
        </p:nvSpPr>
        <p:spPr>
          <a:xfrm>
            <a:off x="-705803" y="277058"/>
            <a:ext cx="7315200" cy="428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spc="30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SEQUENCE DIAGRAM</a:t>
            </a:r>
            <a:endParaRPr lang="en-US" sz="2000" spc="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F464D-8B95-6D74-FC79-677BD82C5EEC}"/>
              </a:ext>
            </a:extLst>
          </p:cNvPr>
          <p:cNvSpPr txBox="1"/>
          <p:nvPr/>
        </p:nvSpPr>
        <p:spPr>
          <a:xfrm>
            <a:off x="368300" y="1421766"/>
            <a:ext cx="491785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Montserrat Bold" pitchFamily="2" charset="0"/>
              </a:rPr>
              <a:t>System Workflow</a:t>
            </a:r>
          </a:p>
          <a:p>
            <a:pPr algn="ctr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Sensors collect sunlight and electrical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ESP32 processes readings and sends data to the cloud.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stores data and updates the dashboard.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requests ML service for energy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ML service returns prediction results to the cloud.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displays real-time data and predictions to the user.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Errors are logged and user is notified.</a:t>
            </a:r>
          </a:p>
        </p:txBody>
      </p:sp>
    </p:spTree>
    <p:extLst>
      <p:ext uri="{BB962C8B-B14F-4D97-AF65-F5344CB8AC3E}">
        <p14:creationId xmlns:p14="http://schemas.microsoft.com/office/powerpoint/2010/main" val="1965928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78B79D-1ECB-E056-36FD-703FF6FB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765" y="7543704"/>
            <a:ext cx="2400635" cy="685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CACE71-9FA7-AC27-63CD-8A9DECC97B62}"/>
              </a:ext>
            </a:extLst>
          </p:cNvPr>
          <p:cNvSpPr txBox="1"/>
          <p:nvPr/>
        </p:nvSpPr>
        <p:spPr>
          <a:xfrm>
            <a:off x="0" y="218586"/>
            <a:ext cx="14630400" cy="78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000" b="1" spc="30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 DIAGRAM</a:t>
            </a:r>
            <a:endParaRPr lang="en-US" sz="2000" spc="300" dirty="0"/>
          </a:p>
          <a:p>
            <a:pPr marL="0" indent="0" algn="ctr">
              <a:lnSpc>
                <a:spcPts val="2750"/>
              </a:lnSpc>
              <a:buNone/>
            </a:pPr>
            <a:endParaRPr lang="en-US" sz="2000" spc="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FF329C-0A42-4D88-A416-489F0BB6A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235" y="6914980"/>
            <a:ext cx="4944165" cy="1219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69B9AC-BE64-1B1D-C264-E78FA7326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66" y="743930"/>
            <a:ext cx="11826267" cy="69859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733129-FDBF-C8A1-04B1-B6FA0AA3BC71}"/>
              </a:ext>
            </a:extLst>
          </p:cNvPr>
          <p:cNvSpPr txBox="1"/>
          <p:nvPr/>
        </p:nvSpPr>
        <p:spPr>
          <a:xfrm>
            <a:off x="1599299" y="7285779"/>
            <a:ext cx="6555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Flow of operations: Sensors → ESP32 → Cloud → ML → Dashboard.</a:t>
            </a:r>
            <a:endParaRPr lang="en-US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3D49A5-6B78-6993-F648-B6A1A2967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4654" y="6912779"/>
            <a:ext cx="1723679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45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B1EB3-8CB9-672D-A6E1-AF6F0A7A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3" y="66076"/>
            <a:ext cx="10831933" cy="822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03B6EC-1F70-33A5-D641-A8B2BE3C5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235" y="7010230"/>
            <a:ext cx="4944165" cy="1219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624458-0FDA-8442-4764-9E494123B1E1}"/>
              </a:ext>
            </a:extLst>
          </p:cNvPr>
          <p:cNvSpPr txBox="1"/>
          <p:nvPr/>
        </p:nvSpPr>
        <p:spPr>
          <a:xfrm>
            <a:off x="3742440" y="1831607"/>
            <a:ext cx="7315200" cy="428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spc="30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DIAGRAM</a:t>
            </a:r>
            <a:endParaRPr lang="en-US" sz="2000" spc="3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2D5A8F-654C-5C4B-F324-F99C42733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78" y="66076"/>
            <a:ext cx="5590043" cy="1591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22379A-477E-F778-6CFA-59766BFEF177}"/>
              </a:ext>
            </a:extLst>
          </p:cNvPr>
          <p:cNvSpPr txBox="1"/>
          <p:nvPr/>
        </p:nvSpPr>
        <p:spPr>
          <a:xfrm>
            <a:off x="3171561" y="7682383"/>
            <a:ext cx="8986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Defines system entities: LDR Sensor, Power Sensor, ESP32, Servo Motor, ML Model, Dashboard.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003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88B624-0899-CC4C-4654-8344B98C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5" y="-60428"/>
            <a:ext cx="14517858" cy="8293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21A12-7584-9ADC-1FDF-1DE9CC570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235" y="4180790"/>
            <a:ext cx="4944165" cy="1219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3715F7-72D3-249B-4E87-D3928865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547" y="2815949"/>
            <a:ext cx="4220164" cy="2314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25BFF5-B772-8F5B-B12A-DF89C42B60B9}"/>
              </a:ext>
            </a:extLst>
          </p:cNvPr>
          <p:cNvSpPr txBox="1"/>
          <p:nvPr/>
        </p:nvSpPr>
        <p:spPr>
          <a:xfrm>
            <a:off x="10473178" y="3252431"/>
            <a:ext cx="3533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– time data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Solar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power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76A75-ABFE-C6C5-49A9-1F4631E1E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178" y="66076"/>
            <a:ext cx="5590043" cy="159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54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FAE10-005D-A659-1CDE-1CCAEE81F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A77103F-58D4-9A7C-C08A-A2DD33079404}"/>
              </a:ext>
            </a:extLst>
          </p:cNvPr>
          <p:cNvSpPr/>
          <p:nvPr/>
        </p:nvSpPr>
        <p:spPr>
          <a:xfrm>
            <a:off x="726996" y="2163564"/>
            <a:ext cx="7461409" cy="232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INTELLIGENT SOLAR TRACKING AND ENERGY PREDICTION SYSTEM USING MACHINE LEARNING</a:t>
            </a:r>
            <a:endParaRPr lang="en-US" sz="2400" spc="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4B8FF7E-E404-CFF4-E108-9C998A267E8A}"/>
              </a:ext>
            </a:extLst>
          </p:cNvPr>
          <p:cNvSpPr/>
          <p:nvPr/>
        </p:nvSpPr>
        <p:spPr>
          <a:xfrm>
            <a:off x="841296" y="4213463"/>
            <a:ext cx="7461409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innovative solution integrating IoT and Machine Learning for enhanced renewable energy management.</a:t>
            </a:r>
            <a:endParaRPr lang="en-US" sz="1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9B4E199-3370-B150-C391-9F22DE888338}"/>
              </a:ext>
            </a:extLst>
          </p:cNvPr>
          <p:cNvSpPr/>
          <p:nvPr/>
        </p:nvSpPr>
        <p:spPr>
          <a:xfrm>
            <a:off x="841296" y="5106670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Presented By</a:t>
            </a:r>
            <a:endParaRPr lang="en-US" sz="1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C229247-98C0-C8C3-F3CF-85204555C8A8}"/>
              </a:ext>
            </a:extLst>
          </p:cNvPr>
          <p:cNvSpPr/>
          <p:nvPr/>
        </p:nvSpPr>
        <p:spPr>
          <a:xfrm>
            <a:off x="841296" y="5698292"/>
            <a:ext cx="7461409" cy="152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Sharkesh – 234031101119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Sheik Abdullah – 234031101121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Sree Sharan – 234031101123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Srinath – 234031101124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Sriram – 234031101125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92983CD-EDFE-52D9-AED6-5295E2D831C9}"/>
              </a:ext>
            </a:extLst>
          </p:cNvPr>
          <p:cNvSpPr/>
          <p:nvPr/>
        </p:nvSpPr>
        <p:spPr>
          <a:xfrm>
            <a:off x="841296" y="7433860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Date: 12.12.2025 | 4</a:t>
            </a:r>
            <a:r>
              <a:rPr lang="en-US" sz="1700" baseline="300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</a:t>
            </a: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Review | Project Guide: Surya (IBM) | Project Reviewer: Dr. C. Priya</a:t>
            </a:r>
            <a:endParaRPr lang="en-US" sz="17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11A8A81D-3F2B-957F-ED35-A797C2505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2" y="-3651"/>
            <a:ext cx="5486400" cy="822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9F6C13-1BB3-EB99-BE86-7C73E1634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49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961" y="676394"/>
            <a:ext cx="13032046" cy="67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1: IOT SIMULATION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299960" y="1696641"/>
            <a:ext cx="30480" cy="5856446"/>
          </a:xfrm>
          <a:prstGeom prst="roundRect">
            <a:avLst>
              <a:gd name="adj" fmla="val 117134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6869668" y="1949053"/>
            <a:ext cx="476012" cy="30480"/>
          </a:xfrm>
          <a:prstGeom prst="roundRect">
            <a:avLst>
              <a:gd name="adj" fmla="val 117134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225963" y="1875056"/>
            <a:ext cx="178475" cy="178475"/>
          </a:xfrm>
          <a:prstGeom prst="roundRect">
            <a:avLst>
              <a:gd name="adj" fmla="val 256170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832961" y="1785818"/>
            <a:ext cx="5530215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Simulates ESP32, LDR sensors, and servo motor.</a:t>
            </a:r>
            <a:endParaRPr lang="en-US" sz="1850" b="1" dirty="0"/>
          </a:p>
        </p:txBody>
      </p:sp>
      <p:sp>
        <p:nvSpPr>
          <p:cNvPr id="7" name="Shape 5"/>
          <p:cNvSpPr/>
          <p:nvPr/>
        </p:nvSpPr>
        <p:spPr>
          <a:xfrm>
            <a:off x="7284720" y="3360063"/>
            <a:ext cx="476012" cy="30480"/>
          </a:xfrm>
          <a:prstGeom prst="roundRect">
            <a:avLst>
              <a:gd name="adj" fmla="val 117134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225963" y="3286065"/>
            <a:ext cx="178475" cy="178475"/>
          </a:xfrm>
          <a:prstGeom prst="roundRect">
            <a:avLst>
              <a:gd name="adj" fmla="val 256170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8267224" y="3196828"/>
            <a:ext cx="5530215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Sun and panel angle.</a:t>
            </a:r>
            <a:endParaRPr lang="en-US" sz="1850" b="1" dirty="0"/>
          </a:p>
        </p:txBody>
      </p:sp>
      <p:sp>
        <p:nvSpPr>
          <p:cNvPr id="10" name="Shape 8"/>
          <p:cNvSpPr/>
          <p:nvPr/>
        </p:nvSpPr>
        <p:spPr>
          <a:xfrm>
            <a:off x="6869668" y="4586168"/>
            <a:ext cx="476012" cy="30480"/>
          </a:xfrm>
          <a:prstGeom prst="roundRect">
            <a:avLst>
              <a:gd name="adj" fmla="val 117134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225963" y="4512171"/>
            <a:ext cx="178475" cy="178475"/>
          </a:xfrm>
          <a:prstGeom prst="roundRect">
            <a:avLst>
              <a:gd name="adj" fmla="val 256170"/>
            </a:avLst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832961" y="4422934"/>
            <a:ext cx="5530215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Computes voltage, power, and energy.</a:t>
            </a:r>
            <a:endParaRPr lang="en-US" sz="1850" b="1" dirty="0"/>
          </a:p>
        </p:txBody>
      </p:sp>
      <p:sp>
        <p:nvSpPr>
          <p:cNvPr id="13" name="Shape 11"/>
          <p:cNvSpPr/>
          <p:nvPr/>
        </p:nvSpPr>
        <p:spPr>
          <a:xfrm>
            <a:off x="7284720" y="5812274"/>
            <a:ext cx="476012" cy="30480"/>
          </a:xfrm>
          <a:prstGeom prst="roundRect">
            <a:avLst>
              <a:gd name="adj" fmla="val 117134"/>
            </a:avLst>
          </a:prstGeom>
          <a:solidFill>
            <a:srgbClr val="D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5963" y="5738277"/>
            <a:ext cx="178475" cy="178475"/>
          </a:xfrm>
          <a:prstGeom prst="roundRect">
            <a:avLst>
              <a:gd name="adj" fmla="val 256170"/>
            </a:avLst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8267224" y="5649039"/>
            <a:ext cx="5530215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Sends data to backend via HTTP POST.</a:t>
            </a:r>
            <a:endParaRPr lang="en-US" sz="185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3BAC01-9694-8D87-CCA8-3F3B67545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5590807"/>
            <a:ext cx="1876687" cy="26387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BFF011-AD06-44EC-8C85-12380EAFC85E}"/>
              </a:ext>
            </a:extLst>
          </p:cNvPr>
          <p:cNvSpPr txBox="1"/>
          <p:nvPr/>
        </p:nvSpPr>
        <p:spPr>
          <a:xfrm>
            <a:off x="1277951" y="2252989"/>
            <a:ext cx="591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Simulates ESP32 controller, LDR sensor readings,</a:t>
            </a:r>
          </a:p>
          <a:p>
            <a:r>
              <a:rPr lang="en-US" dirty="0">
                <a:latin typeface="Montserrat Medium" pitchFamily="2" charset="0"/>
              </a:rPr>
              <a:t> and servo motor tracking logic for testing.</a:t>
            </a:r>
            <a:endParaRPr lang="en-IN" dirty="0">
              <a:latin typeface="Montserrat Medium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D070B4-BE14-D8F1-5CC3-B82E28E1DA41}"/>
              </a:ext>
            </a:extLst>
          </p:cNvPr>
          <p:cNvSpPr txBox="1"/>
          <p:nvPr/>
        </p:nvSpPr>
        <p:spPr>
          <a:xfrm>
            <a:off x="8060422" y="3627752"/>
            <a:ext cx="5631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Detects sunlight direction using LDR sensors and adjusts panel angle for maximum exposure.</a:t>
            </a:r>
            <a:endParaRPr lang="en-IN" dirty="0">
              <a:latin typeface="Montserrat Medium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A5E6C9-2576-39D9-0EAB-D3DF0E79378A}"/>
              </a:ext>
            </a:extLst>
          </p:cNvPr>
          <p:cNvSpPr txBox="1"/>
          <p:nvPr/>
        </p:nvSpPr>
        <p:spPr>
          <a:xfrm>
            <a:off x="1791707" y="4773988"/>
            <a:ext cx="5301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Calculates voltage, power output, and total </a:t>
            </a:r>
          </a:p>
          <a:p>
            <a:r>
              <a:rPr lang="en-US" dirty="0">
                <a:latin typeface="Montserrat Medium" pitchFamily="2" charset="0"/>
              </a:rPr>
              <a:t>energy generated for performance analysis.</a:t>
            </a:r>
            <a:endParaRPr lang="en-IN" dirty="0">
              <a:latin typeface="Montserrat Medium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10CB23-44AF-74C4-4E4E-09F5AEEA8DF3}"/>
              </a:ext>
            </a:extLst>
          </p:cNvPr>
          <p:cNvSpPr txBox="1"/>
          <p:nvPr/>
        </p:nvSpPr>
        <p:spPr>
          <a:xfrm>
            <a:off x="7871385" y="6057791"/>
            <a:ext cx="6197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Uploads sensor and energy data to backend server </a:t>
            </a:r>
          </a:p>
          <a:p>
            <a:r>
              <a:rPr lang="en-US" dirty="0">
                <a:latin typeface="Montserrat Medium" pitchFamily="2" charset="0"/>
              </a:rPr>
              <a:t>using HTTP POST for storage and monitoring.</a:t>
            </a:r>
            <a:endParaRPr lang="en-IN" dirty="0"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220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7" y="2082998"/>
            <a:ext cx="1275650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SIMULATION: SAMPLE CODE</a:t>
            </a:r>
            <a:endParaRPr lang="en-US" sz="4400" spc="300" dirty="0"/>
          </a:p>
        </p:txBody>
      </p:sp>
      <p:sp>
        <p:nvSpPr>
          <p:cNvPr id="3" name="Shape 1"/>
          <p:cNvSpPr/>
          <p:nvPr/>
        </p:nvSpPr>
        <p:spPr>
          <a:xfrm>
            <a:off x="863798" y="3277910"/>
            <a:ext cx="12902803" cy="2220873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51535" y="3277910"/>
            <a:ext cx="12927330" cy="2220873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98352" y="3462933"/>
            <a:ext cx="12433697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sun_angle = 1.56
panel_angle = 90 if mode == 'Sun' else sun_angle
energy = -abs(math.cos(math.radians(panel_angle))   panel_angle))
requests.post('api', json=data)
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776436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logic for angle calculation and data transmission.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94D8E8-407C-EDC8-98D8-52EF2ED0A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34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75106"/>
            <a:ext cx="1297979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2: BACKEND IMPLEMENTATION</a:t>
            </a:r>
            <a:endParaRPr lang="en-US" sz="4400" spc="300" dirty="0"/>
          </a:p>
        </p:txBody>
      </p:sp>
      <p:sp>
        <p:nvSpPr>
          <p:cNvPr id="3" name="Shape 1"/>
          <p:cNvSpPr/>
          <p:nvPr/>
        </p:nvSpPr>
        <p:spPr>
          <a:xfrm>
            <a:off x="875850" y="2633040"/>
            <a:ext cx="60960" cy="411599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1214107" y="2663520"/>
            <a:ext cx="5667994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Flask-based RESTful API.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dirty="0">
              <a:solidFill>
                <a:srgbClr val="3D3838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81438" y="2633040"/>
            <a:ext cx="60960" cy="411599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819695" y="26635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Receives IoT data.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75850" y="5359274"/>
            <a:ext cx="60960" cy="76223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1214107" y="5559877"/>
            <a:ext cx="45600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Stores data in SQLite database.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81438" y="5359274"/>
            <a:ext cx="60960" cy="76223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7819695" y="5389754"/>
            <a:ext cx="5989439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Handles user login and dashboard functions.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D3C371-551E-8B58-C6D5-AF05177C5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EC3605-8F62-9AF8-119E-62EBB3D56FC8}"/>
              </a:ext>
            </a:extLst>
          </p:cNvPr>
          <p:cNvSpPr txBox="1"/>
          <p:nvPr/>
        </p:nvSpPr>
        <p:spPr>
          <a:xfrm>
            <a:off x="794393" y="3402548"/>
            <a:ext cx="6196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Developed backend using </a:t>
            </a:r>
            <a:r>
              <a:rPr lang="en-US" b="1" dirty="0">
                <a:latin typeface="Montserrat Medium" pitchFamily="2" charset="0"/>
              </a:rPr>
              <a:t>Flask REST API</a:t>
            </a:r>
            <a:r>
              <a:rPr lang="en-US" dirty="0">
                <a:latin typeface="Montserrat Medium" pitchFamily="2" charset="0"/>
              </a:rPr>
              <a:t> to enable </a:t>
            </a:r>
          </a:p>
          <a:p>
            <a:r>
              <a:rPr lang="en-US" dirty="0">
                <a:latin typeface="Montserrat Medium" pitchFamily="2" charset="0"/>
              </a:rPr>
              <a:t>communication between IoT device and web application.</a:t>
            </a:r>
            <a:endParaRPr lang="en-IN" dirty="0">
              <a:latin typeface="Montserrat Medium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1F7C1F-388F-92B8-29DF-E8573B18EB92}"/>
              </a:ext>
            </a:extLst>
          </p:cNvPr>
          <p:cNvSpPr txBox="1"/>
          <p:nvPr/>
        </p:nvSpPr>
        <p:spPr>
          <a:xfrm>
            <a:off x="7481438" y="3436117"/>
            <a:ext cx="5969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Sensor readings are stored in </a:t>
            </a:r>
            <a:r>
              <a:rPr lang="en-US" b="1" dirty="0">
                <a:latin typeface="Montserrat Medium" pitchFamily="2" charset="0"/>
              </a:rPr>
              <a:t>SQLite database</a:t>
            </a:r>
            <a:r>
              <a:rPr lang="en-US" dirty="0">
                <a:latin typeface="Montserrat Medium" pitchFamily="2" charset="0"/>
              </a:rPr>
              <a:t> for</a:t>
            </a:r>
          </a:p>
          <a:p>
            <a:r>
              <a:rPr lang="en-US" dirty="0">
                <a:latin typeface="Montserrat Medium" pitchFamily="2" charset="0"/>
              </a:rPr>
              <a:t> historical tracking, reports, and analytics.</a:t>
            </a:r>
            <a:endParaRPr lang="en-IN" dirty="0">
              <a:latin typeface="Montserrat Mediu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594EB-D3CC-377B-EEB9-7C343C9C4CA2}"/>
              </a:ext>
            </a:extLst>
          </p:cNvPr>
          <p:cNvSpPr txBox="1"/>
          <p:nvPr/>
        </p:nvSpPr>
        <p:spPr>
          <a:xfrm>
            <a:off x="726108" y="6397084"/>
            <a:ext cx="6700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Backend receives real-time IoT sensor data, </a:t>
            </a:r>
          </a:p>
          <a:p>
            <a:r>
              <a:rPr lang="en-US" dirty="0">
                <a:latin typeface="Montserrat Medium" pitchFamily="2" charset="0"/>
              </a:rPr>
              <a:t>validates it and processes it for monitoring and storage.</a:t>
            </a:r>
            <a:endParaRPr lang="en-IN" dirty="0">
              <a:latin typeface="Montserrat Medium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6C4E6-FD88-4E20-C81E-CD65501D63A0}"/>
              </a:ext>
            </a:extLst>
          </p:cNvPr>
          <p:cNvSpPr txBox="1"/>
          <p:nvPr/>
        </p:nvSpPr>
        <p:spPr>
          <a:xfrm>
            <a:off x="7511918" y="6400203"/>
            <a:ext cx="56669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Medium" pitchFamily="2" charset="0"/>
              </a:rPr>
              <a:t>Implements </a:t>
            </a:r>
            <a:r>
              <a:rPr lang="en-US" b="1" dirty="0">
                <a:latin typeface="Montserrat Medium" pitchFamily="2" charset="0"/>
              </a:rPr>
              <a:t>user authentication</a:t>
            </a:r>
            <a:r>
              <a:rPr lang="en-US" dirty="0">
                <a:latin typeface="Montserrat Medium" pitchFamily="2" charset="0"/>
              </a:rPr>
              <a:t> and supports </a:t>
            </a:r>
          </a:p>
          <a:p>
            <a:r>
              <a:rPr lang="en-US" dirty="0">
                <a:latin typeface="Montserrat Medium" pitchFamily="2" charset="0"/>
              </a:rPr>
              <a:t>dashboard features like live data display and </a:t>
            </a:r>
          </a:p>
          <a:p>
            <a:r>
              <a:rPr lang="en-US" dirty="0">
                <a:latin typeface="Montserrat Medium" pitchFamily="2" charset="0"/>
              </a:rPr>
              <a:t>performance visualization.</a:t>
            </a:r>
            <a:endParaRPr lang="en-IN" dirty="0"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022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12833"/>
            <a:ext cx="1290280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API: SAMPLE CODE</a:t>
            </a:r>
            <a:endParaRPr lang="en-US" sz="4400" spc="300" dirty="0"/>
          </a:p>
        </p:txBody>
      </p:sp>
      <p:sp>
        <p:nvSpPr>
          <p:cNvPr id="3" name="Shape 1"/>
          <p:cNvSpPr/>
          <p:nvPr/>
        </p:nvSpPr>
        <p:spPr>
          <a:xfrm>
            <a:off x="863798" y="2907744"/>
            <a:ext cx="12902803" cy="2961203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51535" y="2907744"/>
            <a:ext cx="12927330" cy="2961203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98352" y="3092768"/>
            <a:ext cx="12433697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@app.route('/api', methods=['POST'])
def api():
    data = request.json
    cursor.execute(
        INSERT INTO solar_data VALUES (...)
       )
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614660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endpoint for receiving and storing solar data.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528517-C20E-09DA-45B4-0525D2352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159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72508"/>
            <a:ext cx="1222488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3 &amp; 4: DATABASE &amp; ML</a:t>
            </a:r>
            <a:endParaRPr lang="en-US" sz="4400" spc="300" dirty="0"/>
          </a:p>
        </p:txBody>
      </p:sp>
      <p:sp>
        <p:nvSpPr>
          <p:cNvPr id="3" name="Text 1"/>
          <p:cNvSpPr/>
          <p:nvPr/>
        </p:nvSpPr>
        <p:spPr>
          <a:xfrm>
            <a:off x="863798" y="329076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388822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for lightweight storage.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480441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timestamp, angles, power, energy.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072658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dashboard and ML queries.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290768"/>
            <a:ext cx="381762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Module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3929" y="388822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Regression-based energy prediction.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480441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historical energy data.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5072658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Predicts future energy generation.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66487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Evaluated with MAE and RMSE.</a:t>
            </a:r>
            <a:endParaRPr lang="en-US" sz="1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1D1959-12AE-14A6-6DD8-A8DEACB92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A1CB73-F19C-725D-02EF-F309A3E2DB68}"/>
              </a:ext>
            </a:extLst>
          </p:cNvPr>
          <p:cNvCxnSpPr/>
          <p:nvPr/>
        </p:nvCxnSpPr>
        <p:spPr>
          <a:xfrm>
            <a:off x="6294474" y="2870791"/>
            <a:ext cx="0" cy="3806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436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7" y="2268022"/>
            <a:ext cx="1290280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TRAINING: SAMPLE CODE</a:t>
            </a:r>
            <a:endParaRPr lang="en-US" sz="4400" spc="300" dirty="0"/>
          </a:p>
        </p:txBody>
      </p:sp>
      <p:sp>
        <p:nvSpPr>
          <p:cNvPr id="3" name="Shape 1"/>
          <p:cNvSpPr/>
          <p:nvPr/>
        </p:nvSpPr>
        <p:spPr>
          <a:xfrm>
            <a:off x="863798" y="3462933"/>
            <a:ext cx="12902803" cy="1850708"/>
          </a:xfrm>
          <a:prstGeom prst="roundRect">
            <a:avLst>
              <a:gd name="adj" fmla="val 2001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51535" y="3462933"/>
            <a:ext cx="12927330" cy="1850708"/>
          </a:xfrm>
          <a:prstGeom prst="roundRect">
            <a:avLst>
              <a:gd name="adj" fmla="val 2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98352" y="3647956"/>
            <a:ext cx="1243369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df[['sun_angle','panel_angle','power']]
y = df['energy']
model.fit(X, y)
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591294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snippet for training the energy prediction model.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FA1B4-52F0-D0A0-BC26-742D09DF5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91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037" y="1167546"/>
            <a:ext cx="1302232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5: WEB DASHBOARD</a:t>
            </a:r>
            <a:endParaRPr lang="en-US" sz="4400" spc="300" dirty="0"/>
          </a:p>
        </p:txBody>
      </p:sp>
      <p:sp>
        <p:nvSpPr>
          <p:cNvPr id="3" name="Text 1"/>
          <p:cNvSpPr/>
          <p:nvPr/>
        </p:nvSpPr>
        <p:spPr>
          <a:xfrm>
            <a:off x="863798" y="3780711"/>
            <a:ext cx="12902803" cy="148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White and orange themed UI.</a:t>
            </a: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real-time solar parameters.</a:t>
            </a: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ML predicted energy.</a:t>
            </a: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system logs.</a:t>
            </a:r>
            <a:endParaRPr 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80FC1-F306-023A-5B03-3E3AE67EB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6214E7-BC62-F1F0-32BC-D9C46F79F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77" y="2706230"/>
            <a:ext cx="7746826" cy="435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574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798" y="846534"/>
            <a:ext cx="13149914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 – USE CASE 1: FIXED PANEL</a:t>
            </a:r>
            <a:endParaRPr lang="en-US" sz="4400" spc="300" dirty="0"/>
          </a:p>
        </p:txBody>
      </p:sp>
      <p:sp>
        <p:nvSpPr>
          <p:cNvPr id="4" name="Shape 1"/>
          <p:cNvSpPr/>
          <p:nvPr/>
        </p:nvSpPr>
        <p:spPr>
          <a:xfrm>
            <a:off x="3904716" y="2619256"/>
            <a:ext cx="7416403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43756" y="2619256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6" name="Text 3"/>
          <p:cNvSpPr/>
          <p:nvPr/>
        </p:nvSpPr>
        <p:spPr>
          <a:xfrm>
            <a:off x="4242973" y="289655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Constant Angle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242973" y="3395186"/>
            <a:ext cx="67703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angle remains constant throughout the day.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874236" y="4289465"/>
            <a:ext cx="7416403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3756" y="4289465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0" name="Text 7"/>
          <p:cNvSpPr/>
          <p:nvPr/>
        </p:nvSpPr>
        <p:spPr>
          <a:xfrm>
            <a:off x="4242973" y="456676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Lower Generation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242973" y="5065395"/>
            <a:ext cx="67703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Observed lower energy generation compared to tracking.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3874236" y="5959673"/>
            <a:ext cx="7416403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43756" y="5959673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4" name="Text 11"/>
          <p:cNvSpPr/>
          <p:nvPr/>
        </p:nvSpPr>
        <p:spPr>
          <a:xfrm>
            <a:off x="4242973" y="623697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Loss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242973" y="6735604"/>
            <a:ext cx="67703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Demonstrates the inherent energy loss of a static setup.</a:t>
            </a:r>
            <a:endParaRPr lang="en-US" sz="1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80D3C-2E53-C9FA-571A-ED98E2AB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12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1005" y="795337"/>
            <a:ext cx="13788390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43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 – USE CASE 2: TRACKING PANEL</a:t>
            </a:r>
            <a:endParaRPr lang="en-US" sz="4300" spc="300" dirty="0"/>
          </a:p>
        </p:txBody>
      </p:sp>
      <p:sp>
        <p:nvSpPr>
          <p:cNvPr id="4" name="Shape 1"/>
          <p:cNvSpPr/>
          <p:nvPr/>
        </p:nvSpPr>
        <p:spPr>
          <a:xfrm>
            <a:off x="3666725" y="2402919"/>
            <a:ext cx="3612713" cy="2632234"/>
          </a:xfrm>
          <a:prstGeom prst="roundRect">
            <a:avLst>
              <a:gd name="adj" fmla="val 1371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3907231" y="2643426"/>
            <a:ext cx="721757" cy="721757"/>
          </a:xfrm>
          <a:prstGeom prst="roundRect">
            <a:avLst>
              <a:gd name="adj" fmla="val 12667817"/>
            </a:avLst>
          </a:prstGeom>
          <a:solidFill>
            <a:srgbClr val="2D2E3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5708" y="2841903"/>
            <a:ext cx="324683" cy="3246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7231" y="3599617"/>
            <a:ext cx="2733913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Sun Tracking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3907231" y="4081939"/>
            <a:ext cx="313170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adjusts to follow the sun's movement.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7513873" y="2402919"/>
            <a:ext cx="3612833" cy="2632234"/>
          </a:xfrm>
          <a:prstGeom prst="roundRect">
            <a:avLst>
              <a:gd name="adj" fmla="val 1371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7754379" y="2643426"/>
            <a:ext cx="721757" cy="721757"/>
          </a:xfrm>
          <a:prstGeom prst="roundRect">
            <a:avLst>
              <a:gd name="adj" fmla="val 12667817"/>
            </a:avLst>
          </a:prstGeom>
          <a:solidFill>
            <a:srgbClr val="2D2E3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2856" y="2841903"/>
            <a:ext cx="324683" cy="3246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54379" y="3599617"/>
            <a:ext cx="2733913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Higher Output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7754379" y="4081939"/>
            <a:ext cx="3131820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significantly more power and energy.</a:t>
            </a:r>
            <a:endParaRPr lang="en-US" sz="1850" dirty="0"/>
          </a:p>
        </p:txBody>
      </p:sp>
      <p:sp>
        <p:nvSpPr>
          <p:cNvPr id="14" name="Shape 9"/>
          <p:cNvSpPr/>
          <p:nvPr/>
        </p:nvSpPr>
        <p:spPr>
          <a:xfrm>
            <a:off x="3666725" y="5269587"/>
            <a:ext cx="7459980" cy="2275880"/>
          </a:xfrm>
          <a:prstGeom prst="roundRect">
            <a:avLst>
              <a:gd name="adj" fmla="val 1586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7001316" y="5510093"/>
            <a:ext cx="721757" cy="721757"/>
          </a:xfrm>
          <a:prstGeom prst="roundRect">
            <a:avLst>
              <a:gd name="adj" fmla="val 12667817"/>
            </a:avLst>
          </a:prstGeom>
          <a:solidFill>
            <a:srgbClr val="2D2E3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9795" y="5708571"/>
            <a:ext cx="324683" cy="3246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66725" y="6466284"/>
            <a:ext cx="745998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Validated Effectiveness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3907231" y="6948607"/>
            <a:ext cx="6978968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Confirms the efficiency of the tracking mechanism.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690352-442A-1D3D-B169-1854D2E12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3713" y="7634181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06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59287"/>
            <a:ext cx="1279777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 RESULTS SUMMARY</a:t>
            </a:r>
            <a:endParaRPr lang="en-US" sz="4400" spc="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308384"/>
            <a:ext cx="8176022" cy="40920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0589" y="4192845"/>
            <a:ext cx="1535543" cy="2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Lower Cost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8312" y="6062501"/>
            <a:ext cx="1670567" cy="2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Lower Energy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59319" y="4192845"/>
            <a:ext cx="1535543" cy="2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Higher Cost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3718" y="2486799"/>
            <a:ext cx="1670567" cy="2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Higher Energy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54897" y="5050717"/>
            <a:ext cx="1576382" cy="55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Tracking Costs — Higher Installation &amp; Maintenance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0754" y="4647687"/>
            <a:ext cx="228698" cy="2286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19359" y="5058885"/>
            <a:ext cx="1576382" cy="55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Benefits — Lower Cost, Simple Maintenance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3202" y="4652537"/>
            <a:ext cx="228698" cy="2286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9359" y="3639732"/>
            <a:ext cx="1576382" cy="36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Tracking Panel — High Energy, Variable Output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3202" y="3141498"/>
            <a:ext cx="228698" cy="2286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05890" y="3639732"/>
            <a:ext cx="1576382" cy="36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Panel — Low Energy, Stable Output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9733" y="3141498"/>
            <a:ext cx="228698" cy="2286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3798" y="6678097"/>
            <a:ext cx="817602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Tracking mode consistently produces higher energy output.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9649658" y="2616041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18" name="Shape 11"/>
          <p:cNvSpPr/>
          <p:nvPr/>
        </p:nvSpPr>
        <p:spPr>
          <a:xfrm>
            <a:off x="9649658" y="3005018"/>
            <a:ext cx="412444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9" name="Text 12"/>
          <p:cNvSpPr/>
          <p:nvPr/>
        </p:nvSpPr>
        <p:spPr>
          <a:xfrm>
            <a:off x="9649658" y="3189327"/>
            <a:ext cx="347662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Prediction Accuracy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9649658" y="3786783"/>
            <a:ext cx="412444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predictions closely align with actual trends.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9649658" y="4958953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9649658" y="5347930"/>
            <a:ext cx="412444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3" name="Text 16"/>
          <p:cNvSpPr/>
          <p:nvPr/>
        </p:nvSpPr>
        <p:spPr>
          <a:xfrm>
            <a:off x="9649658" y="5532239"/>
            <a:ext cx="307347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Performance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9649658" y="6129695"/>
            <a:ext cx="412444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system performs as expected .</a:t>
            </a:r>
            <a:endParaRPr lang="en-US" sz="1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348CFC3-DF8B-7080-277C-0E3FBBC00B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52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90059" y="776883"/>
            <a:ext cx="731137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400" spc="300" dirty="0"/>
          </a:p>
        </p:txBody>
      </p:sp>
      <p:sp>
        <p:nvSpPr>
          <p:cNvPr id="4" name="Shape 1"/>
          <p:cNvSpPr/>
          <p:nvPr/>
        </p:nvSpPr>
        <p:spPr>
          <a:xfrm>
            <a:off x="3490059" y="2218492"/>
            <a:ext cx="3584734" cy="2854047"/>
          </a:xfrm>
          <a:prstGeom prst="roundRect">
            <a:avLst>
              <a:gd name="adj" fmla="val 5126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288028" y="2188012"/>
            <a:ext cx="3584734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6" name="Shape 3"/>
          <p:cNvSpPr/>
          <p:nvPr/>
        </p:nvSpPr>
        <p:spPr>
          <a:xfrm>
            <a:off x="4912201" y="1848326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7" name="Text 4"/>
          <p:cNvSpPr/>
          <p:nvPr/>
        </p:nvSpPr>
        <p:spPr>
          <a:xfrm>
            <a:off x="5208803" y="200156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3767356" y="283547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Integrated System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767356" y="3334107"/>
            <a:ext cx="303014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Successfully implemented an end-to-end IoT + ML system.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321610" y="2218492"/>
            <a:ext cx="3584853" cy="2854047"/>
          </a:xfrm>
          <a:prstGeom prst="roundRect">
            <a:avLst>
              <a:gd name="adj" fmla="val 5126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96025" y="2188012"/>
            <a:ext cx="3584853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2" name="Shape 9"/>
          <p:cNvSpPr/>
          <p:nvPr/>
        </p:nvSpPr>
        <p:spPr>
          <a:xfrm>
            <a:off x="8743752" y="1848326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13" name="Text 10"/>
          <p:cNvSpPr/>
          <p:nvPr/>
        </p:nvSpPr>
        <p:spPr>
          <a:xfrm>
            <a:off x="9019087" y="200156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598906" y="2835473"/>
            <a:ext cx="303026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Hardware-Independent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598906" y="3684746"/>
            <a:ext cx="303026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Simulation validated without reliance on physical hardware.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3490059" y="5689521"/>
            <a:ext cx="7416403" cy="1763078"/>
          </a:xfrm>
          <a:prstGeom prst="roundRect">
            <a:avLst>
              <a:gd name="adj" fmla="val 8298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490045" y="5659041"/>
            <a:ext cx="7416403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8" name="Shape 15"/>
          <p:cNvSpPr/>
          <p:nvPr/>
        </p:nvSpPr>
        <p:spPr>
          <a:xfrm>
            <a:off x="6828036" y="5319355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19" name="Text 16"/>
          <p:cNvSpPr/>
          <p:nvPr/>
        </p:nvSpPr>
        <p:spPr>
          <a:xfrm>
            <a:off x="7092739" y="547259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3767356" y="6306503"/>
            <a:ext cx="368974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Scalable Implementation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767356" y="6805136"/>
            <a:ext cx="686181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can be easily extended to real hardware for practical use.</a:t>
            </a:r>
            <a:endParaRPr lang="en-US" sz="1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D67F93-23E9-EA4B-366F-B6A62EC2D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357730"/>
            <a:ext cx="1876687" cy="8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04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449F71-B254-1342-D9F5-FC715EFCCE98}"/>
              </a:ext>
            </a:extLst>
          </p:cNvPr>
          <p:cNvSpPr/>
          <p:nvPr/>
        </p:nvSpPr>
        <p:spPr>
          <a:xfrm>
            <a:off x="726996" y="2163564"/>
            <a:ext cx="7461409" cy="232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INTELLIGENT SOLAR TRACKING AND ENERGY PREDICTION SYSTEM USING MACHINE LEARNING</a:t>
            </a:r>
            <a:endParaRPr lang="en-US" sz="2400" spc="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527AA5-4B5A-53EC-1F8D-9A121FABC3F4}"/>
              </a:ext>
            </a:extLst>
          </p:cNvPr>
          <p:cNvSpPr/>
          <p:nvPr/>
        </p:nvSpPr>
        <p:spPr>
          <a:xfrm>
            <a:off x="841296" y="4213463"/>
            <a:ext cx="7461409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innovative solution integrating IoT and Machine Learning for enhanced renewable energy management.</a:t>
            </a:r>
            <a:endParaRPr lang="en-US" sz="1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E3DE8F-F8A9-6EB7-3539-BF2C09DD7A56}"/>
              </a:ext>
            </a:extLst>
          </p:cNvPr>
          <p:cNvSpPr/>
          <p:nvPr/>
        </p:nvSpPr>
        <p:spPr>
          <a:xfrm>
            <a:off x="841296" y="5106670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Presented By</a:t>
            </a: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CA183A-41D9-603D-B355-35C805D50A42}"/>
              </a:ext>
            </a:extLst>
          </p:cNvPr>
          <p:cNvSpPr/>
          <p:nvPr/>
        </p:nvSpPr>
        <p:spPr>
          <a:xfrm>
            <a:off x="841296" y="5698292"/>
            <a:ext cx="7461409" cy="152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Sharkesh – 234031101119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Sheik Abdullah – 234031101121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Sree Sharan – 234031101123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Srinath – 234031101124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Sriram – 234031101125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865F3A-CDD5-1820-144A-107698629208}"/>
              </a:ext>
            </a:extLst>
          </p:cNvPr>
          <p:cNvSpPr/>
          <p:nvPr/>
        </p:nvSpPr>
        <p:spPr>
          <a:xfrm>
            <a:off x="841296" y="7433860"/>
            <a:ext cx="746140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Date: 26.02.2026 | 5</a:t>
            </a:r>
            <a:r>
              <a:rPr lang="en-US" sz="1700" baseline="300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</a:t>
            </a:r>
            <a:r>
              <a:rPr lang="en-US" sz="1700" dirty="0">
                <a:solidFill>
                  <a:srgbClr val="6F6F6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Review | Project Guide: Surya (IBM) | Project Reviewer: Dr. C. Priya</a:t>
            </a:r>
            <a:endParaRPr lang="en-US" sz="17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84F73B5-2573-4209-47CB-2E41EBEC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2" y="-3651"/>
            <a:ext cx="5486400" cy="822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02916F-9415-0CA6-88BC-F89823749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278" y="114300"/>
            <a:ext cx="5590043" cy="159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72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3AB8F69-9B16-7082-2C54-B38F03DE948C}"/>
              </a:ext>
            </a:extLst>
          </p:cNvPr>
          <p:cNvSpPr>
            <a:spLocks noGrp="1"/>
          </p:cNvSpPr>
          <p:nvPr/>
        </p:nvSpPr>
        <p:spPr bwMode="blackWhite">
          <a:xfrm>
            <a:off x="1747746" y="1916513"/>
            <a:ext cx="11615861" cy="1205252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800"/>
              </a:lnSpc>
            </a:pPr>
            <a:r>
              <a:rPr lang="en-US" sz="2400" b="1" spc="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INTELLIGENT SOLAR TRACKING AND ENERGY PREDICTION SYSTEM USING MACHINE LEARNING</a:t>
            </a:r>
            <a:endParaRPr lang="en-US" sz="2400" spc="3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CDFED76-AB14-358E-5E4D-559072735AC4}"/>
              </a:ext>
            </a:extLst>
          </p:cNvPr>
          <p:cNvSpPr>
            <a:spLocks noGrp="1"/>
          </p:cNvSpPr>
          <p:nvPr/>
        </p:nvSpPr>
        <p:spPr>
          <a:xfrm>
            <a:off x="561214" y="3420355"/>
            <a:ext cx="4588098" cy="470888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0"/>
              </a:lnSpc>
              <a:buSzPct val="100000"/>
            </a:pPr>
            <a:r>
              <a:rPr lang="en-US" sz="7200" b="1" dirty="0">
                <a:solidFill>
                  <a:schemeClr val="bg1"/>
                </a:solidFill>
              </a:rPr>
              <a:t>	STUDENT NAME</a:t>
            </a:r>
            <a:r>
              <a:rPr lang="en-US" sz="4800" b="1" dirty="0">
                <a:solidFill>
                  <a:schemeClr val="bg1"/>
                </a:solidFill>
              </a:rPr>
              <a:t>:</a:t>
            </a: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5600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Sharkesh – 234031101119</a:t>
            </a:r>
            <a:endParaRPr lang="en-US" sz="5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5600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Sheik Abdullah – 234031101121</a:t>
            </a:r>
            <a:endParaRPr lang="en-US" sz="5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5600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Sree Sharan – 234031101123</a:t>
            </a:r>
            <a:endParaRPr lang="en-US" sz="5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5600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Srinath – 234031101124</a:t>
            </a:r>
            <a:endParaRPr lang="en-US" sz="5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5600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Sriram – 234031101125</a:t>
            </a:r>
            <a:endParaRPr lang="en-IN" sz="5600" dirty="0">
              <a:solidFill>
                <a:schemeClr val="bg1"/>
              </a:solidFill>
            </a:endParaRPr>
          </a:p>
          <a:p>
            <a:pPr algn="l"/>
            <a:endParaRPr lang="en-US" sz="4800" dirty="0">
              <a:solidFill>
                <a:schemeClr val="bg1"/>
              </a:solidFill>
            </a:endParaRPr>
          </a:p>
          <a:p>
            <a:pPr algn="l"/>
            <a:r>
              <a:rPr lang="en-US" sz="6400" dirty="0">
                <a:solidFill>
                  <a:schemeClr val="bg1"/>
                </a:solidFill>
              </a:rPr>
              <a:t>CLASS AND SECTION</a:t>
            </a:r>
          </a:p>
          <a:p>
            <a:pPr algn="l"/>
            <a:r>
              <a:rPr lang="en-US" sz="6400" dirty="0">
                <a:solidFill>
                  <a:schemeClr val="bg1"/>
                </a:solidFill>
              </a:rPr>
              <a:t>Department of Computer Applications</a:t>
            </a:r>
          </a:p>
          <a:p>
            <a:pPr algn="l"/>
            <a:r>
              <a:rPr lang="en-US" sz="6400" dirty="0">
                <a:solidFill>
                  <a:schemeClr val="bg1"/>
                </a:solidFill>
              </a:rPr>
              <a:t>Dr. M.G.R. Educational and Research Institute,</a:t>
            </a:r>
          </a:p>
          <a:p>
            <a:endParaRPr lang="en-US" sz="5600" dirty="0">
              <a:solidFill>
                <a:schemeClr val="bg1"/>
              </a:solidFill>
            </a:endParaRPr>
          </a:p>
          <a:p>
            <a:endParaRPr lang="en-IN" sz="25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165ED1-10AB-A1D9-370D-FF9DD8EB8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27456" cy="15630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111B15-C98A-D897-BE2B-C542CE719CF5}"/>
              </a:ext>
            </a:extLst>
          </p:cNvPr>
          <p:cNvSpPr/>
          <p:nvPr/>
        </p:nvSpPr>
        <p:spPr>
          <a:xfrm>
            <a:off x="5149312" y="3475193"/>
            <a:ext cx="3662006" cy="1518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PROJECT VIVA VOCE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Date: 26.02.2026</a:t>
            </a:r>
            <a:endParaRPr lang="en-IN" b="1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49CBC20-A677-D699-4614-297CC5D27780}"/>
              </a:ext>
            </a:extLst>
          </p:cNvPr>
          <p:cNvSpPr txBox="1">
            <a:spLocks/>
          </p:cNvSpPr>
          <p:nvPr/>
        </p:nvSpPr>
        <p:spPr>
          <a:xfrm>
            <a:off x="5644953" y="5919229"/>
            <a:ext cx="3821448" cy="15630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6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b="1" dirty="0">
                <a:solidFill>
                  <a:schemeClr val="bg1"/>
                </a:solidFill>
              </a:rPr>
              <a:t>REVIEWER NAME: Dr. C. PRIYA</a:t>
            </a:r>
          </a:p>
          <a:p>
            <a:pPr algn="l"/>
            <a:endParaRPr lang="en-US" sz="25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Designation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Department of Computer Applications</a:t>
            </a:r>
          </a:p>
          <a:p>
            <a:pPr algn="l"/>
            <a:r>
              <a:rPr lang="en-US" sz="2800" dirty="0" err="1">
                <a:solidFill>
                  <a:schemeClr val="bg1"/>
                </a:solidFill>
              </a:rPr>
              <a:t>Dr.M.G.R</a:t>
            </a:r>
            <a:r>
              <a:rPr lang="en-US" sz="2800" dirty="0">
                <a:solidFill>
                  <a:schemeClr val="bg1"/>
                </a:solidFill>
              </a:rPr>
              <a:t>. Educational and Research Institute,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3CD290C-2FB4-7707-5219-BBF116E207FF}"/>
              </a:ext>
            </a:extLst>
          </p:cNvPr>
          <p:cNvSpPr txBox="1">
            <a:spLocks/>
          </p:cNvSpPr>
          <p:nvPr/>
        </p:nvSpPr>
        <p:spPr>
          <a:xfrm>
            <a:off x="10535758" y="6017682"/>
            <a:ext cx="3821448" cy="15630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b="1" dirty="0">
                <a:solidFill>
                  <a:schemeClr val="bg1"/>
                </a:solidFill>
              </a:rPr>
              <a:t>GUIDE  NAME: Mr. SURYA (IBM)</a:t>
            </a:r>
          </a:p>
          <a:p>
            <a:pPr algn="l"/>
            <a:endParaRPr lang="en-US" sz="3500" b="1" dirty="0">
              <a:solidFill>
                <a:schemeClr val="bg1"/>
              </a:solidFill>
            </a:endParaRPr>
          </a:p>
          <a:p>
            <a:pPr algn="l"/>
            <a:endParaRPr lang="en-US" sz="25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Designation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Department of Computer Applications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Dr. M.G.R. Educational and Research Institute,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endParaRPr lang="en-IN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641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398" y="398740"/>
            <a:ext cx="8604052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Dawn of Smarter Solar: Enhancing Efficiency with IoT and ML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221718"/>
            <a:ext cx="7416403" cy="296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CFA2B-2ED4-F6C4-6647-36A7A4580E7D}"/>
              </a:ext>
            </a:extLst>
          </p:cNvPr>
          <p:cNvSpPr txBox="1"/>
          <p:nvPr/>
        </p:nvSpPr>
        <p:spPr>
          <a:xfrm>
            <a:off x="142664" y="2966621"/>
            <a:ext cx="878246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Renewable energy demand is rapidly increasing worldwide.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Solar panel efficiency depends on proper alignment with the sun.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Traditional fixed panels reduce power output due to</a:t>
            </a:r>
          </a:p>
          <a:p>
            <a:r>
              <a:rPr lang="en-US" sz="2400" dirty="0"/>
              <a:t>        limited sun exposure.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IoT enables real-time monitoring and automatic panel control.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Machine Learning predicts sun movement and optimizes </a:t>
            </a:r>
          </a:p>
          <a:p>
            <a:r>
              <a:rPr lang="en-US" sz="2400" dirty="0"/>
              <a:t>        panel angle.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Smart tracking system increases energy efficiency and </a:t>
            </a:r>
          </a:p>
          <a:p>
            <a:r>
              <a:rPr lang="en-US" sz="2400" dirty="0"/>
              <a:t>       power generation.</a:t>
            </a:r>
            <a:endParaRPr lang="en-IN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05445"/>
            <a:ext cx="892016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Inefficiency of Static Solar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270522"/>
            <a:ext cx="6327934" cy="2503408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63798" y="2240042"/>
            <a:ext cx="6327934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900357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3879711" y="208549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1095" y="2887504"/>
            <a:ext cx="345781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Suboptimal Positioning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1095" y="3386138"/>
            <a:ext cx="5773341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solar panels cannot adjust their angle, leading to reduced energy capture as the sun moves across the sky.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38549" y="2270522"/>
            <a:ext cx="6328053" cy="2503408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38549" y="2240042"/>
            <a:ext cx="6328053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1" name="Shape 9"/>
          <p:cNvSpPr/>
          <p:nvPr/>
        </p:nvSpPr>
        <p:spPr>
          <a:xfrm>
            <a:off x="10232291" y="1900357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10454461" y="208549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715845" y="2887504"/>
            <a:ext cx="348222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Generation Loss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15845" y="3386138"/>
            <a:ext cx="577346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static approach results in significant energy generation losses, impacting overall system output and ROI.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5390912"/>
            <a:ext cx="6327934" cy="2133243"/>
          </a:xfrm>
          <a:prstGeom prst="roundRect">
            <a:avLst>
              <a:gd name="adj" fmla="val 685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63798" y="5360432"/>
            <a:ext cx="6327934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5020747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3879711" y="520588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141095" y="6007894"/>
            <a:ext cx="377666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Oversight Burden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1095" y="6506528"/>
            <a:ext cx="577334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Manually adjusting panels for optimal sun exposure is impractical, labor-intensive, and prone to human error.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38549" y="5390912"/>
            <a:ext cx="6328053" cy="2133243"/>
          </a:xfrm>
          <a:prstGeom prst="roundRect">
            <a:avLst>
              <a:gd name="adj" fmla="val 6858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38549" y="5360432"/>
            <a:ext cx="6328053" cy="12192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32291" y="5020747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2D2E34"/>
          </a:solidFill>
          <a:ln/>
        </p:spPr>
      </p:sp>
      <p:sp>
        <p:nvSpPr>
          <p:cNvPr id="24" name="Text 22"/>
          <p:cNvSpPr/>
          <p:nvPr/>
        </p:nvSpPr>
        <p:spPr>
          <a:xfrm>
            <a:off x="10454461" y="5205889"/>
            <a:ext cx="29610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715845" y="6007894"/>
            <a:ext cx="37449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Lack of Predictive Insight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15845" y="6506528"/>
            <a:ext cx="577346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dynamic data and analytical tools, predicting future energy output remains a significant challenge.</a:t>
            </a:r>
            <a:endParaRPr lang="en-US" sz="1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3626D70-996B-5395-1255-0C988BFA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248132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Vision: Intelligent Solar Tracking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020854"/>
            <a:ext cx="7416403" cy="396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Solar Tracking: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Develop a dynamic system that continuously adjusts panel orientation for maximum sunlight absorption.</a:t>
            </a: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IoT Data Collection: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Implement IoT sensors to gather crucial environmental and performance data in real time</a:t>
            </a:r>
          </a:p>
          <a:p>
            <a:pPr algn="l">
              <a:lnSpc>
                <a:spcPts val="2900"/>
              </a:lnSpc>
              <a:buSzPct val="100000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Prediction: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Leverage ML algorithms to forecast future energy generation based on historical data.</a:t>
            </a:r>
          </a:p>
          <a:p>
            <a:pPr algn="l">
              <a:lnSpc>
                <a:spcPts val="2900"/>
              </a:lnSpc>
              <a:buSzPct val="100000"/>
            </a:pP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Efficiency: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Significantly improve solar panel efficiency, leading to higher energy output and greater cost savings.</a:t>
            </a:r>
            <a:endParaRPr lang="en-U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19C9A-B95A-AB05-41C8-851780D78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939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37486" y="694253"/>
            <a:ext cx="11493460" cy="679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 of Current Solar Installations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837486" y="1722001"/>
            <a:ext cx="6361748" cy="2614017"/>
          </a:xfrm>
          <a:prstGeom prst="roundRect">
            <a:avLst>
              <a:gd name="adj" fmla="val 1373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1076682" y="1961198"/>
            <a:ext cx="717828" cy="717828"/>
          </a:xfrm>
          <a:prstGeom prst="roundRect">
            <a:avLst>
              <a:gd name="adj" fmla="val 12737154"/>
            </a:avLst>
          </a:prstGeom>
          <a:solidFill>
            <a:srgbClr val="2D2E3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088" y="2158603"/>
            <a:ext cx="323017" cy="3230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6682" y="2910959"/>
            <a:ext cx="3365183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Fixed Panel Orientation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76682" y="3390067"/>
            <a:ext cx="5883354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systems rely on stationary panels, limiting their ability to adapt to changing sun positions.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7431167" y="1722001"/>
            <a:ext cx="6361748" cy="2614017"/>
          </a:xfrm>
          <a:prstGeom prst="roundRect">
            <a:avLst>
              <a:gd name="adj" fmla="val 1373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7670363" y="1961198"/>
            <a:ext cx="717828" cy="717828"/>
          </a:xfrm>
          <a:prstGeom prst="roundRect">
            <a:avLst>
              <a:gd name="adj" fmla="val 12737154"/>
            </a:avLst>
          </a:prstGeom>
          <a:solidFill>
            <a:srgbClr val="2D2E3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7769" y="2158603"/>
            <a:ext cx="323017" cy="323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70363" y="2910959"/>
            <a:ext cx="3770471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Inefficient Energy Capture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670363" y="3390067"/>
            <a:ext cx="5883354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fixed setup often means panels are not optimally angled, especially during peak sunlight hours.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837486" y="4567952"/>
            <a:ext cx="6361748" cy="2967395"/>
          </a:xfrm>
          <a:prstGeom prst="roundRect">
            <a:avLst>
              <a:gd name="adj" fmla="val 1210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1076682" y="4807148"/>
            <a:ext cx="717828" cy="717828"/>
          </a:xfrm>
          <a:prstGeom prst="roundRect">
            <a:avLst>
              <a:gd name="adj" fmla="val 12737154"/>
            </a:avLst>
          </a:prstGeom>
          <a:solidFill>
            <a:srgbClr val="2D2E3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4088" y="5004554"/>
            <a:ext cx="323017" cy="323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6682" y="5756910"/>
            <a:ext cx="3711773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Lack of Real-time Insights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1076682" y="6236018"/>
            <a:ext cx="5883354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Existing systems typically lack real-time data collection, hindering performance analysis and proactive maintenance.</a:t>
            </a:r>
            <a:endParaRPr lang="en-US" sz="1850" dirty="0"/>
          </a:p>
        </p:txBody>
      </p:sp>
      <p:sp>
        <p:nvSpPr>
          <p:cNvPr id="20" name="Shape 14"/>
          <p:cNvSpPr/>
          <p:nvPr/>
        </p:nvSpPr>
        <p:spPr>
          <a:xfrm>
            <a:off x="7431167" y="4567952"/>
            <a:ext cx="6361748" cy="2967395"/>
          </a:xfrm>
          <a:prstGeom prst="roundRect">
            <a:avLst>
              <a:gd name="adj" fmla="val 1210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7670363" y="4807148"/>
            <a:ext cx="717828" cy="717828"/>
          </a:xfrm>
          <a:prstGeom prst="roundRect">
            <a:avLst>
              <a:gd name="adj" fmla="val 12737154"/>
            </a:avLst>
          </a:prstGeom>
          <a:solidFill>
            <a:srgbClr val="2D2E3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7769" y="5004554"/>
            <a:ext cx="323017" cy="32301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70363" y="5756910"/>
            <a:ext cx="4504968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Absence of Predictive Analytics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7670363" y="6236018"/>
            <a:ext cx="5883354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data-driven predictions, optimizing energy distribution and grid integration becomes more challenging.</a:t>
            </a:r>
            <a:endParaRPr lang="en-US" sz="1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D76FDA-51A4-89F5-0C6C-F731C03A5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23104"/>
            <a:ext cx="1092481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Our Smart Solar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094547"/>
            <a:ext cx="3040499" cy="511182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110615" y="234136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212" y="2544961"/>
            <a:ext cx="333137" cy="333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615" y="3328630"/>
            <a:ext cx="2546866" cy="84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Automated Solar Tracking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110615" y="4317921"/>
            <a:ext cx="2546866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actuators constantly adjust the solar panel's angle to follow the sun's path, maximizing direct exposure.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151114" y="2094547"/>
            <a:ext cx="3040618" cy="511182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4397931" y="234136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1528" y="2544961"/>
            <a:ext cx="333137" cy="333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7931" y="3328630"/>
            <a:ext cx="2546985" cy="84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IoT-Based Monitoring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4397931" y="4317921"/>
            <a:ext cx="2546985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network of sensors collects real-time data on irradiance, voltage, and current, providing comprehensive insights.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7438549" y="2094547"/>
            <a:ext cx="3040618" cy="511182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7685365" y="234136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8962" y="2544961"/>
            <a:ext cx="333137" cy="333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85365" y="3328630"/>
            <a:ext cx="2546985" cy="126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Prediction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7685365" y="4738568"/>
            <a:ext cx="2546985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ML models analyze collected data to predict future energy generation, optimizing resource allocation and efficiency.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10725983" y="2094547"/>
            <a:ext cx="3040618" cy="511182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10972800" y="234136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397" y="2544961"/>
            <a:ext cx="333137" cy="3331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0" y="3328630"/>
            <a:ext cx="2546985" cy="126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 Dashboard Visualization</a:t>
            </a:r>
            <a:endParaRPr lang="en-US" sz="2650" dirty="0"/>
          </a:p>
        </p:txBody>
      </p:sp>
      <p:sp>
        <p:nvSpPr>
          <p:cNvPr id="22" name="Text 16"/>
          <p:cNvSpPr/>
          <p:nvPr/>
        </p:nvSpPr>
        <p:spPr>
          <a:xfrm>
            <a:off x="10972800" y="4738568"/>
            <a:ext cx="2546985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user-friendly web interface provides intuitive visualization of real-time data, historical trends, and predictive analytics.</a:t>
            </a:r>
            <a:endParaRPr lang="en-US" sz="1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E60A6CF-0711-2C71-44CB-5EC9D1C8C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61160"/>
            <a:ext cx="895992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 Overview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86038" y="2732603"/>
            <a:ext cx="6505813" cy="281785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2855" y="3010257"/>
            <a:ext cx="2882622" cy="2262545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2375" y="3010257"/>
            <a:ext cx="121920" cy="2262545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301591" y="3287554"/>
            <a:ext cx="223658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Solar Tracker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01591" y="3885009"/>
            <a:ext cx="2236589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Collects panel position and environmental data.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062293" y="3010257"/>
            <a:ext cx="2882741" cy="2262545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31813" y="3010257"/>
            <a:ext cx="121920" cy="2262545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4431030" y="3287554"/>
            <a:ext cx="223670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Monitor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1030" y="3885009"/>
            <a:ext cx="22367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Aggregates sensor data and forwards securely.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623929" y="3010257"/>
            <a:ext cx="2951678" cy="2262545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93449" y="3010257"/>
            <a:ext cx="121920" cy="2262545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7992666" y="3287554"/>
            <a:ext cx="23056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Processor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92666" y="3885009"/>
            <a:ext cx="2305645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Analyzes patterns and predicts optimal angles.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822424" y="3010257"/>
            <a:ext cx="2951798" cy="2262545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1944" y="3010257"/>
            <a:ext cx="121920" cy="2262545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11191161" y="3287554"/>
            <a:ext cx="23057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91161" y="3885009"/>
            <a:ext cx="2305764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Visualizes insights and supports operator decisions.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3798" y="582810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is designed with a modular architecture, ensuring scalability and robust performance across all operational phases. This structure allows for seamless integration and efficient data flow from physical tracking to intelligent insights.</a:t>
            </a:r>
            <a:endParaRPr lang="en-US" sz="1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396317-FF0F-D1A1-0BF4-6C312A4F8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61279"/>
            <a:ext cx="806243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Hardware Components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856190"/>
            <a:ext cx="4136350" cy="2102763"/>
          </a:xfrm>
          <a:prstGeom prst="roundRect">
            <a:avLst>
              <a:gd name="adj" fmla="val 28172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310300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Solar Panel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0615" y="3601641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Converts sunlight into usable electrical energy.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6965" y="2856190"/>
            <a:ext cx="4136350" cy="2102763"/>
          </a:xfrm>
          <a:prstGeom prst="roundRect">
            <a:avLst>
              <a:gd name="adj" fmla="val 2817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93782" y="310300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Servo Motor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93782" y="3601641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Precisely controls the panel's rotational movement.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2856190"/>
            <a:ext cx="4136350" cy="2102763"/>
          </a:xfrm>
          <a:prstGeom prst="roundRect">
            <a:avLst>
              <a:gd name="adj" fmla="val 2817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76949" y="310300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Microcontroller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6949" y="3601641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brains of the system, processing data and executing commands.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205770"/>
            <a:ext cx="6327934" cy="1362432"/>
          </a:xfrm>
          <a:prstGeom prst="roundRect">
            <a:avLst>
              <a:gd name="adj" fmla="val 4348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54525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LDR Sensors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0615" y="5951220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light intensity to guide panel orientation.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5205770"/>
            <a:ext cx="6327934" cy="1362432"/>
          </a:xfrm>
          <a:prstGeom prst="roundRect">
            <a:avLst>
              <a:gd name="adj" fmla="val 43481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5365" y="5452586"/>
            <a:ext cx="38425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Voltage Sensor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365" y="5951220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Monitors electrical output for performance analysis.</a:t>
            </a:r>
            <a:endParaRPr lang="en-US" sz="1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D21756-F5C9-4946-3DFE-784B00788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31473" y="-6667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3798" y="2018705"/>
            <a:ext cx="895992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 Overview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63798" y="3090148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is designed with a modular architecture, ensuring scalability and robust performance across all operational phases. This structure allows for seamless integration and efficient data flow from physical tracking to intelligent insights.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3798" y="4108133"/>
            <a:ext cx="12902803" cy="2102763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863798" y="4108133"/>
            <a:ext cx="3225641" cy="2102763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110615" y="4354949"/>
            <a:ext cx="236184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Solar Tracker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10615" y="4853583"/>
            <a:ext cx="236184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Collects panel position and environmental data.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089440" y="4108133"/>
            <a:ext cx="3225760" cy="210276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4089440" y="4108133"/>
            <a:ext cx="30480" cy="2102763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2" name="Text 9"/>
          <p:cNvSpPr/>
          <p:nvPr/>
        </p:nvSpPr>
        <p:spPr>
          <a:xfrm>
            <a:off x="4706422" y="4354949"/>
            <a:ext cx="199179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Monitor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06422" y="4853583"/>
            <a:ext cx="199179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Aggregates sensor data and forwards securely.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780949" y="4850963"/>
            <a:ext cx="616982" cy="61698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5135" y="5005149"/>
            <a:ext cx="308491" cy="30849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315200" y="4108133"/>
            <a:ext cx="3225641" cy="210276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0" y="4108133"/>
            <a:ext cx="30480" cy="2102763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8" name="Text 14"/>
          <p:cNvSpPr/>
          <p:nvPr/>
        </p:nvSpPr>
        <p:spPr>
          <a:xfrm>
            <a:off x="7932182" y="4354949"/>
            <a:ext cx="199167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Processor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7932182" y="4853583"/>
            <a:ext cx="199167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Analyzes patterns and predicts optimal angles.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7006709" y="4850963"/>
            <a:ext cx="616982" cy="61698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0895" y="5005149"/>
            <a:ext cx="308491" cy="30849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540841" y="4108133"/>
            <a:ext cx="3225760" cy="210276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10540841" y="4108133"/>
            <a:ext cx="30480" cy="2102763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24" name="Text 19"/>
          <p:cNvSpPr/>
          <p:nvPr/>
        </p:nvSpPr>
        <p:spPr>
          <a:xfrm>
            <a:off x="11157823" y="4354949"/>
            <a:ext cx="236196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11157823" y="4853583"/>
            <a:ext cx="236196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Visualizes insights and supports operator decisions.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10232350" y="4850963"/>
            <a:ext cx="616982" cy="61698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6536" y="5005149"/>
            <a:ext cx="308491" cy="3084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261F20F-2AD0-F038-03DB-2ABDBA69A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6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3798" y="1339929"/>
            <a:ext cx="868787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LDR Sensors: Eyes on the Sun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63798" y="2411373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 Dependent Resistors (LDRs) serve as the crucial "eyes" of our solar tracking system. These simple yet effective components play a vital role in sensing the direction and intensity of sunlight.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3798" y="3429357"/>
            <a:ext cx="4136350" cy="3460194"/>
          </a:xfrm>
          <a:prstGeom prst="roundRect">
            <a:avLst>
              <a:gd name="adj" fmla="val 1070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1110615" y="367617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212" y="3879771"/>
            <a:ext cx="333137" cy="3331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0615" y="4663440"/>
            <a:ext cx="3524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Precise Light Detection: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110615" y="5162074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LDRs accurately measure the varying light levels across the panel's surface.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246965" y="3429357"/>
            <a:ext cx="4136350" cy="3460194"/>
          </a:xfrm>
          <a:prstGeom prst="roundRect">
            <a:avLst>
              <a:gd name="adj" fmla="val 1070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5493782" y="367617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7379" y="3879771"/>
            <a:ext cx="333137" cy="3331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93782" y="466344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Input: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493782" y="5162074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immediate feedback to the microcontroller, enabling rapid adjustments.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9630132" y="3429357"/>
            <a:ext cx="4136350" cy="3460194"/>
          </a:xfrm>
          <a:prstGeom prst="roundRect">
            <a:avLst>
              <a:gd name="adj" fmla="val 1070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9876949" y="3676174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0546" y="3879771"/>
            <a:ext cx="333137" cy="3331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6949" y="4663440"/>
            <a:ext cx="302609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Optimal Orientation: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876949" y="5162074"/>
            <a:ext cx="36427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comparing readings from multiple LDRs, the system determines the optimal angle for maximum light absorption.</a:t>
            </a:r>
            <a:endParaRPr lang="en-US" sz="1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5C7719-504A-A58D-9B33-FBC6F1E2B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667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3798" y="1803083"/>
            <a:ext cx="868787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LDR Sensors: Eyes on the Sun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63798" y="2874526"/>
            <a:ext cx="4136350" cy="2533888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1095" y="3151823"/>
            <a:ext cx="3524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Precise Light Detection: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1095" y="3650456"/>
            <a:ext cx="358175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LDRs accurately measure the varying light levels across the panel's surface.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2874526"/>
            <a:ext cx="4136350" cy="2533888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24262" y="315182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Input: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24262" y="3650456"/>
            <a:ext cx="358175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immediate feedback to the microcontroller, enabling rapid adjustments.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630132" y="2874526"/>
            <a:ext cx="4136350" cy="2533888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07429" y="3151823"/>
            <a:ext cx="302609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Optimal Orientation: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907429" y="3650456"/>
            <a:ext cx="358175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comparing readings from multiple LDRs, the system determines the optimal angle for maximum light absorption.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63798" y="5686068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 Dependent Resistors (LDRs) serve as the crucial "eyes" of our solar tracking system. These simple yet effective components play a vital role in sensing the direction and intensity of sunlight.</a:t>
            </a:r>
            <a:endParaRPr lang="en-US" sz="1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E1E52C-727B-3243-A15D-E8E61B78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737" y="7641719"/>
            <a:ext cx="1952898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010364"/>
            <a:ext cx="7416403" cy="119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Microcontroller: The Brain of Our System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350198" y="2469832"/>
            <a:ext cx="7416403" cy="87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 the core of our smart solar tracking system lies a powerful microcontroller. This tiny yet mighty component acts as the central processing unit, orchestrating the collection of vital data and precise control over mechanical movements.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350198" y="3543419"/>
            <a:ext cx="2353270" cy="3675817"/>
          </a:xfrm>
          <a:prstGeom prst="roundRect">
            <a:avLst>
              <a:gd name="adj" fmla="val 1337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6559987" y="3753207"/>
            <a:ext cx="629364" cy="629364"/>
          </a:xfrm>
          <a:prstGeom prst="roundRect">
            <a:avLst>
              <a:gd name="adj" fmla="val 14527500"/>
            </a:avLst>
          </a:prstGeom>
          <a:solidFill>
            <a:srgbClr val="2D2E3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3103" y="3926205"/>
            <a:ext cx="283131" cy="2831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59987" y="4560808"/>
            <a:ext cx="1933694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Processes Sensor Data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59987" y="5263515"/>
            <a:ext cx="1933694" cy="1163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Intakes and interprets environmental readings from various sensors.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8881705" y="3543419"/>
            <a:ext cx="2353270" cy="3675817"/>
          </a:xfrm>
          <a:prstGeom prst="roundRect">
            <a:avLst>
              <a:gd name="adj" fmla="val 1337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9091493" y="3753207"/>
            <a:ext cx="629364" cy="629364"/>
          </a:xfrm>
          <a:prstGeom prst="roundRect">
            <a:avLst>
              <a:gd name="adj" fmla="val 14527500"/>
            </a:avLst>
          </a:prstGeom>
          <a:solidFill>
            <a:srgbClr val="2D2E3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610" y="3926205"/>
            <a:ext cx="283131" cy="2831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1493" y="4560808"/>
            <a:ext cx="1933694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Controls Servo Motor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091493" y="5263515"/>
            <a:ext cx="1933694" cy="174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Commands the servo motors to adjust the solar panel's orientation for optimal sun exposure.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11413212" y="3543419"/>
            <a:ext cx="2353270" cy="3675817"/>
          </a:xfrm>
          <a:prstGeom prst="roundRect">
            <a:avLst>
              <a:gd name="adj" fmla="val 1337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11623000" y="3753207"/>
            <a:ext cx="629364" cy="629364"/>
          </a:xfrm>
          <a:prstGeom prst="roundRect">
            <a:avLst>
              <a:gd name="adj" fmla="val 14527500"/>
            </a:avLst>
          </a:prstGeom>
          <a:solidFill>
            <a:srgbClr val="2D2E3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6117" y="3926205"/>
            <a:ext cx="283131" cy="28313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623000" y="4560808"/>
            <a:ext cx="1933694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Transmits Data to IoT Module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11623000" y="5263515"/>
            <a:ext cx="1933694" cy="145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Securely sends processed data to the integrated IoT module for further analysis and communication.</a:t>
            </a:r>
            <a:endParaRPr lang="en-US" sz="16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512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036" y="682466"/>
            <a:ext cx="10672643" cy="697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Module: Connecting to the Cloud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59036" y="1867972"/>
            <a:ext cx="12912328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IoT Module serves as the communication hub, bridging the physical solar tracking hardware with the digital world. It enables seamless data flow and remote management capabilities.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59036" y="2968466"/>
            <a:ext cx="3347204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Functions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036" y="3752850"/>
            <a:ext cx="613648" cy="613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036" y="4671536"/>
            <a:ext cx="6303645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Collects real-time data from the microcontroller, ensuring up-to-the-minute information.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7719" y="3752850"/>
            <a:ext cx="613648" cy="6136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7719" y="4671536"/>
            <a:ext cx="6303645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Facilitates wireless communication (Wi-Fi, Cellular, LoRa) to send data to cloud servers.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036" y="5894070"/>
            <a:ext cx="613648" cy="6136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036" y="6812756"/>
            <a:ext cx="6303645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remote monitoring and control of the solar panel from anywhere in the world.</a:t>
            </a:r>
            <a:endParaRPr lang="en-US" sz="1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7719" y="5894070"/>
            <a:ext cx="613648" cy="6136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67719" y="6812756"/>
            <a:ext cx="6303645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over-the-air (OTA) updates for continuous improvement and feature additions.</a:t>
            </a:r>
            <a:endParaRPr lang="en-US" sz="1900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078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45118"/>
            <a:ext cx="6954203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Comprehensive Data Collection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63798" y="1748671"/>
            <a:ext cx="129028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meticulously collects a range of environmental and performance data points to ensure peak operational efficiency and accurate energy prediction.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03770" y="2147649"/>
            <a:ext cx="22860" cy="5136833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782753" y="2876669"/>
            <a:ext cx="555308" cy="2286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245787" y="2818686"/>
            <a:ext cx="138827" cy="138827"/>
          </a:xfrm>
          <a:prstGeom prst="roundRect">
            <a:avLst>
              <a:gd name="adj" fmla="val 329331"/>
            </a:avLst>
          </a:prstGeom>
          <a:solidFill>
            <a:srgbClr val="2D2E34"/>
          </a:solidFill>
          <a:ln/>
        </p:spPr>
      </p:sp>
      <p:sp>
        <p:nvSpPr>
          <p:cNvPr id="7" name="Shape 5"/>
          <p:cNvSpPr/>
          <p:nvPr/>
        </p:nvSpPr>
        <p:spPr>
          <a:xfrm>
            <a:off x="863798" y="2147649"/>
            <a:ext cx="5896094" cy="148089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63798" y="2332673"/>
            <a:ext cx="58811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Sun Angle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8722" y="2678787"/>
            <a:ext cx="573627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Precise measurement of the sun's azimuth and altitude for optimal panel positioning.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292340" y="3894773"/>
            <a:ext cx="555308" cy="2286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245787" y="3836789"/>
            <a:ext cx="138827" cy="138827"/>
          </a:xfrm>
          <a:prstGeom prst="roundRect">
            <a:avLst>
              <a:gd name="adj" fmla="val 329331"/>
            </a:avLst>
          </a:prstGeom>
          <a:solidFill>
            <a:srgbClr val="2D2E3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70508" y="3165753"/>
            <a:ext cx="5896094" cy="148089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055530" y="3350776"/>
            <a:ext cx="5075679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Panel Angle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055531" y="3696891"/>
            <a:ext cx="55260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tracking of the physical orientation of the solar panel.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782753" y="4774049"/>
            <a:ext cx="555308" cy="2286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5787" y="4716066"/>
            <a:ext cx="138827" cy="138827"/>
          </a:xfrm>
          <a:prstGeom prst="roundRect">
            <a:avLst>
              <a:gd name="adj" fmla="val 329331"/>
            </a:avLst>
          </a:prstGeom>
          <a:solidFill>
            <a:srgbClr val="2D2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863798" y="4045029"/>
            <a:ext cx="5896094" cy="148089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1329070" y="4230053"/>
            <a:ext cx="5245799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Voltage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48822" y="4576167"/>
            <a:ext cx="552604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monitoring of the electrical potential generated by the panel.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292340" y="5653326"/>
            <a:ext cx="555308" cy="2286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5787" y="5595342"/>
            <a:ext cx="138827" cy="138827"/>
          </a:xfrm>
          <a:prstGeom prst="roundRect">
            <a:avLst>
              <a:gd name="adj" fmla="val 329331"/>
            </a:avLst>
          </a:prstGeom>
          <a:solidFill>
            <a:srgbClr val="2D2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7870508" y="4924306"/>
            <a:ext cx="5896094" cy="148089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055531" y="5109329"/>
            <a:ext cx="507567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055531" y="5455444"/>
            <a:ext cx="55260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Measurement of the flow of electrical charge from the solar array.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782753" y="6532602"/>
            <a:ext cx="555308" cy="2286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45787" y="6474619"/>
            <a:ext cx="138827" cy="138827"/>
          </a:xfrm>
          <a:prstGeom prst="roundRect">
            <a:avLst>
              <a:gd name="adj" fmla="val 329331"/>
            </a:avLst>
          </a:prstGeom>
          <a:solidFill>
            <a:srgbClr val="2D2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798" y="5803583"/>
            <a:ext cx="5896094" cy="148089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1148316" y="5988606"/>
            <a:ext cx="5426553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Output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48822" y="6334720"/>
            <a:ext cx="55260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Calculation of the total power generated, a key performance indicator.</a:t>
            </a:r>
            <a:endParaRPr lang="en-US" sz="1450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4427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95695"/>
            <a:ext cx="11739801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for Predictive Intelligence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63798" y="1726525"/>
            <a:ext cx="12902803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Leveraging machine learning, our system moves beyond reactive adjustments to proactive optimization. This intelligence drives better energy management.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2784515"/>
            <a:ext cx="416361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ML's Role in Solar Optimization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63798" y="3741658"/>
            <a:ext cx="4163616" cy="362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Energy Prediction: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Our models forecast future energy output based on current conditions and historical patterns.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Analyzes Historical Data: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Continuously learns from past performance and environmental data to refine its predictions.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Decision Making: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Provides insights that allow for smarter panel adjustments and energy distribution strategies.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20" y="3340775"/>
            <a:ext cx="7291149" cy="333684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30395" y="4173895"/>
            <a:ext cx="468777" cy="4687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12744" y="5777405"/>
            <a:ext cx="1368828" cy="47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Prediction Output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4232" y="4174774"/>
            <a:ext cx="468777" cy="4687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87645" y="5777405"/>
            <a:ext cx="1368829" cy="47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Training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8508" y="4174774"/>
            <a:ext cx="468777" cy="4687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71922" y="5905001"/>
            <a:ext cx="1368828" cy="47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Preprocessing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3409" y="4174774"/>
            <a:ext cx="468777" cy="46877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18696" y="5897237"/>
            <a:ext cx="1368829" cy="23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Input</a:t>
            </a:r>
            <a:endParaRPr lang="en-US" sz="15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16315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204" y="1413867"/>
            <a:ext cx="10579537" cy="55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Regression: Predicting Power Output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80204" y="2195513"/>
            <a:ext cx="1326999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Regression, a robust statistical model, is employed to accurately predict solar power generation. Its simplicity and effectiveness make it ideal for this application.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0614" y="3496982"/>
            <a:ext cx="6397943" cy="3958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dirty="0"/>
              <a:t>ML-Based Power Prediction Model</a:t>
            </a:r>
          </a:p>
          <a:p>
            <a:r>
              <a:rPr lang="en-IN" dirty="0"/>
              <a:t>Model uses multiple input 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Sun angle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Panel angle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Cloud cover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Analyse relationships between environmental and system variables.</a:t>
            </a:r>
          </a:p>
          <a:p>
            <a:r>
              <a:rPr lang="en-IN" dirty="0"/>
              <a:t>Estimates expected solar power output accurately.</a:t>
            </a:r>
          </a:p>
          <a:p>
            <a:r>
              <a:rPr lang="en-IN" dirty="0"/>
              <a:t>Provides reliable energy production forecasts.</a:t>
            </a:r>
          </a:p>
          <a:p>
            <a:r>
              <a:rPr lang="en-IN" dirty="0"/>
              <a:t>Helps optimize panel positioning and system performance.</a:t>
            </a:r>
          </a:p>
          <a:p>
            <a:pPr marL="0" indent="0">
              <a:lnSpc>
                <a:spcPts val="205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82" y="3143705"/>
            <a:ext cx="7986631" cy="43716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63576" y="3589242"/>
            <a:ext cx="2132674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0026" y="3696885"/>
            <a:ext cx="215286" cy="2152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15581" y="3807911"/>
            <a:ext cx="1403181" cy="33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6 AM 2.94%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2552865" y="3976919"/>
            <a:ext cx="27109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1875440" y="4091923"/>
            <a:ext cx="2120810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5670" y="4163816"/>
            <a:ext cx="215286" cy="2152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85962" y="4273469"/>
            <a:ext cx="1403181" cy="33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8 AM 8.82%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2552865" y="4246427"/>
            <a:ext cx="27109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11895907" y="4614304"/>
            <a:ext cx="2132674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6771" y="4768186"/>
            <a:ext cx="215286" cy="2152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50548" y="4814065"/>
            <a:ext cx="1659659" cy="33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10 AM 17.65%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2610637" y="4515934"/>
            <a:ext cx="27108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11886382" y="5177972"/>
            <a:ext cx="2125386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0426" y="5273533"/>
            <a:ext cx="215286" cy="2152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249885" y="5384587"/>
            <a:ext cx="1652074" cy="33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12 PM 26.47%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13169271" y="4363763"/>
            <a:ext cx="450320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12607215" y="4785441"/>
            <a:ext cx="27108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26" name="Shape 19"/>
          <p:cNvSpPr/>
          <p:nvPr/>
        </p:nvSpPr>
        <p:spPr>
          <a:xfrm>
            <a:off x="11934850" y="5694263"/>
            <a:ext cx="2061400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89121" y="5838940"/>
            <a:ext cx="215286" cy="21528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64806" y="5898198"/>
            <a:ext cx="1523980" cy="33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2 PM 23.53%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12997202" y="4908074"/>
            <a:ext cx="450319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30" name="Text 22"/>
          <p:cNvSpPr/>
          <p:nvPr/>
        </p:nvSpPr>
        <p:spPr>
          <a:xfrm>
            <a:off x="12549444" y="5054949"/>
            <a:ext cx="27109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11900289" y="6239946"/>
            <a:ext cx="2132674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2327" y="6347589"/>
            <a:ext cx="215286" cy="21528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283182" y="6439566"/>
            <a:ext cx="1523981" cy="33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4 PM 14.71%</a:t>
            </a:r>
            <a:endParaRPr lang="en-US" sz="2000" dirty="0"/>
          </a:p>
        </p:txBody>
      </p:sp>
      <p:sp>
        <p:nvSpPr>
          <p:cNvPr id="35" name="Text 26"/>
          <p:cNvSpPr/>
          <p:nvPr/>
        </p:nvSpPr>
        <p:spPr>
          <a:xfrm>
            <a:off x="12549444" y="5324456"/>
            <a:ext cx="27109" cy="15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00" dirty="0"/>
          </a:p>
        </p:txBody>
      </p:sp>
      <p:sp>
        <p:nvSpPr>
          <p:cNvPr id="36" name="Shape 27"/>
          <p:cNvSpPr/>
          <p:nvPr/>
        </p:nvSpPr>
        <p:spPr>
          <a:xfrm>
            <a:off x="11904809" y="6756041"/>
            <a:ext cx="2091441" cy="430572"/>
          </a:xfrm>
          <a:prstGeom prst="roundRect">
            <a:avLst>
              <a:gd name="adj" fmla="val 6592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54270" y="6863684"/>
            <a:ext cx="215286" cy="21528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2299404" y="6984235"/>
            <a:ext cx="1395595" cy="33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Calibri" panose="020F0502020204030204" pitchFamily="34" charset="0"/>
                <a:cs typeface="Arial" panose="020B0604020202020204" pitchFamily="34" charset="0"/>
              </a:rPr>
              <a:t>6 PM 5.88%</a:t>
            </a:r>
            <a:endParaRPr lang="en-US" sz="2000" dirty="0"/>
          </a:p>
        </p:txBody>
      </p:sp>
      <p:sp>
        <p:nvSpPr>
          <p:cNvPr id="40" name="Text 30"/>
          <p:cNvSpPr/>
          <p:nvPr/>
        </p:nvSpPr>
        <p:spPr>
          <a:xfrm>
            <a:off x="12549444" y="5593964"/>
            <a:ext cx="27109" cy="15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3D3838"/>
                </a:solidFill>
                <a:latin typeface="a Awal Ramadhan" panose="02000503000000000000" pitchFamily="50" charset="0"/>
                <a:ea typeface="Calibri" panose="020F0502020204030204" pitchFamily="34" charset="0"/>
                <a:cs typeface="Arial" panose="020B0604020202020204" pitchFamily="34" charset="0"/>
              </a:rPr>
              <a:t>·</a:t>
            </a:r>
            <a:endParaRPr lang="en-US" sz="700" dirty="0"/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2965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44968"/>
            <a:ext cx="735853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Intuitive Web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71641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user-friendly web dashboard provides a centralized interface for monitoring and managing the solar tracking system, accessible from any internet-connected device.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734395"/>
            <a:ext cx="12902803" cy="285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Data Visualization: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Instantly view live sensor data, panel angles, and current power output through interactive graphs and charts.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Predicted Output Display: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See forecasts for energy generation, helping users anticipate and plan their energy consumption.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Remote Accessibility: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Access the dashboard securely from a desktop, tablet, or smartphone, enabling monitoring on the go.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Alerts and Notifications: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Receive automated alerts for critical system events or performance anomalies.</a:t>
            </a:r>
            <a:endParaRPr lang="en-US" sz="19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383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63998"/>
            <a:ext cx="7880390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Tangible Results and Benefits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63798" y="3394829"/>
            <a:ext cx="12902803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smart solar tracking system delivers significant improvements in solar energy harvesting and operational visibility.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936325"/>
            <a:ext cx="4167664" cy="1829276"/>
          </a:xfrm>
          <a:prstGeom prst="roundRect">
            <a:avLst>
              <a:gd name="adj" fmla="val 1822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85850" y="4158377"/>
            <a:ext cx="3229451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Improved Solar Tracking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5850" y="4593788"/>
            <a:ext cx="3723561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adjustments based on sun position and weather conditions ensure panels always face the sun.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31368" y="3936325"/>
            <a:ext cx="4167664" cy="1829276"/>
          </a:xfrm>
          <a:prstGeom prst="roundRect">
            <a:avLst>
              <a:gd name="adj" fmla="val 1822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53420" y="4158377"/>
            <a:ext cx="2839641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Higher Power Output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53420" y="4593788"/>
            <a:ext cx="3723561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positioning leads to a substantial increase in daily energy generation, maximizing ROI.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598938" y="3936325"/>
            <a:ext cx="4167664" cy="1829276"/>
          </a:xfrm>
          <a:prstGeom prst="roundRect">
            <a:avLst>
              <a:gd name="adj" fmla="val 1822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20989" y="4158377"/>
            <a:ext cx="281713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Monitoring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0989" y="4593788"/>
            <a:ext cx="3723561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data streaming provides immediate insights into system performance and health.</a:t>
            </a:r>
            <a:endParaRPr lang="en-US" sz="1700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833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79094"/>
            <a:ext cx="10153412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Metrics: Validating Our Model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3798" y="3076932"/>
            <a:ext cx="12902803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ensure the accuracy and reliability of our machine learning model, we rigorously evaluate its performance using industry-standard metrics.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63798" y="3521154"/>
            <a:ext cx="4195643" cy="2429232"/>
          </a:xfrm>
          <a:prstGeom prst="roundRect">
            <a:avLst>
              <a:gd name="adj" fmla="val 451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0938" y="3521154"/>
            <a:ext cx="91440" cy="2429232"/>
          </a:xfrm>
          <a:prstGeom prst="roundRect">
            <a:avLst>
              <a:gd name="adj" fmla="val 32393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152644" y="3741420"/>
            <a:ext cx="316742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Mean Absolute Error (MAE)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52644" y="4116705"/>
            <a:ext cx="3686532" cy="106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Measures the average magnitude of the errors in a set of predictions, without considering their direction. A lower MAE indicates higher accuracy.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17319" y="3521154"/>
            <a:ext cx="4195643" cy="2429232"/>
          </a:xfrm>
          <a:prstGeom prst="roundRect">
            <a:avLst>
              <a:gd name="adj" fmla="val 451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94459" y="3521154"/>
            <a:ext cx="91440" cy="2429232"/>
          </a:xfrm>
          <a:prstGeom prst="roundRect">
            <a:avLst>
              <a:gd name="adj" fmla="val 32393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5506164" y="3741420"/>
            <a:ext cx="3686532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Root Mean Squared Error (RMSE)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06164" y="4397216"/>
            <a:ext cx="3686532" cy="106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Quantifies the square root of the average of the squared errors, giving more weight to larger errors. It's particularly useful for model comparison.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570839" y="3521154"/>
            <a:ext cx="4195643" cy="2429232"/>
          </a:xfrm>
          <a:prstGeom prst="roundRect">
            <a:avLst>
              <a:gd name="adj" fmla="val 451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47979" y="3521154"/>
            <a:ext cx="91440" cy="2429232"/>
          </a:xfrm>
          <a:prstGeom prst="roundRect">
            <a:avLst>
              <a:gd name="adj" fmla="val 32393"/>
            </a:avLst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9859685" y="3741420"/>
            <a:ext cx="3686532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R² Score (Coefficient of Determination)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859685" y="4397216"/>
            <a:ext cx="3686532" cy="133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Represents the proportion of the variance in the dependent variable that is predictable from the independent variables. An R² close to 1 indicates a model that explains a large portion of the variance.</a:t>
            </a:r>
            <a:endParaRPr lang="en-US" sz="1550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87300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33826"/>
            <a:ext cx="6804898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Advantages of Our System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63798" y="2767965"/>
            <a:ext cx="129028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smart solar tracking solution offers a compelling set of advantages, setting a new standard for solar energy efficiency and management.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798" y="3166943"/>
            <a:ext cx="370165" cy="370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798" y="3710583"/>
            <a:ext cx="2115979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Automated System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63798" y="4056698"/>
            <a:ext cx="63646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the need for manual adjustments, reducing operational overhead.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1877" y="3166943"/>
            <a:ext cx="370165" cy="370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1877" y="3710583"/>
            <a:ext cx="220337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Improved Efficiency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01877" y="4056698"/>
            <a:ext cx="63647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Maximizes solar energy capture, leading to higher power generation throughout the day.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798" y="4820126"/>
            <a:ext cx="370165" cy="3701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3798" y="5363766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Prediction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63798" y="5709880"/>
            <a:ext cx="636460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valuable insights into future energy output for better planning and resource allocation.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1877" y="4820126"/>
            <a:ext cx="370165" cy="3701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1877" y="5363766"/>
            <a:ext cx="2537579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Reduced Manual Effort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01877" y="5709880"/>
            <a:ext cx="636472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Frees up time and resources, allowing for focus on other critical tasks.</a:t>
            </a:r>
            <a:endParaRPr lang="en-US" sz="1450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15005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76532"/>
            <a:ext cx="7102912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&amp; Future Scope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63798" y="2707362"/>
            <a:ext cx="12902803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smart solar tracking system represents a significant step forward in renewable energy technology, combining efficient tracking with reliable prediction.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3765352"/>
            <a:ext cx="3574852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Achievements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63798" y="4343876"/>
            <a:ext cx="6180415" cy="1722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Achieves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solar tracking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through dynamic panel adjustments.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reliable prediction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energy output using machine learning.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Offers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monitoring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via an intuitive web dashboard.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93806" y="3765352"/>
            <a:ext cx="3541157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7593806" y="4343876"/>
            <a:ext cx="6180415" cy="20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with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storage solutions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long-term data archival and advanced analytics.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Development of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 application support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enhanced accessibility and control.</a:t>
            </a:r>
            <a:endParaRPr lang="en-US" sz="17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Exploration of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learning algorithms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further refine predictive accuracy.</a:t>
            </a:r>
            <a:endParaRPr lang="en-US" sz="17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8384" y="7443788"/>
            <a:ext cx="2276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986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4388</Words>
  <Application>Microsoft Office PowerPoint</Application>
  <PresentationFormat>Custom</PresentationFormat>
  <Paragraphs>615</Paragraphs>
  <Slides>56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Calibri Light</vt:lpstr>
      <vt:lpstr>Source Sans 3</vt:lpstr>
      <vt:lpstr>Montserrat</vt:lpstr>
      <vt:lpstr>Montserrat Bold</vt:lpstr>
      <vt:lpstr>Montserrat Medium</vt:lpstr>
      <vt:lpstr>Tomorrow</vt:lpstr>
      <vt:lpstr>Aptos Display</vt:lpstr>
      <vt:lpstr>Arial</vt:lpstr>
      <vt:lpstr>Montserrat Light</vt:lpstr>
      <vt:lpstr>a Awal Ramadhan</vt:lpstr>
      <vt:lpstr>Consolas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lastModifiedBy>sharkesh j</cp:lastModifiedBy>
  <cp:revision>34</cp:revision>
  <dcterms:created xsi:type="dcterms:W3CDTF">2026-01-28T15:41:25Z</dcterms:created>
  <dcterms:modified xsi:type="dcterms:W3CDTF">2026-04-19T15:01:06Z</dcterms:modified>
</cp:coreProperties>
</file>