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7" r:id="rId1"/>
  </p:sldMasterIdLst>
  <p:sldIdLst>
    <p:sldId id="256" r:id="rId2"/>
    <p:sldId id="258" r:id="rId3"/>
    <p:sldId id="267" r:id="rId4"/>
    <p:sldId id="268" r:id="rId5"/>
    <p:sldId id="269" r:id="rId6"/>
    <p:sldId id="270" r:id="rId7"/>
    <p:sldId id="271" r:id="rId8"/>
    <p:sldId id="287" r:id="rId9"/>
    <p:sldId id="273" r:id="rId10"/>
    <p:sldId id="274" r:id="rId11"/>
    <p:sldId id="279" r:id="rId12"/>
    <p:sldId id="284" r:id="rId13"/>
    <p:sldId id="285" r:id="rId14"/>
    <p:sldId id="286" r:id="rId15"/>
    <p:sldId id="275" r:id="rId16"/>
    <p:sldId id="276" r:id="rId17"/>
    <p:sldId id="280" r:id="rId18"/>
    <p:sldId id="277" r:id="rId19"/>
    <p:sldId id="278" r:id="rId20"/>
    <p:sldId id="26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EB926E2-0B4D-4F47-BA08-015AFACADDA1}">
          <p14:sldIdLst>
            <p14:sldId id="256"/>
            <p14:sldId id="258"/>
            <p14:sldId id="267"/>
            <p14:sldId id="268"/>
            <p14:sldId id="269"/>
            <p14:sldId id="270"/>
            <p14:sldId id="271"/>
            <p14:sldId id="287"/>
            <p14:sldId id="273"/>
            <p14:sldId id="274"/>
            <p14:sldId id="279"/>
            <p14:sldId id="284"/>
            <p14:sldId id="285"/>
            <p14:sldId id="286"/>
            <p14:sldId id="275"/>
            <p14:sldId id="276"/>
            <p14:sldId id="280"/>
            <p14:sldId id="277"/>
            <p14:sldId id="278"/>
            <p14:sldId id="266"/>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36" autoAdjust="0"/>
    <p:restoredTop sz="89273" autoAdjust="0"/>
  </p:normalViewPr>
  <p:slideViewPr>
    <p:cSldViewPr snapToGrid="0">
      <p:cViewPr>
        <p:scale>
          <a:sx n="100" d="100"/>
          <a:sy n="100" d="100"/>
        </p:scale>
        <p:origin x="-1068" y="-3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2"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6"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869A25F4-676D-4B86-A700-22B153E6368B}" type="datetimeFigureOut">
              <a:rPr lang="en-IN" smtClean="0"/>
              <a:t>21-04-2026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566FB00-B461-47A9-87E8-9B9CBBF237BF}" type="slidenum">
              <a:rPr lang="en-IN" smtClean="0"/>
              <a:t>‹#›</a:t>
            </a:fld>
            <a:endParaRPr lang="en-IN"/>
          </a:p>
        </p:txBody>
      </p:sp>
    </p:spTree>
    <p:extLst>
      <p:ext uri="{BB962C8B-B14F-4D97-AF65-F5344CB8AC3E}">
        <p14:creationId xmlns:p14="http://schemas.microsoft.com/office/powerpoint/2010/main" val="3525853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9A25F4-676D-4B86-A700-22B153E6368B}" type="datetimeFigureOut">
              <a:rPr lang="en-IN" smtClean="0"/>
              <a:t>21-04-2026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566FB00-B461-47A9-87E8-9B9CBBF237BF}" type="slidenum">
              <a:rPr lang="en-IN" smtClean="0"/>
              <a:t>‹#›</a:t>
            </a:fld>
            <a:endParaRPr lang="en-IN"/>
          </a:p>
        </p:txBody>
      </p:sp>
    </p:spTree>
    <p:extLst>
      <p:ext uri="{BB962C8B-B14F-4D97-AF65-F5344CB8AC3E}">
        <p14:creationId xmlns:p14="http://schemas.microsoft.com/office/powerpoint/2010/main" val="4056414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2"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6"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869A25F4-676D-4B86-A700-22B153E6368B}" type="datetimeFigureOut">
              <a:rPr lang="en-IN" smtClean="0"/>
              <a:t>21-04-2026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566FB00-B461-47A9-87E8-9B9CBBF237BF}" type="slidenum">
              <a:rPr lang="en-IN" smtClean="0"/>
              <a:t>‹#›</a:t>
            </a:fld>
            <a:endParaRPr lang="en-IN"/>
          </a:p>
        </p:txBody>
      </p:sp>
    </p:spTree>
    <p:extLst>
      <p:ext uri="{BB962C8B-B14F-4D97-AF65-F5344CB8AC3E}">
        <p14:creationId xmlns:p14="http://schemas.microsoft.com/office/powerpoint/2010/main" val="3941619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4"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869A25F4-676D-4B86-A700-22B153E6368B}" type="datetimeFigureOut">
              <a:rPr lang="en-IN" smtClean="0"/>
              <a:t>21-04-2026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7566FB00-B461-47A9-87E8-9B9CBBF237BF}" type="slidenum">
              <a:rPr lang="en-IN" smtClean="0"/>
              <a:t>‹#›</a:t>
            </a:fld>
            <a:endParaRPr lang="en-IN"/>
          </a:p>
        </p:txBody>
      </p:sp>
    </p:spTree>
    <p:extLst>
      <p:ext uri="{BB962C8B-B14F-4D97-AF65-F5344CB8AC3E}">
        <p14:creationId xmlns:p14="http://schemas.microsoft.com/office/powerpoint/2010/main" val="645286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7" y="2313434"/>
            <a:ext cx="4270249"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7" y="3143250"/>
            <a:ext cx="4270249"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8"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7" y="2313434"/>
            <a:ext cx="4270249"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869A25F4-676D-4B86-A700-22B153E6368B}" type="datetimeFigureOut">
              <a:rPr lang="en-IN" smtClean="0"/>
              <a:t>21-04-2026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566FB00-B461-47A9-87E8-9B9CBBF237BF}"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400249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9A25F4-676D-4B86-A700-22B153E6368B}" type="datetimeFigureOut">
              <a:rPr lang="en-IN" smtClean="0"/>
              <a:t>21-04-2026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566FB00-B461-47A9-87E8-9B9CBBF237BF}" type="slidenum">
              <a:rPr lang="en-IN" smtClean="0"/>
              <a:t>‹#›</a:t>
            </a:fld>
            <a:endParaRPr lang="en-IN"/>
          </a:p>
        </p:txBody>
      </p:sp>
    </p:spTree>
    <p:extLst>
      <p:ext uri="{BB962C8B-B14F-4D97-AF65-F5344CB8AC3E}">
        <p14:creationId xmlns:p14="http://schemas.microsoft.com/office/powerpoint/2010/main" val="1325964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9A25F4-676D-4B86-A700-22B153E6368B}" type="datetimeFigureOut">
              <a:rPr lang="en-IN" smtClean="0"/>
              <a:t>21-04-2026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566FB00-B461-47A9-87E8-9B9CBBF237BF}" type="slidenum">
              <a:rPr lang="en-IN" smtClean="0"/>
              <a:t>‹#›</a:t>
            </a:fld>
            <a:endParaRPr lang="en-IN"/>
          </a:p>
        </p:txBody>
      </p:sp>
    </p:spTree>
    <p:extLst>
      <p:ext uri="{BB962C8B-B14F-4D97-AF65-F5344CB8AC3E}">
        <p14:creationId xmlns:p14="http://schemas.microsoft.com/office/powerpoint/2010/main" val="431380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2"/>
      </p:bgRef>
    </p:bg>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9" y="3549918"/>
            <a:ext cx="3794761"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869A25F4-676D-4B86-A700-22B153E6368B}" type="datetimeFigureOut">
              <a:rPr lang="en-IN" smtClean="0"/>
              <a:t>21-04-2026</a:t>
            </a:fld>
            <a:endParaRPr lang="en-IN"/>
          </a:p>
        </p:txBody>
      </p:sp>
      <p:sp>
        <p:nvSpPr>
          <p:cNvPr id="10" name="Footer Placeholder 9"/>
          <p:cNvSpPr>
            <a:spLocks noGrp="1"/>
          </p:cNvSpPr>
          <p:nvPr>
            <p:ph type="ftr" sz="quarter" idx="11"/>
          </p:nvPr>
        </p:nvSpPr>
        <p:spPr>
          <a:xfrm>
            <a:off x="804672" y="6236208"/>
            <a:ext cx="5124796"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7566FB00-B461-47A9-87E8-9B9CBBF237BF}" type="slidenum">
              <a:rPr lang="en-IN" smtClean="0"/>
              <a:t>‹#›</a:t>
            </a:fld>
            <a:endParaRPr lang="en-IN"/>
          </a:p>
        </p:txBody>
      </p:sp>
    </p:spTree>
    <p:extLst>
      <p:ext uri="{BB962C8B-B14F-4D97-AF65-F5344CB8AC3E}">
        <p14:creationId xmlns:p14="http://schemas.microsoft.com/office/powerpoint/2010/main" val="3631268985"/>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18" name="Rectangle 17"/>
          <p:cNvSpPr/>
          <p:nvPr/>
        </p:nvSpPr>
        <p:spPr>
          <a:xfrm>
            <a:off x="3" y="0"/>
            <a:ext cx="6095998"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7"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6000" y="0"/>
            <a:ext cx="6102098" cy="6858000"/>
          </a:xfrm>
          <a:solidFill>
            <a:schemeClr val="tx1">
              <a:lumMod val="8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9" y="3549918"/>
            <a:ext cx="3794761"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869A25F4-676D-4B86-A700-22B153E6368B}" type="datetimeFigureOut">
              <a:rPr lang="en-IN" smtClean="0"/>
              <a:t>21-04-2026</a:t>
            </a:fld>
            <a:endParaRPr lang="en-IN"/>
          </a:p>
        </p:txBody>
      </p:sp>
      <p:sp>
        <p:nvSpPr>
          <p:cNvPr id="9" name="Footer Placeholder 8"/>
          <p:cNvSpPr>
            <a:spLocks noGrp="1"/>
          </p:cNvSpPr>
          <p:nvPr>
            <p:ph type="ftr" sz="quarter" idx="11"/>
          </p:nvPr>
        </p:nvSpPr>
        <p:spPr>
          <a:xfrm>
            <a:off x="804672" y="6236208"/>
            <a:ext cx="5124796"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7566FB00-B461-47A9-87E8-9B9CBBF237BF}" type="slidenum">
              <a:rPr lang="en-IN" smtClean="0"/>
              <a:t>‹#›</a:t>
            </a:fld>
            <a:endParaRPr lang="en-IN"/>
          </a:p>
        </p:txBody>
      </p:sp>
    </p:spTree>
    <p:extLst>
      <p:ext uri="{BB962C8B-B14F-4D97-AF65-F5344CB8AC3E}">
        <p14:creationId xmlns:p14="http://schemas.microsoft.com/office/powerpoint/2010/main" val="262537121"/>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9A25F4-676D-4B86-A700-22B153E6368B}"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66FB00-B461-47A9-87E8-9B9CBBF237BF}" type="slidenum">
              <a:rPr lang="en-IN" smtClean="0"/>
              <a:t>‹#›</a:t>
            </a:fld>
            <a:endParaRPr lang="en-IN"/>
          </a:p>
        </p:txBody>
      </p:sp>
    </p:spTree>
    <p:extLst>
      <p:ext uri="{BB962C8B-B14F-4D97-AF65-F5344CB8AC3E}">
        <p14:creationId xmlns:p14="http://schemas.microsoft.com/office/powerpoint/2010/main" val="3969305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4"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9A25F4-676D-4B86-A700-22B153E6368B}"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66FB00-B461-47A9-87E8-9B9CBBF237BF}" type="slidenum">
              <a:rPr lang="en-IN" smtClean="0"/>
              <a:t>‹#›</a:t>
            </a:fld>
            <a:endParaRPr lang="en-IN"/>
          </a:p>
        </p:txBody>
      </p:sp>
    </p:spTree>
    <p:extLst>
      <p:ext uri="{BB962C8B-B14F-4D97-AF65-F5344CB8AC3E}">
        <p14:creationId xmlns:p14="http://schemas.microsoft.com/office/powerpoint/2010/main" val="4092960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2449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chemeClr val="bg2">
              <a:lumMod val="60000"/>
              <a:lumOff val="40000"/>
              <a:alpha val="15000"/>
            </a:schemeClr>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7"/>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869A25F4-676D-4B86-A700-22B153E6368B}" type="datetimeFigureOut">
              <a:rPr lang="en-IN" smtClean="0"/>
              <a:t>21-04-2026</a:t>
            </a:fld>
            <a:endParaRPr lang="en-IN"/>
          </a:p>
        </p:txBody>
      </p:sp>
      <p:sp>
        <p:nvSpPr>
          <p:cNvPr id="5" name="Footer Placeholder 4"/>
          <p:cNvSpPr>
            <a:spLocks noGrp="1"/>
          </p:cNvSpPr>
          <p:nvPr>
            <p:ph type="ftr" sz="quarter" idx="3"/>
          </p:nvPr>
        </p:nvSpPr>
        <p:spPr>
          <a:xfrm>
            <a:off x="1600202"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3"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7566FB00-B461-47A9-87E8-9B9CBBF237BF}" type="slidenum">
              <a:rPr lang="en-IN" smtClean="0"/>
              <a:t>‹#›</a:t>
            </a:fld>
            <a:endParaRPr lang="en-IN"/>
          </a:p>
        </p:txBody>
      </p:sp>
    </p:spTree>
    <p:extLst>
      <p:ext uri="{BB962C8B-B14F-4D97-AF65-F5344CB8AC3E}">
        <p14:creationId xmlns:p14="http://schemas.microsoft.com/office/powerpoint/2010/main" val="4201429313"/>
      </p:ext>
    </p:extLst>
  </p:cSld>
  <p:clrMap bg1="dk1" tx1="lt1" bg2="dk2" tx2="lt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 id="2147483869" r:id="rId12"/>
  </p:sldLayoutIdLst>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clipboard/media/image2.sv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clipboard/media/image5.svg"/><Relationship Id="rId5" Type="http://schemas.openxmlformats.org/officeDocument/2006/relationships/image" Target="../../clipboard/media/image4.svg"/><Relationship Id="rId4" Type="http://schemas.openxmlformats.org/officeDocument/2006/relationships/image" Target="../../clipboard/media/image3.sv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AB8F69-9B16-7082-2C54-B38F03DE948C}"/>
              </a:ext>
            </a:extLst>
          </p:cNvPr>
          <p:cNvSpPr>
            <a:spLocks noGrp="1"/>
          </p:cNvSpPr>
          <p:nvPr>
            <p:ph type="ctrTitle"/>
          </p:nvPr>
        </p:nvSpPr>
        <p:spPr>
          <a:xfrm>
            <a:off x="358347" y="1320189"/>
            <a:ext cx="11615861" cy="1205252"/>
          </a:xfrm>
        </p:spPr>
        <p:txBody>
          <a:bodyPr>
            <a:normAutofit fontScale="90000"/>
          </a:bodyPr>
          <a:lstStyle/>
          <a:p>
            <a:pPr>
              <a:lnSpc>
                <a:spcPct val="150000"/>
              </a:lnSpc>
              <a:spcAft>
                <a:spcPts val="800"/>
              </a:spcAft>
              <a:tabLst>
                <a:tab pos="568960" algn="l"/>
                <a:tab pos="2865755" algn="ctr"/>
              </a:tabLst>
            </a:pPr>
            <a:r>
              <a:rPr lang="en-US" sz="2400" b="1" spc="300" dirty="0" smtClean="0">
                <a:solidFill>
                  <a:srgbClr val="000000"/>
                </a:solidFill>
                <a:latin typeface="Montserrat Bold" pitchFamily="34" charset="0"/>
                <a:ea typeface="Montserrat Bold" pitchFamily="34" charset="-122"/>
                <a:cs typeface="Montserrat Bold" pitchFamily="34" charset="-120"/>
              </a:rPr>
              <a:t/>
            </a:r>
            <a:br>
              <a:rPr lang="en-US" sz="2400" b="1" spc="300" dirty="0" smtClean="0">
                <a:solidFill>
                  <a:srgbClr val="000000"/>
                </a:solidFill>
                <a:latin typeface="Montserrat Bold" pitchFamily="34" charset="0"/>
                <a:ea typeface="Montserrat Bold" pitchFamily="34" charset="-122"/>
                <a:cs typeface="Montserrat Bold" pitchFamily="34" charset="-120"/>
              </a:rPr>
            </a:br>
            <a:r>
              <a:rPr lang="en-US" sz="2400" b="1" spc="300" dirty="0" smtClean="0">
                <a:solidFill>
                  <a:srgbClr val="000000"/>
                </a:solidFill>
                <a:latin typeface="Montserrat Bold" pitchFamily="34" charset="0"/>
                <a:ea typeface="Montserrat Bold" pitchFamily="34" charset="-122"/>
                <a:cs typeface="Montserrat Bold" pitchFamily="34" charset="-120"/>
              </a:rPr>
              <a:t>IOT-BASED </a:t>
            </a:r>
            <a:r>
              <a:rPr lang="en-US" sz="2400" b="1" spc="300" dirty="0">
                <a:solidFill>
                  <a:srgbClr val="000000"/>
                </a:solidFill>
                <a:latin typeface="Montserrat Bold" pitchFamily="34" charset="0"/>
                <a:ea typeface="Montserrat Bold" pitchFamily="34" charset="-122"/>
                <a:cs typeface="Montserrat Bold" pitchFamily="34" charset="-120"/>
              </a:rPr>
              <a:t>INTELLIGENT SOLAR TRACKING AND ENERGY PREDICTION SYSTEM USING MACHINE LEARNING</a:t>
            </a:r>
            <a:r>
              <a:rPr lang="en-US" sz="2400" spc="300" dirty="0"/>
              <a:t/>
            </a:r>
            <a:br>
              <a:rPr lang="en-US" sz="2400" spc="300" dirty="0"/>
            </a:b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ubtitle 2">
            <a:extLst>
              <a:ext uri="{FF2B5EF4-FFF2-40B4-BE49-F238E27FC236}">
                <a16:creationId xmlns:a16="http://schemas.microsoft.com/office/drawing/2014/main" xmlns="" id="{5CDFED76-AB14-358E-5E4D-559072735AC4}"/>
              </a:ext>
            </a:extLst>
          </p:cNvPr>
          <p:cNvSpPr>
            <a:spLocks noGrp="1"/>
          </p:cNvSpPr>
          <p:nvPr>
            <p:ph type="subTitle" idx="1"/>
          </p:nvPr>
        </p:nvSpPr>
        <p:spPr>
          <a:xfrm>
            <a:off x="358348" y="2590800"/>
            <a:ext cx="3993065" cy="3829252"/>
          </a:xfrm>
        </p:spPr>
        <p:txBody>
          <a:bodyPr>
            <a:noAutofit/>
          </a:bodyPr>
          <a:lstStyle/>
          <a:p>
            <a:pPr algn="just"/>
            <a:r>
              <a:rPr lang="en-US" sz="1600" b="1" dirty="0">
                <a:solidFill>
                  <a:schemeClr val="bg1"/>
                </a:solidFill>
              </a:rPr>
              <a:t>STUDENT </a:t>
            </a:r>
            <a:r>
              <a:rPr lang="en-US" sz="1600" b="1" dirty="0" smtClean="0">
                <a:solidFill>
                  <a:schemeClr val="bg1"/>
                </a:solidFill>
              </a:rPr>
              <a:t>NAME</a:t>
            </a:r>
            <a:r>
              <a:rPr lang="en-US" sz="1600" dirty="0">
                <a:solidFill>
                  <a:schemeClr val="bg1"/>
                </a:solidFill>
              </a:rPr>
              <a:t>:</a:t>
            </a:r>
            <a:endParaRPr lang="en-US" sz="1600" dirty="0" smtClean="0">
              <a:solidFill>
                <a:schemeClr val="bg1"/>
              </a:solidFill>
            </a:endParaRPr>
          </a:p>
          <a:p>
            <a:pPr algn="just">
              <a:lnSpc>
                <a:spcPts val="2350"/>
              </a:lnSpc>
              <a:buSzPct val="100000"/>
            </a:pPr>
            <a:r>
              <a:rPr lang="en-US" sz="1600" dirty="0" smtClean="0">
                <a:solidFill>
                  <a:schemeClr val="bg1"/>
                </a:solidFill>
                <a:latin typeface="Source Sans 3" pitchFamily="34" charset="0"/>
                <a:ea typeface="Source Sans 3" pitchFamily="34" charset="-122"/>
                <a:cs typeface="Source Sans 3" pitchFamily="34" charset="-120"/>
              </a:rPr>
              <a:t>Sharkesh J </a:t>
            </a:r>
            <a:r>
              <a:rPr lang="en-US" sz="1600" dirty="0">
                <a:solidFill>
                  <a:schemeClr val="bg1"/>
                </a:solidFill>
                <a:latin typeface="Source Sans 3" pitchFamily="34" charset="0"/>
                <a:ea typeface="Source Sans 3" pitchFamily="34" charset="-122"/>
                <a:cs typeface="Source Sans 3" pitchFamily="34" charset="-120"/>
              </a:rPr>
              <a:t>– 234031101119</a:t>
            </a:r>
            <a:endParaRPr lang="en-US" sz="1600" dirty="0">
              <a:solidFill>
                <a:schemeClr val="bg1"/>
              </a:solidFill>
            </a:endParaRPr>
          </a:p>
          <a:p>
            <a:pPr algn="just">
              <a:lnSpc>
                <a:spcPts val="2350"/>
              </a:lnSpc>
              <a:buSzPct val="100000"/>
            </a:pPr>
            <a:r>
              <a:rPr lang="en-US" sz="1600" dirty="0">
                <a:solidFill>
                  <a:schemeClr val="bg1"/>
                </a:solidFill>
                <a:latin typeface="Source Sans 3" pitchFamily="34" charset="0"/>
                <a:ea typeface="Source Sans 3" pitchFamily="34" charset="-122"/>
                <a:cs typeface="Source Sans 3" pitchFamily="34" charset="-120"/>
              </a:rPr>
              <a:t>Sheik </a:t>
            </a:r>
            <a:r>
              <a:rPr lang="en-US" sz="1600" dirty="0" smtClean="0">
                <a:solidFill>
                  <a:schemeClr val="bg1"/>
                </a:solidFill>
                <a:latin typeface="Source Sans 3" pitchFamily="34" charset="0"/>
                <a:ea typeface="Source Sans 3" pitchFamily="34" charset="-122"/>
                <a:cs typeface="Source Sans 3" pitchFamily="34" charset="-120"/>
              </a:rPr>
              <a:t>Abdullah J </a:t>
            </a:r>
            <a:r>
              <a:rPr lang="en-US" sz="1600" dirty="0">
                <a:solidFill>
                  <a:schemeClr val="bg1"/>
                </a:solidFill>
                <a:latin typeface="Source Sans 3" pitchFamily="34" charset="0"/>
                <a:ea typeface="Source Sans 3" pitchFamily="34" charset="-122"/>
                <a:cs typeface="Source Sans 3" pitchFamily="34" charset="-120"/>
              </a:rPr>
              <a:t>– 234031101121</a:t>
            </a:r>
            <a:endParaRPr lang="en-US" sz="1600" dirty="0">
              <a:solidFill>
                <a:schemeClr val="bg1"/>
              </a:solidFill>
            </a:endParaRPr>
          </a:p>
          <a:p>
            <a:pPr algn="just">
              <a:lnSpc>
                <a:spcPts val="2350"/>
              </a:lnSpc>
              <a:buSzPct val="100000"/>
            </a:pPr>
            <a:r>
              <a:rPr lang="en-US" sz="1600" dirty="0">
                <a:solidFill>
                  <a:schemeClr val="bg1"/>
                </a:solidFill>
                <a:latin typeface="Source Sans 3" pitchFamily="34" charset="0"/>
                <a:ea typeface="Source Sans 3" pitchFamily="34" charset="-122"/>
                <a:cs typeface="Source Sans 3" pitchFamily="34" charset="-120"/>
              </a:rPr>
              <a:t>Sree Sharan </a:t>
            </a:r>
            <a:r>
              <a:rPr lang="en-US" sz="1600" dirty="0" smtClean="0">
                <a:solidFill>
                  <a:schemeClr val="bg1"/>
                </a:solidFill>
                <a:latin typeface="Source Sans 3" pitchFamily="34" charset="0"/>
                <a:ea typeface="Source Sans 3" pitchFamily="34" charset="-122"/>
                <a:cs typeface="Source Sans 3" pitchFamily="34" charset="-120"/>
              </a:rPr>
              <a:t>K P– </a:t>
            </a:r>
            <a:r>
              <a:rPr lang="en-US" sz="1600" dirty="0">
                <a:solidFill>
                  <a:schemeClr val="bg1"/>
                </a:solidFill>
                <a:latin typeface="Source Sans 3" pitchFamily="34" charset="0"/>
                <a:ea typeface="Source Sans 3" pitchFamily="34" charset="-122"/>
                <a:cs typeface="Source Sans 3" pitchFamily="34" charset="-120"/>
              </a:rPr>
              <a:t>234031101123</a:t>
            </a:r>
            <a:endParaRPr lang="en-US" sz="1600" dirty="0">
              <a:solidFill>
                <a:schemeClr val="bg1"/>
              </a:solidFill>
            </a:endParaRPr>
          </a:p>
          <a:p>
            <a:pPr algn="just">
              <a:lnSpc>
                <a:spcPts val="2350"/>
              </a:lnSpc>
              <a:buSzPct val="100000"/>
            </a:pPr>
            <a:r>
              <a:rPr lang="en-US" sz="1600" dirty="0">
                <a:solidFill>
                  <a:schemeClr val="bg1"/>
                </a:solidFill>
                <a:latin typeface="Source Sans 3" pitchFamily="34" charset="0"/>
                <a:ea typeface="Source Sans 3" pitchFamily="34" charset="-122"/>
                <a:cs typeface="Source Sans 3" pitchFamily="34" charset="-120"/>
              </a:rPr>
              <a:t>Srinath U</a:t>
            </a:r>
            <a:r>
              <a:rPr lang="en-US" sz="1600" dirty="0" smtClean="0">
                <a:solidFill>
                  <a:schemeClr val="bg1"/>
                </a:solidFill>
                <a:latin typeface="Source Sans 3" pitchFamily="34" charset="0"/>
                <a:ea typeface="Source Sans 3" pitchFamily="34" charset="-122"/>
                <a:cs typeface="Source Sans 3" pitchFamily="34" charset="-120"/>
              </a:rPr>
              <a:t>– </a:t>
            </a:r>
            <a:r>
              <a:rPr lang="en-US" sz="1600" dirty="0">
                <a:solidFill>
                  <a:schemeClr val="bg1"/>
                </a:solidFill>
                <a:latin typeface="Source Sans 3" pitchFamily="34" charset="0"/>
                <a:ea typeface="Source Sans 3" pitchFamily="34" charset="-122"/>
                <a:cs typeface="Source Sans 3" pitchFamily="34" charset="-120"/>
              </a:rPr>
              <a:t>234031101124</a:t>
            </a:r>
            <a:endParaRPr lang="en-US" sz="1600" dirty="0">
              <a:solidFill>
                <a:schemeClr val="bg1"/>
              </a:solidFill>
            </a:endParaRPr>
          </a:p>
          <a:p>
            <a:pPr algn="just">
              <a:lnSpc>
                <a:spcPts val="2350"/>
              </a:lnSpc>
              <a:buSzPct val="100000"/>
            </a:pPr>
            <a:r>
              <a:rPr lang="en-US" sz="1600" dirty="0">
                <a:solidFill>
                  <a:schemeClr val="bg1"/>
                </a:solidFill>
                <a:latin typeface="Source Sans 3" pitchFamily="34" charset="0"/>
                <a:ea typeface="Source Sans 3" pitchFamily="34" charset="-122"/>
                <a:cs typeface="Source Sans 3" pitchFamily="34" charset="-120"/>
              </a:rPr>
              <a:t>Sriram </a:t>
            </a:r>
            <a:r>
              <a:rPr lang="en-US" sz="1600" dirty="0" smtClean="0">
                <a:solidFill>
                  <a:schemeClr val="bg1"/>
                </a:solidFill>
                <a:latin typeface="Source Sans 3" pitchFamily="34" charset="0"/>
                <a:ea typeface="Source Sans 3" pitchFamily="34" charset="-122"/>
                <a:cs typeface="Source Sans 3" pitchFamily="34" charset="-120"/>
              </a:rPr>
              <a:t>T– </a:t>
            </a:r>
            <a:r>
              <a:rPr lang="en-US" sz="1600" dirty="0">
                <a:solidFill>
                  <a:schemeClr val="bg1"/>
                </a:solidFill>
                <a:latin typeface="Source Sans 3" pitchFamily="34" charset="0"/>
                <a:ea typeface="Source Sans 3" pitchFamily="34" charset="-122"/>
                <a:cs typeface="Source Sans 3" pitchFamily="34" charset="-120"/>
              </a:rPr>
              <a:t>234031101125</a:t>
            </a:r>
            <a:endParaRPr lang="en-IN" sz="1600" dirty="0">
              <a:solidFill>
                <a:schemeClr val="bg1"/>
              </a:solidFill>
            </a:endParaRPr>
          </a:p>
          <a:p>
            <a:pPr algn="l"/>
            <a:endParaRPr lang="en-US" sz="1600" dirty="0">
              <a:solidFill>
                <a:schemeClr val="bg1"/>
              </a:solidFill>
            </a:endParaRPr>
          </a:p>
          <a:p>
            <a:pPr algn="l"/>
            <a:r>
              <a:rPr lang="en-US" sz="1600" dirty="0">
                <a:solidFill>
                  <a:schemeClr val="bg1"/>
                </a:solidFill>
              </a:rPr>
              <a:t>CLASS AND SECTION</a:t>
            </a:r>
          </a:p>
          <a:p>
            <a:pPr algn="l"/>
            <a:r>
              <a:rPr lang="en-US" sz="1600" dirty="0">
                <a:solidFill>
                  <a:schemeClr val="bg1"/>
                </a:solidFill>
              </a:rPr>
              <a:t>Department of Computer Applications</a:t>
            </a:r>
          </a:p>
          <a:p>
            <a:pPr algn="l"/>
            <a:r>
              <a:rPr lang="en-US" sz="1600" dirty="0" smtClean="0">
                <a:solidFill>
                  <a:schemeClr val="bg1"/>
                </a:solidFill>
              </a:rPr>
              <a:t>Dr. M.G.R</a:t>
            </a:r>
            <a:r>
              <a:rPr lang="en-US" sz="1600" dirty="0">
                <a:solidFill>
                  <a:schemeClr val="bg1"/>
                </a:solidFill>
              </a:rPr>
              <a:t>. Educational and Research Institute,</a:t>
            </a:r>
          </a:p>
          <a:p>
            <a:endParaRPr lang="en-US" sz="2400" dirty="0">
              <a:solidFill>
                <a:schemeClr val="bg1"/>
              </a:solidFill>
            </a:endParaRPr>
          </a:p>
          <a:p>
            <a:endParaRPr lang="en-IN" sz="2400" dirty="0">
              <a:solidFill>
                <a:schemeClr val="bg1"/>
              </a:solidFill>
            </a:endParaRPr>
          </a:p>
        </p:txBody>
      </p:sp>
      <p:pic>
        <p:nvPicPr>
          <p:cNvPr id="4" name="Picture 3">
            <a:extLst>
              <a:ext uri="{FF2B5EF4-FFF2-40B4-BE49-F238E27FC236}">
                <a16:creationId xmlns:a16="http://schemas.microsoft.com/office/drawing/2014/main" xmlns="" id="{EE165ED1-10AB-A1D9-370D-FF9DD8EB87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740"/>
            <a:ext cx="12192000" cy="1302833"/>
          </a:xfrm>
          <a:prstGeom prst="rect">
            <a:avLst/>
          </a:prstGeom>
        </p:spPr>
      </p:pic>
      <p:sp>
        <p:nvSpPr>
          <p:cNvPr id="8" name="Rectangle 7">
            <a:extLst>
              <a:ext uri="{FF2B5EF4-FFF2-40B4-BE49-F238E27FC236}">
                <a16:creationId xmlns:a16="http://schemas.microsoft.com/office/drawing/2014/main" xmlns="" id="{6B111B15-C98A-D897-BE2B-C542CE719CF5}"/>
              </a:ext>
            </a:extLst>
          </p:cNvPr>
          <p:cNvSpPr/>
          <p:nvPr/>
        </p:nvSpPr>
        <p:spPr>
          <a:xfrm>
            <a:off x="3998882" y="2886937"/>
            <a:ext cx="3662005" cy="151844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PROJECT VIVA VOCE</a:t>
            </a:r>
          </a:p>
          <a:p>
            <a:pPr algn="ctr"/>
            <a:endParaRPr lang="en-US" b="1" dirty="0"/>
          </a:p>
          <a:p>
            <a:pPr algn="ctr"/>
            <a:r>
              <a:rPr lang="en-US" b="1" dirty="0"/>
              <a:t>Date: </a:t>
            </a:r>
            <a:r>
              <a:rPr lang="en-US" b="1" dirty="0" smtClean="0"/>
              <a:t>09.04.2026</a:t>
            </a:r>
            <a:endParaRPr lang="en-IN" b="1" dirty="0"/>
          </a:p>
        </p:txBody>
      </p:sp>
      <p:sp>
        <p:nvSpPr>
          <p:cNvPr id="5" name="Subtitle 2">
            <a:extLst>
              <a:ext uri="{FF2B5EF4-FFF2-40B4-BE49-F238E27FC236}">
                <a16:creationId xmlns:a16="http://schemas.microsoft.com/office/drawing/2014/main" xmlns="" id="{049CBC20-A677-D699-4614-297CC5D27780}"/>
              </a:ext>
            </a:extLst>
          </p:cNvPr>
          <p:cNvSpPr txBox="1">
            <a:spLocks/>
          </p:cNvSpPr>
          <p:nvPr/>
        </p:nvSpPr>
        <p:spPr>
          <a:xfrm>
            <a:off x="4351411" y="5266726"/>
            <a:ext cx="3821449" cy="1563085"/>
          </a:xfrm>
          <a:prstGeom prst="rect">
            <a:avLst/>
          </a:prstGeom>
          <a:noFill/>
        </p:spPr>
        <p:txBody>
          <a:bodyPr vert="horz" lIns="91440" tIns="45720" rIns="91440" bIns="45720" rtlCol="0">
            <a:normAutofit fontScale="55000" lnSpcReduction="2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l"/>
            <a:r>
              <a:rPr lang="en-US" sz="3500" b="1" dirty="0">
                <a:solidFill>
                  <a:schemeClr val="bg1"/>
                </a:solidFill>
              </a:rPr>
              <a:t>REVIEWER </a:t>
            </a:r>
            <a:r>
              <a:rPr lang="en-US" sz="3500" b="1" dirty="0" smtClean="0">
                <a:solidFill>
                  <a:schemeClr val="bg1"/>
                </a:solidFill>
              </a:rPr>
              <a:t>NAME: Dr. C. Priya</a:t>
            </a:r>
            <a:endParaRPr lang="en-US" sz="2500" dirty="0">
              <a:solidFill>
                <a:schemeClr val="bg1"/>
              </a:solidFill>
            </a:endParaRPr>
          </a:p>
          <a:p>
            <a:pPr algn="l"/>
            <a:r>
              <a:rPr lang="en-US" sz="2800" dirty="0" smtClean="0">
                <a:solidFill>
                  <a:schemeClr val="bg1"/>
                </a:solidFill>
              </a:rPr>
              <a:t>Professor</a:t>
            </a:r>
            <a:endParaRPr lang="en-US" sz="2800" dirty="0">
              <a:solidFill>
                <a:schemeClr val="bg1"/>
              </a:solidFill>
            </a:endParaRPr>
          </a:p>
          <a:p>
            <a:pPr algn="l"/>
            <a:r>
              <a:rPr lang="en-US" sz="2800" dirty="0">
                <a:solidFill>
                  <a:schemeClr val="bg1"/>
                </a:solidFill>
              </a:rPr>
              <a:t>Department of Computer Applications</a:t>
            </a:r>
          </a:p>
          <a:p>
            <a:pPr algn="l"/>
            <a:r>
              <a:rPr lang="en-US" sz="2800" dirty="0">
                <a:solidFill>
                  <a:schemeClr val="bg1"/>
                </a:solidFill>
              </a:rPr>
              <a:t>Dr</a:t>
            </a:r>
            <a:r>
              <a:rPr lang="en-US" sz="2800" dirty="0" smtClean="0">
                <a:solidFill>
                  <a:schemeClr val="bg1"/>
                </a:solidFill>
              </a:rPr>
              <a:t>. M.G.R</a:t>
            </a:r>
            <a:r>
              <a:rPr lang="en-US" sz="2800" dirty="0">
                <a:solidFill>
                  <a:schemeClr val="bg1"/>
                </a:solidFill>
              </a:rPr>
              <a:t>. Educational and Research Institute,</a:t>
            </a:r>
          </a:p>
          <a:p>
            <a:endParaRPr lang="en-US" sz="2500" dirty="0">
              <a:solidFill>
                <a:schemeClr val="bg1"/>
              </a:solidFill>
            </a:endParaRPr>
          </a:p>
          <a:p>
            <a:endParaRPr lang="en-IN" sz="2500" dirty="0">
              <a:solidFill>
                <a:schemeClr val="bg1"/>
              </a:solidFill>
            </a:endParaRPr>
          </a:p>
        </p:txBody>
      </p:sp>
      <p:sp>
        <p:nvSpPr>
          <p:cNvPr id="9" name="Subtitle 2">
            <a:extLst>
              <a:ext uri="{FF2B5EF4-FFF2-40B4-BE49-F238E27FC236}">
                <a16:creationId xmlns:a16="http://schemas.microsoft.com/office/drawing/2014/main" xmlns="" id="{53CD290C-2FB4-7707-5219-BBF116E207FF}"/>
              </a:ext>
            </a:extLst>
          </p:cNvPr>
          <p:cNvSpPr txBox="1">
            <a:spLocks/>
          </p:cNvSpPr>
          <p:nvPr/>
        </p:nvSpPr>
        <p:spPr>
          <a:xfrm>
            <a:off x="8152760" y="5310817"/>
            <a:ext cx="3821449" cy="1563085"/>
          </a:xfrm>
          <a:prstGeom prst="rect">
            <a:avLst/>
          </a:prstGeom>
          <a:noFill/>
        </p:spPr>
        <p:txBody>
          <a:bodyPr vert="horz" lIns="91440" tIns="45720" rIns="91440" bIns="45720" rtlCol="0">
            <a:normAutofit fontScale="55000" lnSpcReduction="2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l"/>
            <a:r>
              <a:rPr lang="en-US" sz="3500" b="1" dirty="0">
                <a:solidFill>
                  <a:schemeClr val="bg1"/>
                </a:solidFill>
              </a:rPr>
              <a:t>GUIDE  </a:t>
            </a:r>
            <a:r>
              <a:rPr lang="en-US" sz="3500" b="1" dirty="0" smtClean="0">
                <a:solidFill>
                  <a:schemeClr val="bg1"/>
                </a:solidFill>
              </a:rPr>
              <a:t>NAME: Mr. N. Surya</a:t>
            </a:r>
            <a:endParaRPr lang="en-US" sz="2500" dirty="0">
              <a:solidFill>
                <a:schemeClr val="bg1"/>
              </a:solidFill>
            </a:endParaRPr>
          </a:p>
          <a:p>
            <a:pPr algn="l"/>
            <a:r>
              <a:rPr lang="en-US" sz="2800" dirty="0" smtClean="0">
                <a:solidFill>
                  <a:schemeClr val="bg1"/>
                </a:solidFill>
              </a:rPr>
              <a:t>IBM Trainer</a:t>
            </a:r>
            <a:endParaRPr lang="en-US" sz="2800" dirty="0">
              <a:solidFill>
                <a:schemeClr val="bg1"/>
              </a:solidFill>
            </a:endParaRPr>
          </a:p>
          <a:p>
            <a:pPr algn="l"/>
            <a:r>
              <a:rPr lang="en-US" sz="2800" dirty="0">
                <a:solidFill>
                  <a:schemeClr val="bg1"/>
                </a:solidFill>
              </a:rPr>
              <a:t>Department of Computer Applications</a:t>
            </a:r>
          </a:p>
          <a:p>
            <a:pPr algn="l"/>
            <a:r>
              <a:rPr lang="en-US" sz="2800" dirty="0">
                <a:solidFill>
                  <a:schemeClr val="bg1"/>
                </a:solidFill>
              </a:rPr>
              <a:t>Dr</a:t>
            </a:r>
            <a:r>
              <a:rPr lang="en-US" sz="2800" dirty="0" smtClean="0">
                <a:solidFill>
                  <a:schemeClr val="bg1"/>
                </a:solidFill>
              </a:rPr>
              <a:t>. M.G.R</a:t>
            </a:r>
            <a:r>
              <a:rPr lang="en-US" sz="2800" dirty="0">
                <a:solidFill>
                  <a:schemeClr val="bg1"/>
                </a:solidFill>
              </a:rPr>
              <a:t>. Educational and Research Institute,</a:t>
            </a:r>
          </a:p>
          <a:p>
            <a:endParaRPr lang="en-US" sz="2500" dirty="0">
              <a:solidFill>
                <a:schemeClr val="bg1"/>
              </a:solidFill>
            </a:endParaRPr>
          </a:p>
          <a:p>
            <a:endParaRPr lang="en-IN" sz="2500" dirty="0">
              <a:solidFill>
                <a:schemeClr val="bg1"/>
              </a:solidFill>
            </a:endParaRPr>
          </a:p>
        </p:txBody>
      </p:sp>
    </p:spTree>
    <p:extLst>
      <p:ext uri="{BB962C8B-B14F-4D97-AF65-F5344CB8AC3E}">
        <p14:creationId xmlns:p14="http://schemas.microsoft.com/office/powerpoint/2010/main" val="12380079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BE6BDF-66FC-38DE-FBBE-9334CCD52F6F}"/>
              </a:ext>
            </a:extLst>
          </p:cNvPr>
          <p:cNvSpPr>
            <a:spLocks noGrp="1"/>
          </p:cNvSpPr>
          <p:nvPr>
            <p:ph type="title"/>
          </p:nvPr>
        </p:nvSpPr>
        <p:spPr>
          <a:xfrm>
            <a:off x="1294361" y="122663"/>
            <a:ext cx="9879161" cy="914400"/>
          </a:xfrm>
        </p:spPr>
        <p:txBody>
          <a:bodyPr>
            <a:normAutofit/>
          </a:bodyPr>
          <a:lstStyle/>
          <a:p>
            <a:r>
              <a:rPr lang="en-IN" dirty="0"/>
              <a:t>CONTENTS</a:t>
            </a:r>
          </a:p>
        </p:txBody>
      </p:sp>
      <p:sp>
        <p:nvSpPr>
          <p:cNvPr id="3" name="Content Placeholder 2">
            <a:extLst>
              <a:ext uri="{FF2B5EF4-FFF2-40B4-BE49-F238E27FC236}">
                <a16:creationId xmlns:a16="http://schemas.microsoft.com/office/drawing/2014/main" xmlns="" id="{E3F38D36-78AD-1219-6304-933428A99535}"/>
              </a:ext>
            </a:extLst>
          </p:cNvPr>
          <p:cNvSpPr>
            <a:spLocks noGrp="1"/>
          </p:cNvSpPr>
          <p:nvPr>
            <p:ph idx="1"/>
          </p:nvPr>
        </p:nvSpPr>
        <p:spPr>
          <a:xfrm>
            <a:off x="1005905" y="1271238"/>
            <a:ext cx="7747803" cy="4873084"/>
          </a:xfrm>
        </p:spPr>
        <p:txBody>
          <a:bodyPr>
            <a:noAutofit/>
          </a:bodyPr>
          <a:lstStyle/>
          <a:p>
            <a:pPr marL="742950" indent="-742950">
              <a:buFont typeface="Wingdings" panose="05000000000000000000" pitchFamily="2" charset="2"/>
              <a:buChar char="Ø"/>
            </a:pPr>
            <a:r>
              <a:rPr lang="en-IN" sz="2400" dirty="0">
                <a:solidFill>
                  <a:schemeClr val="tx1"/>
                </a:solidFill>
              </a:rPr>
              <a:t>Abstract</a:t>
            </a:r>
          </a:p>
          <a:p>
            <a:pPr marL="742950" indent="-742950">
              <a:buFont typeface="Wingdings" panose="05000000000000000000" pitchFamily="2" charset="2"/>
              <a:buChar char="Ø"/>
            </a:pPr>
            <a:r>
              <a:rPr lang="en-IN" sz="2400" dirty="0">
                <a:solidFill>
                  <a:schemeClr val="tx1"/>
                </a:solidFill>
              </a:rPr>
              <a:t>Existing System</a:t>
            </a:r>
          </a:p>
          <a:p>
            <a:pPr marL="742950" indent="-742950">
              <a:buFont typeface="Wingdings" panose="05000000000000000000" pitchFamily="2" charset="2"/>
              <a:buChar char="Ø"/>
            </a:pPr>
            <a:r>
              <a:rPr lang="en-IN" sz="2400" dirty="0">
                <a:solidFill>
                  <a:schemeClr val="tx1"/>
                </a:solidFill>
              </a:rPr>
              <a:t>Proposed System</a:t>
            </a:r>
          </a:p>
          <a:p>
            <a:pPr marL="742950" indent="-742950">
              <a:buFont typeface="Wingdings" panose="05000000000000000000" pitchFamily="2" charset="2"/>
              <a:buChar char="Ø"/>
            </a:pPr>
            <a:r>
              <a:rPr lang="en-IN" sz="2400" dirty="0">
                <a:solidFill>
                  <a:schemeClr val="tx1"/>
                </a:solidFill>
              </a:rPr>
              <a:t>Architecture Diagram</a:t>
            </a:r>
          </a:p>
          <a:p>
            <a:pPr marL="742950" indent="-742950">
              <a:buFont typeface="Wingdings" panose="05000000000000000000" pitchFamily="2" charset="2"/>
              <a:buChar char="Ø"/>
            </a:pPr>
            <a:r>
              <a:rPr lang="en-IN" sz="2400" dirty="0">
                <a:solidFill>
                  <a:schemeClr val="tx1"/>
                </a:solidFill>
              </a:rPr>
              <a:t>Hardware and software requirements</a:t>
            </a:r>
          </a:p>
          <a:p>
            <a:pPr marL="742950" indent="-742950">
              <a:buFont typeface="Wingdings" panose="05000000000000000000" pitchFamily="2" charset="2"/>
              <a:buChar char="Ø"/>
            </a:pPr>
            <a:r>
              <a:rPr lang="en-IN" sz="2400" dirty="0">
                <a:solidFill>
                  <a:schemeClr val="tx1"/>
                </a:solidFill>
              </a:rPr>
              <a:t>Module descriptions</a:t>
            </a:r>
          </a:p>
          <a:p>
            <a:pPr marL="742950" indent="-742950">
              <a:buFont typeface="Wingdings" panose="05000000000000000000" pitchFamily="2" charset="2"/>
              <a:buChar char="Ø"/>
            </a:pPr>
            <a:r>
              <a:rPr lang="en-IN" sz="2400" dirty="0">
                <a:solidFill>
                  <a:schemeClr val="tx1"/>
                </a:solidFill>
              </a:rPr>
              <a:t>DFD/UML diagrams</a:t>
            </a:r>
          </a:p>
          <a:p>
            <a:pPr marL="742950" indent="-742950">
              <a:buFont typeface="Wingdings" panose="05000000000000000000" pitchFamily="2" charset="2"/>
              <a:buChar char="Ø"/>
            </a:pPr>
            <a:r>
              <a:rPr lang="en-IN" sz="2400" dirty="0">
                <a:solidFill>
                  <a:schemeClr val="tx1"/>
                </a:solidFill>
              </a:rPr>
              <a:t>Screenshot of project execution </a:t>
            </a:r>
          </a:p>
          <a:p>
            <a:pPr marL="742950" indent="-742950">
              <a:buFont typeface="Wingdings" panose="05000000000000000000" pitchFamily="2" charset="2"/>
              <a:buChar char="Ø"/>
            </a:pPr>
            <a:r>
              <a:rPr lang="en-IN" sz="2400" dirty="0">
                <a:solidFill>
                  <a:schemeClr val="tx1"/>
                </a:solidFill>
              </a:rPr>
              <a:t>Testing </a:t>
            </a:r>
          </a:p>
          <a:p>
            <a:pPr marL="742950" indent="-742950">
              <a:buFont typeface="Wingdings" panose="05000000000000000000" pitchFamily="2" charset="2"/>
              <a:buChar char="Ø"/>
            </a:pPr>
            <a:r>
              <a:rPr lang="en-IN" sz="2400" dirty="0">
                <a:solidFill>
                  <a:schemeClr val="tx1"/>
                </a:solidFill>
              </a:rPr>
              <a:t>Conclusion</a:t>
            </a:r>
          </a:p>
          <a:p>
            <a:pPr marL="742950" indent="-742950">
              <a:buFont typeface="Wingdings" panose="05000000000000000000" pitchFamily="2" charset="2"/>
              <a:buChar char="Ø"/>
            </a:pPr>
            <a:r>
              <a:rPr lang="en-IN" sz="2400" dirty="0">
                <a:solidFill>
                  <a:schemeClr val="tx1"/>
                </a:solidFill>
              </a:rPr>
              <a:t>Future Enhancement</a:t>
            </a:r>
          </a:p>
        </p:txBody>
      </p:sp>
    </p:spTree>
    <p:extLst>
      <p:ext uri="{BB962C8B-B14F-4D97-AF65-F5344CB8AC3E}">
        <p14:creationId xmlns:p14="http://schemas.microsoft.com/office/powerpoint/2010/main" val="2980234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35A95D1-E90E-7579-434D-AB430C9C7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FA56B4D-4B1F-0197-4775-2B633FE9FDBD}"/>
              </a:ext>
            </a:extLst>
          </p:cNvPr>
          <p:cNvSpPr>
            <a:spLocks noGrp="1"/>
          </p:cNvSpPr>
          <p:nvPr>
            <p:ph type="title"/>
          </p:nvPr>
        </p:nvSpPr>
        <p:spPr>
          <a:xfrm>
            <a:off x="1294361" y="8363"/>
            <a:ext cx="9879161" cy="914400"/>
          </a:xfrm>
        </p:spPr>
        <p:txBody>
          <a:bodyPr>
            <a:normAutofit/>
          </a:bodyPr>
          <a:lstStyle/>
          <a:p>
            <a:r>
              <a:rPr lang="en-IN" dirty="0">
                <a:solidFill>
                  <a:schemeClr val="tx1"/>
                </a:solidFill>
              </a:rPr>
              <a:t>Abstract</a:t>
            </a:r>
          </a:p>
        </p:txBody>
      </p:sp>
      <p:sp>
        <p:nvSpPr>
          <p:cNvPr id="3" name="Content Placeholder 2">
            <a:extLst>
              <a:ext uri="{FF2B5EF4-FFF2-40B4-BE49-F238E27FC236}">
                <a16:creationId xmlns:a16="http://schemas.microsoft.com/office/drawing/2014/main" xmlns="" id="{4AB344DE-BD32-A9E0-575E-E81F324A36C3}"/>
              </a:ext>
            </a:extLst>
          </p:cNvPr>
          <p:cNvSpPr>
            <a:spLocks noGrp="1"/>
          </p:cNvSpPr>
          <p:nvPr>
            <p:ph idx="1"/>
          </p:nvPr>
        </p:nvSpPr>
        <p:spPr>
          <a:xfrm>
            <a:off x="75602" y="1089025"/>
            <a:ext cx="12116398" cy="5068498"/>
          </a:xfrm>
        </p:spPr>
        <p:txBody>
          <a:bodyPr>
            <a:noAutofit/>
          </a:bodyPr>
          <a:lstStyle/>
          <a:p>
            <a:pPr marL="0" indent="0" algn="just">
              <a:buNone/>
            </a:pPr>
            <a:endParaRPr lang="en-US" b="1" dirty="0"/>
          </a:p>
          <a:p>
            <a:pPr marL="0" indent="0" algn="just">
              <a:buNone/>
            </a:pPr>
            <a:r>
              <a:rPr lang="en-IN" dirty="0"/>
              <a:t>The rising demand for renewable energy has accelerated the adoption of solar power systems due to their sustainability and environmental benefits. Conventional solar panels are typically installed in fixed positions, limiting their ability to capture maximum solar radiation throughout the day. Since efficiency depends largely on panel orientation relative to the sun, fixed systems often result in reduced performance and energy output.</a:t>
            </a:r>
          </a:p>
          <a:p>
            <a:pPr marL="0" indent="0" algn="just">
              <a:buNone/>
            </a:pPr>
            <a:r>
              <a:rPr lang="en-IN" dirty="0"/>
              <a:t> </a:t>
            </a:r>
            <a:r>
              <a:rPr lang="en-IN" dirty="0" smtClean="0"/>
              <a:t> </a:t>
            </a:r>
            <a:endParaRPr lang="en-IN" dirty="0"/>
          </a:p>
          <a:p>
            <a:r>
              <a:rPr lang="en-US" dirty="0"/>
              <a:t>My project is an </a:t>
            </a:r>
            <a:r>
              <a:rPr lang="en-US" b="1" dirty="0" smtClean="0"/>
              <a:t>IOT-based </a:t>
            </a:r>
            <a:r>
              <a:rPr lang="en-US" b="1" dirty="0"/>
              <a:t>intelligent solar tracking system with energy prediction</a:t>
            </a:r>
            <a:r>
              <a:rPr lang="en-US" dirty="0"/>
              <a:t>.</a:t>
            </a:r>
            <a:br>
              <a:rPr lang="en-US" dirty="0"/>
            </a:br>
            <a:r>
              <a:rPr lang="en-US" dirty="0"/>
              <a:t>Traditional solar panels are fixed and lose efficiency, so our system uses sensors and a motor to </a:t>
            </a:r>
            <a:r>
              <a:rPr lang="en-US" b="1" dirty="0"/>
              <a:t>automatically track the sun</a:t>
            </a:r>
            <a:r>
              <a:rPr lang="en-US" dirty="0"/>
              <a:t> and maximize energy generation.</a:t>
            </a:r>
          </a:p>
          <a:p>
            <a:r>
              <a:rPr lang="en-US" dirty="0"/>
              <a:t>We also use a </a:t>
            </a:r>
            <a:r>
              <a:rPr lang="en-US" b="1" dirty="0"/>
              <a:t>machine learning model (Linear Regression)</a:t>
            </a:r>
            <a:r>
              <a:rPr lang="en-US" dirty="0"/>
              <a:t> to predict future power output based on collected data.</a:t>
            </a:r>
            <a:br>
              <a:rPr lang="en-US" dirty="0"/>
            </a:br>
            <a:r>
              <a:rPr lang="en-US" dirty="0"/>
              <a:t>A </a:t>
            </a:r>
            <a:r>
              <a:rPr lang="en-US" b="1" dirty="0"/>
              <a:t>web dashboard</a:t>
            </a:r>
            <a:r>
              <a:rPr lang="en-US" dirty="0"/>
              <a:t> displays real-time and predicted values.</a:t>
            </a:r>
          </a:p>
          <a:p>
            <a:r>
              <a:rPr lang="en-US" b="1" dirty="0"/>
              <a:t>This improves efficiency and enables smart energy management</a:t>
            </a:r>
            <a:r>
              <a:rPr lang="en-US" b="1" dirty="0" smtClean="0"/>
              <a:t>.</a:t>
            </a:r>
            <a:endParaRPr lang="en-IN" dirty="0"/>
          </a:p>
          <a:p>
            <a:pPr marL="0" indent="0" algn="just">
              <a:buNone/>
            </a:pPr>
            <a:endParaRPr lang="en-IN"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2369687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DF1349F-18A7-6F06-858F-14004759DF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21A9903-29D4-215A-A45C-7F9D0F31FDF7}"/>
              </a:ext>
            </a:extLst>
          </p:cNvPr>
          <p:cNvSpPr>
            <a:spLocks noGrp="1"/>
          </p:cNvSpPr>
          <p:nvPr>
            <p:ph type="title"/>
          </p:nvPr>
        </p:nvSpPr>
        <p:spPr>
          <a:xfrm>
            <a:off x="1389612" y="122663"/>
            <a:ext cx="9879161" cy="914400"/>
          </a:xfrm>
        </p:spPr>
        <p:txBody>
          <a:bodyPr>
            <a:normAutofit/>
          </a:bodyPr>
          <a:lstStyle/>
          <a:p>
            <a:r>
              <a:rPr lang="en-IN" dirty="0">
                <a:solidFill>
                  <a:schemeClr val="tx1"/>
                </a:solidFill>
              </a:rPr>
              <a:t>Existing System</a:t>
            </a:r>
          </a:p>
        </p:txBody>
      </p:sp>
      <p:sp>
        <p:nvSpPr>
          <p:cNvPr id="4" name="Text 0"/>
          <p:cNvSpPr/>
          <p:nvPr/>
        </p:nvSpPr>
        <p:spPr>
          <a:xfrm>
            <a:off x="-692052" y="557641"/>
            <a:ext cx="13032082" cy="66615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5200"/>
              </a:lnSpc>
              <a:buNone/>
            </a:pPr>
            <a:endParaRPr lang="en-US" sz="2800" spc="300" dirty="0"/>
          </a:p>
        </p:txBody>
      </p:sp>
      <p:sp>
        <p:nvSpPr>
          <p:cNvPr id="23" name="Title 1">
            <a:extLst>
              <a:ext uri="{FF2B5EF4-FFF2-40B4-BE49-F238E27FC236}">
                <a16:creationId xmlns:a16="http://schemas.microsoft.com/office/drawing/2014/main" xmlns="" id="{321A9903-29D4-215A-A45C-7F9D0F31FDF7}"/>
              </a:ext>
            </a:extLst>
          </p:cNvPr>
          <p:cNvSpPr txBox="1">
            <a:spLocks/>
          </p:cNvSpPr>
          <p:nvPr/>
        </p:nvSpPr>
        <p:spPr bwMode="black">
          <a:xfrm>
            <a:off x="1389612" y="122663"/>
            <a:ext cx="9879161" cy="914400"/>
          </a:xfrm>
          <a:prstGeom prst="rect">
            <a:avLst/>
          </a:prstGeom>
          <a:solidFill>
            <a:schemeClr val="bg2">
              <a:lumMod val="60000"/>
              <a:lumOff val="40000"/>
              <a:alpha val="15000"/>
            </a:schemeClr>
          </a:solidFill>
          <a:ln w="31750" cap="sq">
            <a:solidFill>
              <a:schemeClr val="tx1">
                <a:lumMod val="75000"/>
                <a:lumOff val="25000"/>
              </a:schemeClr>
            </a:solid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a:lstStyle>
          <a:p>
            <a:r>
              <a:rPr lang="en-IN" dirty="0" smtClean="0">
                <a:solidFill>
                  <a:schemeClr val="tx1"/>
                </a:solidFill>
              </a:rPr>
              <a:t>Existing System</a:t>
            </a:r>
            <a:endParaRPr lang="en-IN" dirty="0">
              <a:solidFill>
                <a:schemeClr val="tx1"/>
              </a:solidFill>
            </a:endParaRPr>
          </a:p>
        </p:txBody>
      </p:sp>
      <p:sp>
        <p:nvSpPr>
          <p:cNvPr id="24" name="Text 0"/>
          <p:cNvSpPr/>
          <p:nvPr/>
        </p:nvSpPr>
        <p:spPr>
          <a:xfrm>
            <a:off x="-692052" y="557641"/>
            <a:ext cx="13032082" cy="66615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5200"/>
              </a:lnSpc>
              <a:buNone/>
            </a:pPr>
            <a:endParaRPr lang="en-US" sz="2800" spc="300" dirty="0"/>
          </a:p>
        </p:txBody>
      </p:sp>
      <p:sp>
        <p:nvSpPr>
          <p:cNvPr id="25" name="Text 1"/>
          <p:cNvSpPr/>
          <p:nvPr/>
        </p:nvSpPr>
        <p:spPr>
          <a:xfrm>
            <a:off x="-692051" y="1529509"/>
            <a:ext cx="12902804" cy="342781"/>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00"/>
              </a:lnSpc>
              <a:buNone/>
            </a:pPr>
            <a:endParaRPr lang="en-US" sz="1800" dirty="0"/>
          </a:p>
        </p:txBody>
      </p:sp>
      <p:sp>
        <p:nvSpPr>
          <p:cNvPr id="26" name="Text 2"/>
          <p:cNvSpPr/>
          <p:nvPr/>
        </p:nvSpPr>
        <p:spPr>
          <a:xfrm>
            <a:off x="515363" y="1341747"/>
            <a:ext cx="2664619" cy="33301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600"/>
              </a:lnSpc>
              <a:buNone/>
            </a:pPr>
            <a:r>
              <a:rPr lang="en-US" sz="2050" b="1" dirty="0">
                <a:latin typeface="Montserrat Bold" pitchFamily="34" charset="0"/>
                <a:ea typeface="Montserrat Bold" pitchFamily="34" charset="-122"/>
                <a:cs typeface="Montserrat Bold" pitchFamily="34" charset="-120"/>
              </a:rPr>
              <a:t>Static Installation</a:t>
            </a:r>
            <a:endParaRPr lang="en-US" sz="2050" dirty="0"/>
          </a:p>
        </p:txBody>
      </p:sp>
      <p:sp>
        <p:nvSpPr>
          <p:cNvPr id="27" name="Text 3"/>
          <p:cNvSpPr/>
          <p:nvPr/>
        </p:nvSpPr>
        <p:spPr>
          <a:xfrm>
            <a:off x="515363" y="1808354"/>
            <a:ext cx="3250763" cy="17139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00"/>
              </a:lnSpc>
              <a:buNone/>
            </a:pPr>
            <a:r>
              <a:rPr lang="en-US" sz="1800" dirty="0">
                <a:latin typeface="Source Sans 3" pitchFamily="34" charset="0"/>
                <a:ea typeface="Source Sans 3" pitchFamily="34" charset="-122"/>
                <a:cs typeface="Source Sans 3" pitchFamily="34" charset="-120"/>
              </a:rPr>
              <a:t>Solar panels are installed with a fixed tilt and orientation, unable to adapt to the sun's dynamic movement throughout the day or seasons.</a:t>
            </a:r>
            <a:endParaRPr lang="en-US" sz="1800" dirty="0"/>
          </a:p>
        </p:txBody>
      </p:sp>
      <p:sp>
        <p:nvSpPr>
          <p:cNvPr id="28" name="Text 4"/>
          <p:cNvSpPr/>
          <p:nvPr/>
        </p:nvSpPr>
        <p:spPr>
          <a:xfrm>
            <a:off x="4566106" y="1417947"/>
            <a:ext cx="2689028" cy="33301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600"/>
              </a:lnSpc>
              <a:buNone/>
            </a:pPr>
            <a:r>
              <a:rPr lang="en-US" sz="2050" b="1" dirty="0">
                <a:latin typeface="Montserrat Bold" pitchFamily="34" charset="0"/>
                <a:ea typeface="Montserrat Bold" pitchFamily="34" charset="-122"/>
                <a:cs typeface="Montserrat Bold" pitchFamily="34" charset="-120"/>
              </a:rPr>
              <a:t>Reduced Efficiency</a:t>
            </a:r>
            <a:endParaRPr lang="en-US" sz="2050" dirty="0"/>
          </a:p>
        </p:txBody>
      </p:sp>
      <p:sp>
        <p:nvSpPr>
          <p:cNvPr id="29" name="Text 5"/>
          <p:cNvSpPr/>
          <p:nvPr/>
        </p:nvSpPr>
        <p:spPr>
          <a:xfrm>
            <a:off x="4566106" y="1884553"/>
            <a:ext cx="3250884" cy="17139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00"/>
              </a:lnSpc>
              <a:buNone/>
            </a:pPr>
            <a:r>
              <a:rPr lang="en-US" sz="1800" dirty="0">
                <a:latin typeface="Source Sans 3" pitchFamily="34" charset="0"/>
                <a:ea typeface="Source Sans 3" pitchFamily="34" charset="-122"/>
                <a:cs typeface="Source Sans 3" pitchFamily="34" charset="-120"/>
              </a:rPr>
              <a:t>This improper alignment results in a significant reduction in energy generation efficiency, missing out on optimal solar irradiance.</a:t>
            </a:r>
            <a:endParaRPr lang="en-US" sz="1800" dirty="0"/>
          </a:p>
        </p:txBody>
      </p:sp>
      <p:sp>
        <p:nvSpPr>
          <p:cNvPr id="30" name="Text 6"/>
          <p:cNvSpPr/>
          <p:nvPr/>
        </p:nvSpPr>
        <p:spPr>
          <a:xfrm>
            <a:off x="8655070" y="1456047"/>
            <a:ext cx="2664619" cy="33301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600"/>
              </a:lnSpc>
              <a:buNone/>
            </a:pPr>
            <a:r>
              <a:rPr lang="en-US" sz="2050" b="1" dirty="0">
                <a:latin typeface="Montserrat Bold" pitchFamily="34" charset="0"/>
                <a:ea typeface="Montserrat Bold" pitchFamily="34" charset="-122"/>
                <a:cs typeface="Montserrat Bold" pitchFamily="34" charset="-120"/>
              </a:rPr>
              <a:t>Lack of Monitoring</a:t>
            </a:r>
            <a:endParaRPr lang="en-US" sz="2050" dirty="0"/>
          </a:p>
        </p:txBody>
      </p:sp>
      <p:sp>
        <p:nvSpPr>
          <p:cNvPr id="31" name="Text 7"/>
          <p:cNvSpPr/>
          <p:nvPr/>
        </p:nvSpPr>
        <p:spPr>
          <a:xfrm>
            <a:off x="8655070" y="1922653"/>
            <a:ext cx="3250763" cy="137112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00"/>
              </a:lnSpc>
              <a:buNone/>
            </a:pPr>
            <a:r>
              <a:rPr lang="en-US" sz="1800" dirty="0">
                <a:latin typeface="Source Sans 3" pitchFamily="34" charset="0"/>
                <a:ea typeface="Source Sans 3" pitchFamily="34" charset="-122"/>
                <a:cs typeface="Source Sans 3" pitchFamily="34" charset="-120"/>
              </a:rPr>
              <a:t>Most traditional systems lack real-time monitoring capabilities for critical data such as voltage, current, and power output.</a:t>
            </a:r>
            <a:endParaRPr lang="en-US" sz="1800" dirty="0"/>
          </a:p>
        </p:txBody>
      </p:sp>
      <p:sp>
        <p:nvSpPr>
          <p:cNvPr id="32" name="Text 8"/>
          <p:cNvSpPr/>
          <p:nvPr/>
        </p:nvSpPr>
        <p:spPr>
          <a:xfrm>
            <a:off x="1486912" y="4158170"/>
            <a:ext cx="3250763" cy="666036"/>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600"/>
              </a:lnSpc>
              <a:buNone/>
            </a:pPr>
            <a:r>
              <a:rPr lang="en-US" sz="2050" b="1" dirty="0">
                <a:latin typeface="Montserrat Bold" pitchFamily="34" charset="0"/>
                <a:ea typeface="Montserrat Bold" pitchFamily="34" charset="-122"/>
                <a:cs typeface="Montserrat Bold" pitchFamily="34" charset="-120"/>
              </a:rPr>
              <a:t>No Predictive Capability</a:t>
            </a:r>
            <a:endParaRPr lang="en-US" sz="2050" dirty="0"/>
          </a:p>
        </p:txBody>
      </p:sp>
      <p:sp>
        <p:nvSpPr>
          <p:cNvPr id="33" name="Text 9"/>
          <p:cNvSpPr/>
          <p:nvPr/>
        </p:nvSpPr>
        <p:spPr>
          <a:xfrm>
            <a:off x="1486912" y="4957794"/>
            <a:ext cx="3250763" cy="137112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00"/>
              </a:lnSpc>
              <a:buNone/>
            </a:pPr>
            <a:r>
              <a:rPr lang="en-US" sz="1800" dirty="0">
                <a:latin typeface="Source Sans 3" pitchFamily="34" charset="0"/>
                <a:ea typeface="Source Sans 3" pitchFamily="34" charset="-122"/>
                <a:cs typeface="Source Sans 3" pitchFamily="34" charset="-120"/>
              </a:rPr>
              <a:t>There is an absence of intelligent predictive models for estimating future power generation, leading to less efficient energy planning.</a:t>
            </a:r>
            <a:endParaRPr lang="en-US" sz="1800" dirty="0"/>
          </a:p>
        </p:txBody>
      </p:sp>
      <p:sp>
        <p:nvSpPr>
          <p:cNvPr id="34" name="Text 11"/>
          <p:cNvSpPr/>
          <p:nvPr/>
        </p:nvSpPr>
        <p:spPr>
          <a:xfrm>
            <a:off x="7633158" y="4348670"/>
            <a:ext cx="2925008" cy="33301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600"/>
              </a:lnSpc>
              <a:buNone/>
            </a:pPr>
            <a:r>
              <a:rPr lang="en-US" sz="2050" b="1" dirty="0">
                <a:latin typeface="Montserrat Bold" pitchFamily="34" charset="0"/>
                <a:ea typeface="Montserrat Bold" pitchFamily="34" charset="-122"/>
                <a:cs typeface="Montserrat Bold" pitchFamily="34" charset="-120"/>
              </a:rPr>
              <a:t>Manual Maintenance</a:t>
            </a:r>
            <a:endParaRPr lang="en-US" sz="2050" dirty="0"/>
          </a:p>
        </p:txBody>
      </p:sp>
      <p:sp>
        <p:nvSpPr>
          <p:cNvPr id="35" name="Text 12"/>
          <p:cNvSpPr/>
          <p:nvPr/>
        </p:nvSpPr>
        <p:spPr>
          <a:xfrm>
            <a:off x="7633157" y="4815277"/>
            <a:ext cx="3250884" cy="17139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00"/>
              </a:lnSpc>
              <a:buNone/>
            </a:pPr>
            <a:r>
              <a:rPr lang="en-US" sz="1800" dirty="0">
                <a:latin typeface="Source Sans 3" pitchFamily="34" charset="0"/>
                <a:ea typeface="Source Sans 3" pitchFamily="34" charset="-122"/>
                <a:cs typeface="Source Sans 3" pitchFamily="34" charset="-120"/>
              </a:rPr>
              <a:t>These systems often require manual evaluation and maintenance, which increases operational costs and reduces overall reliability.</a:t>
            </a:r>
            <a:endParaRPr lang="en-US" sz="1800" dirty="0"/>
          </a:p>
        </p:txBody>
      </p:sp>
    </p:spTree>
    <p:extLst>
      <p:ext uri="{BB962C8B-B14F-4D97-AF65-F5344CB8AC3E}">
        <p14:creationId xmlns:p14="http://schemas.microsoft.com/office/powerpoint/2010/main" val="35722444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99CA742-30D7-7AB0-717D-86A85F5F0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E08A86B-FAF9-56FA-D859-2AA4962CF6BA}"/>
              </a:ext>
            </a:extLst>
          </p:cNvPr>
          <p:cNvSpPr>
            <a:spLocks noGrp="1"/>
          </p:cNvSpPr>
          <p:nvPr>
            <p:ph type="title"/>
          </p:nvPr>
        </p:nvSpPr>
        <p:spPr>
          <a:xfrm>
            <a:off x="1294361" y="122663"/>
            <a:ext cx="9879161" cy="914400"/>
          </a:xfrm>
        </p:spPr>
        <p:txBody>
          <a:bodyPr>
            <a:normAutofit/>
          </a:bodyPr>
          <a:lstStyle/>
          <a:p>
            <a:r>
              <a:rPr lang="en-IN" dirty="0">
                <a:solidFill>
                  <a:schemeClr val="tx1"/>
                </a:solidFill>
              </a:rPr>
              <a:t>Proposed System</a:t>
            </a:r>
          </a:p>
        </p:txBody>
      </p:sp>
      <p:sp>
        <p:nvSpPr>
          <p:cNvPr id="4" name="Text 0"/>
          <p:cNvSpPr/>
          <p:nvPr/>
        </p:nvSpPr>
        <p:spPr>
          <a:xfrm>
            <a:off x="-330101" y="1184485"/>
            <a:ext cx="12902804" cy="36456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850"/>
              </a:lnSpc>
              <a:buNone/>
            </a:pPr>
            <a:endParaRPr lang="en-US" sz="2250" spc="300" dirty="0"/>
          </a:p>
        </p:txBody>
      </p:sp>
      <p:sp>
        <p:nvSpPr>
          <p:cNvPr id="5" name="Text 1"/>
          <p:cNvSpPr/>
          <p:nvPr/>
        </p:nvSpPr>
        <p:spPr>
          <a:xfrm>
            <a:off x="-32086" y="1184484"/>
            <a:ext cx="12902804" cy="19859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550"/>
              </a:lnSpc>
              <a:buNone/>
            </a:pPr>
            <a:r>
              <a:rPr lang="en-US" sz="1250" dirty="0">
                <a:latin typeface="Source Sans 3" pitchFamily="34" charset="0"/>
                <a:ea typeface="Source Sans 3" pitchFamily="34" charset="-122"/>
                <a:cs typeface="Source Sans 3" pitchFamily="34" charset="-120"/>
              </a:rPr>
              <a:t>Our system integrates cutting-edge IoT technology with machine learning to revolutionize solar energy harnessing and management.</a:t>
            </a:r>
            <a:endParaRPr lang="en-US" sz="1250" dirty="0"/>
          </a:p>
        </p:txBody>
      </p:sp>
      <p:sp>
        <p:nvSpPr>
          <p:cNvPr id="6" name="Shape 2"/>
          <p:cNvSpPr/>
          <p:nvPr/>
        </p:nvSpPr>
        <p:spPr>
          <a:xfrm>
            <a:off x="6109871" y="1819406"/>
            <a:ext cx="22860" cy="5283041"/>
          </a:xfrm>
          <a:prstGeom prst="roundRect">
            <a:avLst>
              <a:gd name="adj" fmla="val 105276"/>
            </a:avLst>
          </a:prstGeom>
          <a:solidFill>
            <a:srgbClr val="D8D4D4"/>
          </a:solidFill>
          <a:ln/>
        </p:spPr>
        <p:txBody>
          <a:bodyPr/>
          <a:lstStyle/>
          <a:p>
            <a:endParaRPr lang="en-IN"/>
          </a:p>
        </p:txBody>
      </p:sp>
      <p:sp>
        <p:nvSpPr>
          <p:cNvPr id="7" name="Shape 3"/>
          <p:cNvSpPr/>
          <p:nvPr/>
        </p:nvSpPr>
        <p:spPr>
          <a:xfrm>
            <a:off x="5823290" y="1988354"/>
            <a:ext cx="320873" cy="22860"/>
          </a:xfrm>
          <a:prstGeom prst="roundRect">
            <a:avLst>
              <a:gd name="adj" fmla="val 105276"/>
            </a:avLst>
          </a:prstGeom>
          <a:solidFill>
            <a:srgbClr val="D8D4D4"/>
          </a:solidFill>
          <a:ln/>
        </p:spPr>
        <p:txBody>
          <a:bodyPr/>
          <a:lstStyle/>
          <a:p>
            <a:endParaRPr lang="en-IN"/>
          </a:p>
        </p:txBody>
      </p:sp>
      <p:sp>
        <p:nvSpPr>
          <p:cNvPr id="8" name="Shape 4"/>
          <p:cNvSpPr/>
          <p:nvPr/>
        </p:nvSpPr>
        <p:spPr>
          <a:xfrm>
            <a:off x="6061175" y="1939659"/>
            <a:ext cx="120252" cy="120253"/>
          </a:xfrm>
          <a:prstGeom prst="roundRect">
            <a:avLst>
              <a:gd name="adj" fmla="val 380198"/>
            </a:avLst>
          </a:prstGeom>
          <a:solidFill>
            <a:srgbClr val="2D2E34"/>
          </a:solidFill>
          <a:ln/>
        </p:spPr>
        <p:txBody>
          <a:bodyPr/>
          <a:lstStyle/>
          <a:p>
            <a:endParaRPr lang="en-IN"/>
          </a:p>
        </p:txBody>
      </p:sp>
      <p:sp>
        <p:nvSpPr>
          <p:cNvPr id="9" name="Text 5"/>
          <p:cNvSpPr/>
          <p:nvPr/>
        </p:nvSpPr>
        <p:spPr>
          <a:xfrm>
            <a:off x="3656470" y="1874532"/>
            <a:ext cx="1823084" cy="22776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750"/>
              </a:lnSpc>
              <a:buNone/>
            </a:pPr>
            <a:r>
              <a:rPr lang="en-US" sz="1400" b="1" dirty="0">
                <a:latin typeface="Montserrat Bold" pitchFamily="34" charset="0"/>
                <a:ea typeface="Montserrat Bold" pitchFamily="34" charset="-122"/>
                <a:cs typeface="Montserrat Bold" pitchFamily="34" charset="-120"/>
              </a:rPr>
              <a:t>IoT-Based Tracking</a:t>
            </a:r>
            <a:endParaRPr lang="en-US" sz="1400" dirty="0"/>
          </a:p>
        </p:txBody>
      </p:sp>
      <p:sp>
        <p:nvSpPr>
          <p:cNvPr id="10" name="Text 6"/>
          <p:cNvSpPr/>
          <p:nvPr/>
        </p:nvSpPr>
        <p:spPr>
          <a:xfrm>
            <a:off x="-330100" y="2164806"/>
            <a:ext cx="5809655" cy="39719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550"/>
              </a:lnSpc>
              <a:buNone/>
            </a:pPr>
            <a:r>
              <a:rPr lang="en-US" sz="1250" dirty="0">
                <a:latin typeface="Source Sans 3" pitchFamily="34" charset="0"/>
                <a:ea typeface="Source Sans 3" pitchFamily="34" charset="-122"/>
                <a:cs typeface="Source Sans 3" pitchFamily="34" charset="-120"/>
              </a:rPr>
              <a:t>Utilizes intelligent solar tracking with real-time feedback </a:t>
            </a:r>
            <a:r>
              <a:rPr lang="en-US" sz="1250" dirty="0" smtClean="0">
                <a:latin typeface="Source Sans 3" pitchFamily="34" charset="0"/>
                <a:ea typeface="Source Sans 3" pitchFamily="34" charset="-122"/>
                <a:cs typeface="Source Sans 3" pitchFamily="34" charset="-120"/>
              </a:rPr>
              <a:t>from</a:t>
            </a:r>
          </a:p>
          <a:p>
            <a:pPr marL="0" indent="0" algn="r">
              <a:lnSpc>
                <a:spcPts val="1550"/>
              </a:lnSpc>
              <a:buNone/>
            </a:pPr>
            <a:r>
              <a:rPr lang="en-US" sz="1250" dirty="0" smtClean="0">
                <a:latin typeface="Source Sans 3" pitchFamily="34" charset="0"/>
                <a:ea typeface="Source Sans 3" pitchFamily="34" charset="-122"/>
                <a:cs typeface="Source Sans 3" pitchFamily="34" charset="-120"/>
              </a:rPr>
              <a:t> </a:t>
            </a:r>
            <a:r>
              <a:rPr lang="en-US" sz="1250" dirty="0">
                <a:latin typeface="Source Sans 3" pitchFamily="34" charset="0"/>
                <a:ea typeface="Source Sans 3" pitchFamily="34" charset="-122"/>
                <a:cs typeface="Source Sans 3" pitchFamily="34" charset="-120"/>
              </a:rPr>
              <a:t>Light Dependent Resistors (LDRs) for optimal sun alignment.</a:t>
            </a:r>
            <a:endParaRPr lang="en-US" sz="1250" dirty="0"/>
          </a:p>
        </p:txBody>
      </p:sp>
      <p:sp>
        <p:nvSpPr>
          <p:cNvPr id="11" name="Shape 7"/>
          <p:cNvSpPr/>
          <p:nvPr/>
        </p:nvSpPr>
        <p:spPr>
          <a:xfrm>
            <a:off x="6098442" y="2838580"/>
            <a:ext cx="320873" cy="22860"/>
          </a:xfrm>
          <a:prstGeom prst="roundRect">
            <a:avLst>
              <a:gd name="adj" fmla="val 105276"/>
            </a:avLst>
          </a:prstGeom>
          <a:solidFill>
            <a:srgbClr val="D8D4D4"/>
          </a:solidFill>
          <a:ln/>
        </p:spPr>
        <p:txBody>
          <a:bodyPr/>
          <a:lstStyle/>
          <a:p>
            <a:endParaRPr lang="en-IN"/>
          </a:p>
        </p:txBody>
      </p:sp>
      <p:sp>
        <p:nvSpPr>
          <p:cNvPr id="12" name="Shape 8"/>
          <p:cNvSpPr/>
          <p:nvPr/>
        </p:nvSpPr>
        <p:spPr>
          <a:xfrm>
            <a:off x="6061175" y="2789884"/>
            <a:ext cx="120252" cy="120253"/>
          </a:xfrm>
          <a:prstGeom prst="roundRect">
            <a:avLst>
              <a:gd name="adj" fmla="val 380198"/>
            </a:avLst>
          </a:prstGeom>
          <a:solidFill>
            <a:srgbClr val="2D2E34"/>
          </a:solidFill>
          <a:ln/>
        </p:spPr>
        <p:txBody>
          <a:bodyPr/>
          <a:lstStyle/>
          <a:p>
            <a:endParaRPr lang="en-IN"/>
          </a:p>
        </p:txBody>
      </p:sp>
      <p:sp>
        <p:nvSpPr>
          <p:cNvPr id="13" name="Text 9"/>
          <p:cNvSpPr/>
          <p:nvPr/>
        </p:nvSpPr>
        <p:spPr>
          <a:xfrm>
            <a:off x="6763050" y="2724757"/>
            <a:ext cx="1917381" cy="22776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750"/>
              </a:lnSpc>
              <a:buNone/>
            </a:pPr>
            <a:r>
              <a:rPr lang="en-US" sz="1400" b="1" dirty="0">
                <a:latin typeface="Montserrat Bold" pitchFamily="34" charset="0"/>
                <a:ea typeface="Montserrat Bold" pitchFamily="34" charset="-122"/>
                <a:cs typeface="Montserrat Bold" pitchFamily="34" charset="-120"/>
              </a:rPr>
              <a:t>Dynamic Alignment</a:t>
            </a:r>
            <a:endParaRPr lang="en-US" sz="1400" dirty="0"/>
          </a:p>
        </p:txBody>
      </p:sp>
      <p:sp>
        <p:nvSpPr>
          <p:cNvPr id="14" name="Text 10"/>
          <p:cNvSpPr/>
          <p:nvPr/>
        </p:nvSpPr>
        <p:spPr>
          <a:xfrm>
            <a:off x="6763050" y="3015031"/>
            <a:ext cx="5809655" cy="39719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50"/>
              </a:lnSpc>
              <a:buNone/>
            </a:pPr>
            <a:r>
              <a:rPr lang="en-US" sz="1250" dirty="0">
                <a:latin typeface="Source Sans 3" pitchFamily="34" charset="0"/>
                <a:ea typeface="Source Sans 3" pitchFamily="34" charset="-122"/>
                <a:cs typeface="Source Sans 3" pitchFamily="34" charset="-120"/>
              </a:rPr>
              <a:t>An ESP32 microcontroller processes sensor data and controls servo motors, ensuring dynamic adjustment of panel orientation.</a:t>
            </a:r>
            <a:endParaRPr lang="en-US" sz="1250" dirty="0"/>
          </a:p>
        </p:txBody>
      </p:sp>
      <p:sp>
        <p:nvSpPr>
          <p:cNvPr id="15" name="Shape 11"/>
          <p:cNvSpPr/>
          <p:nvPr/>
        </p:nvSpPr>
        <p:spPr>
          <a:xfrm>
            <a:off x="5823290" y="3612129"/>
            <a:ext cx="320873" cy="22860"/>
          </a:xfrm>
          <a:prstGeom prst="roundRect">
            <a:avLst>
              <a:gd name="adj" fmla="val 105276"/>
            </a:avLst>
          </a:prstGeom>
          <a:solidFill>
            <a:srgbClr val="D8D4D4"/>
          </a:solidFill>
          <a:ln/>
        </p:spPr>
        <p:txBody>
          <a:bodyPr/>
          <a:lstStyle/>
          <a:p>
            <a:endParaRPr lang="en-IN"/>
          </a:p>
        </p:txBody>
      </p:sp>
      <p:sp>
        <p:nvSpPr>
          <p:cNvPr id="16" name="Shape 12"/>
          <p:cNvSpPr/>
          <p:nvPr/>
        </p:nvSpPr>
        <p:spPr>
          <a:xfrm>
            <a:off x="6061175" y="3563433"/>
            <a:ext cx="120252" cy="120253"/>
          </a:xfrm>
          <a:prstGeom prst="roundRect">
            <a:avLst>
              <a:gd name="adj" fmla="val 380198"/>
            </a:avLst>
          </a:prstGeom>
          <a:solidFill>
            <a:srgbClr val="2D2E34"/>
          </a:solidFill>
          <a:ln/>
        </p:spPr>
        <p:txBody>
          <a:bodyPr/>
          <a:lstStyle/>
          <a:p>
            <a:endParaRPr lang="en-IN"/>
          </a:p>
        </p:txBody>
      </p:sp>
      <p:sp>
        <p:nvSpPr>
          <p:cNvPr id="17" name="Text 13"/>
          <p:cNvSpPr/>
          <p:nvPr/>
        </p:nvSpPr>
        <p:spPr>
          <a:xfrm>
            <a:off x="3656470" y="3498306"/>
            <a:ext cx="1823084" cy="22776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750"/>
              </a:lnSpc>
              <a:buNone/>
            </a:pPr>
            <a:r>
              <a:rPr lang="en-US" sz="1400" b="1" dirty="0">
                <a:latin typeface="Montserrat Bold" pitchFamily="34" charset="0"/>
                <a:ea typeface="Montserrat Bold" pitchFamily="34" charset="-122"/>
                <a:cs typeface="Montserrat Bold" pitchFamily="34" charset="-120"/>
              </a:rPr>
              <a:t>Real-time Data</a:t>
            </a:r>
            <a:endParaRPr lang="en-US" sz="1400" dirty="0"/>
          </a:p>
        </p:txBody>
      </p:sp>
      <p:sp>
        <p:nvSpPr>
          <p:cNvPr id="18" name="Text 14"/>
          <p:cNvSpPr/>
          <p:nvPr/>
        </p:nvSpPr>
        <p:spPr>
          <a:xfrm>
            <a:off x="-330100" y="3788580"/>
            <a:ext cx="5809655" cy="39719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550"/>
              </a:lnSpc>
              <a:buNone/>
            </a:pPr>
            <a:r>
              <a:rPr lang="en-US" sz="1250" dirty="0">
                <a:latin typeface="Source Sans 3" pitchFamily="34" charset="0"/>
                <a:ea typeface="Source Sans 3" pitchFamily="34" charset="-122"/>
                <a:cs typeface="Source Sans 3" pitchFamily="34" charset="-120"/>
              </a:rPr>
              <a:t>Provides continuous measurement of critical parameters like voltage, </a:t>
            </a:r>
            <a:r>
              <a:rPr lang="en-US" sz="1250" dirty="0" smtClean="0">
                <a:latin typeface="Source Sans 3" pitchFamily="34" charset="0"/>
                <a:ea typeface="Source Sans 3" pitchFamily="34" charset="-122"/>
                <a:cs typeface="Source Sans 3" pitchFamily="34" charset="-120"/>
              </a:rPr>
              <a:t>current</a:t>
            </a:r>
          </a:p>
          <a:p>
            <a:pPr marL="0" indent="0" algn="r">
              <a:lnSpc>
                <a:spcPts val="1550"/>
              </a:lnSpc>
              <a:buNone/>
            </a:pPr>
            <a:r>
              <a:rPr lang="en-US" sz="1250" dirty="0" smtClean="0">
                <a:latin typeface="Source Sans 3" pitchFamily="34" charset="0"/>
                <a:ea typeface="Source Sans 3" pitchFamily="34" charset="-122"/>
                <a:cs typeface="Source Sans 3" pitchFamily="34" charset="-120"/>
              </a:rPr>
              <a:t>,and </a:t>
            </a:r>
            <a:r>
              <a:rPr lang="en-US" sz="1250" dirty="0">
                <a:latin typeface="Source Sans 3" pitchFamily="34" charset="0"/>
                <a:ea typeface="Source Sans 3" pitchFamily="34" charset="-122"/>
                <a:cs typeface="Source Sans 3" pitchFamily="34" charset="-120"/>
              </a:rPr>
              <a:t>power output for immediate insights.</a:t>
            </a:r>
            <a:endParaRPr lang="en-US" sz="1250" dirty="0"/>
          </a:p>
        </p:txBody>
      </p:sp>
      <p:sp>
        <p:nvSpPr>
          <p:cNvPr id="19" name="Shape 15"/>
          <p:cNvSpPr/>
          <p:nvPr/>
        </p:nvSpPr>
        <p:spPr>
          <a:xfrm>
            <a:off x="6098442" y="4385678"/>
            <a:ext cx="320873" cy="22860"/>
          </a:xfrm>
          <a:prstGeom prst="roundRect">
            <a:avLst>
              <a:gd name="adj" fmla="val 105276"/>
            </a:avLst>
          </a:prstGeom>
          <a:solidFill>
            <a:srgbClr val="D8D4D4"/>
          </a:solidFill>
          <a:ln/>
        </p:spPr>
        <p:txBody>
          <a:bodyPr/>
          <a:lstStyle/>
          <a:p>
            <a:endParaRPr lang="en-IN"/>
          </a:p>
        </p:txBody>
      </p:sp>
      <p:sp>
        <p:nvSpPr>
          <p:cNvPr id="20" name="Shape 16"/>
          <p:cNvSpPr/>
          <p:nvPr/>
        </p:nvSpPr>
        <p:spPr>
          <a:xfrm>
            <a:off x="6061175" y="4336982"/>
            <a:ext cx="120252" cy="120253"/>
          </a:xfrm>
          <a:prstGeom prst="roundRect">
            <a:avLst>
              <a:gd name="adj" fmla="val 380198"/>
            </a:avLst>
          </a:prstGeom>
          <a:solidFill>
            <a:srgbClr val="2D2E34"/>
          </a:solidFill>
          <a:ln/>
        </p:spPr>
        <p:txBody>
          <a:bodyPr/>
          <a:lstStyle/>
          <a:p>
            <a:endParaRPr lang="en-IN"/>
          </a:p>
        </p:txBody>
      </p:sp>
      <p:sp>
        <p:nvSpPr>
          <p:cNvPr id="21" name="Text 17"/>
          <p:cNvSpPr/>
          <p:nvPr/>
        </p:nvSpPr>
        <p:spPr>
          <a:xfrm>
            <a:off x="6763050" y="4271855"/>
            <a:ext cx="2128599" cy="22776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750"/>
              </a:lnSpc>
              <a:buNone/>
            </a:pPr>
            <a:r>
              <a:rPr lang="en-US" sz="1400" b="1" dirty="0">
                <a:latin typeface="Montserrat Bold" pitchFamily="34" charset="0"/>
                <a:ea typeface="Montserrat Bold" pitchFamily="34" charset="-122"/>
                <a:cs typeface="Montserrat Bold" pitchFamily="34" charset="-120"/>
              </a:rPr>
              <a:t>Wireless Transmission</a:t>
            </a:r>
            <a:endParaRPr lang="en-US" sz="1400" dirty="0"/>
          </a:p>
        </p:txBody>
      </p:sp>
      <p:sp>
        <p:nvSpPr>
          <p:cNvPr id="22" name="Text 18"/>
          <p:cNvSpPr/>
          <p:nvPr/>
        </p:nvSpPr>
        <p:spPr>
          <a:xfrm>
            <a:off x="6763050" y="4562129"/>
            <a:ext cx="5809655" cy="39719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50"/>
              </a:lnSpc>
              <a:buNone/>
            </a:pPr>
            <a:r>
              <a:rPr lang="en-US" sz="1250" dirty="0">
                <a:latin typeface="Source Sans 3" pitchFamily="34" charset="0"/>
                <a:ea typeface="Source Sans 3" pitchFamily="34" charset="-122"/>
                <a:cs typeface="Source Sans 3" pitchFamily="34" charset="-120"/>
              </a:rPr>
              <a:t>All collected data is transmitted wirelessly to a backend server via Wi-Fi for seamless data flow and accessibility.</a:t>
            </a:r>
            <a:endParaRPr lang="en-US" sz="1250" dirty="0"/>
          </a:p>
        </p:txBody>
      </p:sp>
      <p:sp>
        <p:nvSpPr>
          <p:cNvPr id="23" name="Shape 19"/>
          <p:cNvSpPr/>
          <p:nvPr/>
        </p:nvSpPr>
        <p:spPr>
          <a:xfrm>
            <a:off x="5823290" y="5159227"/>
            <a:ext cx="320873" cy="22860"/>
          </a:xfrm>
          <a:prstGeom prst="roundRect">
            <a:avLst>
              <a:gd name="adj" fmla="val 105276"/>
            </a:avLst>
          </a:prstGeom>
          <a:solidFill>
            <a:srgbClr val="D8D4D4"/>
          </a:solidFill>
          <a:ln/>
        </p:spPr>
        <p:txBody>
          <a:bodyPr/>
          <a:lstStyle/>
          <a:p>
            <a:endParaRPr lang="en-IN"/>
          </a:p>
        </p:txBody>
      </p:sp>
      <p:sp>
        <p:nvSpPr>
          <p:cNvPr id="24" name="Shape 20"/>
          <p:cNvSpPr/>
          <p:nvPr/>
        </p:nvSpPr>
        <p:spPr>
          <a:xfrm>
            <a:off x="6061175" y="5110531"/>
            <a:ext cx="120252" cy="120253"/>
          </a:xfrm>
          <a:prstGeom prst="roundRect">
            <a:avLst>
              <a:gd name="adj" fmla="val 380198"/>
            </a:avLst>
          </a:prstGeom>
          <a:solidFill>
            <a:srgbClr val="2D2E34"/>
          </a:solidFill>
          <a:ln/>
        </p:spPr>
        <p:txBody>
          <a:bodyPr/>
          <a:lstStyle/>
          <a:p>
            <a:endParaRPr lang="en-IN"/>
          </a:p>
        </p:txBody>
      </p:sp>
      <p:sp>
        <p:nvSpPr>
          <p:cNvPr id="25" name="Text 21"/>
          <p:cNvSpPr/>
          <p:nvPr/>
        </p:nvSpPr>
        <p:spPr>
          <a:xfrm>
            <a:off x="3656470" y="5045404"/>
            <a:ext cx="1823084" cy="22776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750"/>
              </a:lnSpc>
              <a:buNone/>
            </a:pPr>
            <a:r>
              <a:rPr lang="en-US" sz="1400" b="1" dirty="0">
                <a:latin typeface="Montserrat Bold" pitchFamily="34" charset="0"/>
                <a:ea typeface="Montserrat Bold" pitchFamily="34" charset="-122"/>
                <a:cs typeface="Montserrat Bold" pitchFamily="34" charset="-120"/>
              </a:rPr>
              <a:t>ML Predictions</a:t>
            </a:r>
            <a:endParaRPr lang="en-US" sz="1400" dirty="0"/>
          </a:p>
        </p:txBody>
      </p:sp>
      <p:sp>
        <p:nvSpPr>
          <p:cNvPr id="26" name="Text 22"/>
          <p:cNvSpPr/>
          <p:nvPr/>
        </p:nvSpPr>
        <p:spPr>
          <a:xfrm>
            <a:off x="-330100" y="5335679"/>
            <a:ext cx="5809655" cy="39719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550"/>
              </a:lnSpc>
              <a:buNone/>
            </a:pPr>
            <a:r>
              <a:rPr lang="en-US" sz="1250" dirty="0">
                <a:latin typeface="Source Sans 3" pitchFamily="34" charset="0"/>
                <a:ea typeface="Source Sans 3" pitchFamily="34" charset="-122"/>
                <a:cs typeface="Source Sans 3" pitchFamily="34" charset="-120"/>
              </a:rPr>
              <a:t>Machine learning regression models are employed to </a:t>
            </a:r>
            <a:r>
              <a:rPr lang="en-US" sz="1250" dirty="0" smtClean="0">
                <a:latin typeface="Source Sans 3" pitchFamily="34" charset="0"/>
                <a:ea typeface="Source Sans 3" pitchFamily="34" charset="-122"/>
                <a:cs typeface="Source Sans 3" pitchFamily="34" charset="-120"/>
              </a:rPr>
              <a:t>accurately</a:t>
            </a:r>
          </a:p>
          <a:p>
            <a:pPr marL="0" indent="0" algn="r">
              <a:lnSpc>
                <a:spcPts val="1550"/>
              </a:lnSpc>
              <a:buNone/>
            </a:pPr>
            <a:r>
              <a:rPr lang="en-US" sz="1250" dirty="0" smtClean="0">
                <a:latin typeface="Source Sans 3" pitchFamily="34" charset="0"/>
                <a:ea typeface="Source Sans 3" pitchFamily="34" charset="-122"/>
                <a:cs typeface="Source Sans 3" pitchFamily="34" charset="-120"/>
              </a:rPr>
              <a:t> </a:t>
            </a:r>
            <a:r>
              <a:rPr lang="en-US" sz="1250" dirty="0">
                <a:latin typeface="Source Sans 3" pitchFamily="34" charset="0"/>
                <a:ea typeface="Source Sans 3" pitchFamily="34" charset="-122"/>
                <a:cs typeface="Source Sans 3" pitchFamily="34" charset="-120"/>
              </a:rPr>
              <a:t>predict future energy generation, enabling proactive energy planning.</a:t>
            </a:r>
            <a:endParaRPr lang="en-US" sz="1250" dirty="0"/>
          </a:p>
        </p:txBody>
      </p:sp>
      <p:sp>
        <p:nvSpPr>
          <p:cNvPr id="27" name="Shape 23"/>
          <p:cNvSpPr/>
          <p:nvPr/>
        </p:nvSpPr>
        <p:spPr>
          <a:xfrm>
            <a:off x="6098442" y="5932776"/>
            <a:ext cx="320873" cy="22860"/>
          </a:xfrm>
          <a:prstGeom prst="roundRect">
            <a:avLst>
              <a:gd name="adj" fmla="val 105276"/>
            </a:avLst>
          </a:prstGeom>
          <a:solidFill>
            <a:srgbClr val="D8D4D4"/>
          </a:solidFill>
          <a:ln/>
        </p:spPr>
        <p:txBody>
          <a:bodyPr/>
          <a:lstStyle/>
          <a:p>
            <a:endParaRPr lang="en-IN"/>
          </a:p>
        </p:txBody>
      </p:sp>
      <p:sp>
        <p:nvSpPr>
          <p:cNvPr id="28" name="Shape 24"/>
          <p:cNvSpPr/>
          <p:nvPr/>
        </p:nvSpPr>
        <p:spPr>
          <a:xfrm>
            <a:off x="6061175" y="5884080"/>
            <a:ext cx="120252" cy="120253"/>
          </a:xfrm>
          <a:prstGeom prst="roundRect">
            <a:avLst>
              <a:gd name="adj" fmla="val 380198"/>
            </a:avLst>
          </a:prstGeom>
          <a:solidFill>
            <a:srgbClr val="2D2E34"/>
          </a:solidFill>
          <a:ln/>
        </p:spPr>
        <p:txBody>
          <a:bodyPr/>
          <a:lstStyle/>
          <a:p>
            <a:endParaRPr lang="en-IN"/>
          </a:p>
        </p:txBody>
      </p:sp>
      <p:sp>
        <p:nvSpPr>
          <p:cNvPr id="29" name="Text 25"/>
          <p:cNvSpPr/>
          <p:nvPr/>
        </p:nvSpPr>
        <p:spPr>
          <a:xfrm>
            <a:off x="6763049" y="5818953"/>
            <a:ext cx="2121337" cy="22776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750"/>
              </a:lnSpc>
              <a:buNone/>
            </a:pPr>
            <a:r>
              <a:rPr lang="en-US" sz="1400" b="1" dirty="0">
                <a:latin typeface="Montserrat Bold" pitchFamily="34" charset="0"/>
                <a:ea typeface="Montserrat Bold" pitchFamily="34" charset="-122"/>
                <a:cs typeface="Montserrat Bold" pitchFamily="34" charset="-120"/>
              </a:rPr>
              <a:t>Interactive Dashboard</a:t>
            </a:r>
            <a:endParaRPr lang="en-US" sz="1400" dirty="0"/>
          </a:p>
        </p:txBody>
      </p:sp>
      <p:sp>
        <p:nvSpPr>
          <p:cNvPr id="30" name="Text 26"/>
          <p:cNvSpPr/>
          <p:nvPr/>
        </p:nvSpPr>
        <p:spPr>
          <a:xfrm>
            <a:off x="6763050" y="6109228"/>
            <a:ext cx="5809655" cy="39719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50"/>
              </a:lnSpc>
              <a:buNone/>
            </a:pPr>
            <a:r>
              <a:rPr lang="en-US" sz="1250" dirty="0">
                <a:latin typeface="Source Sans 3" pitchFamily="34" charset="0"/>
                <a:ea typeface="Source Sans 3" pitchFamily="34" charset="-122"/>
                <a:cs typeface="Source Sans 3" pitchFamily="34" charset="-120"/>
              </a:rPr>
              <a:t>Real-time and predicted energy trends are visualized on an intuitive </a:t>
            </a:r>
            <a:endParaRPr lang="en-US" sz="1250" dirty="0" smtClean="0">
              <a:latin typeface="Source Sans 3" pitchFamily="34" charset="0"/>
              <a:ea typeface="Source Sans 3" pitchFamily="34" charset="-122"/>
              <a:cs typeface="Source Sans 3" pitchFamily="34" charset="-120"/>
            </a:endParaRPr>
          </a:p>
          <a:p>
            <a:pPr marL="0" indent="0" algn="l">
              <a:lnSpc>
                <a:spcPts val="1550"/>
              </a:lnSpc>
              <a:buNone/>
            </a:pPr>
            <a:r>
              <a:rPr lang="en-US" sz="1250" dirty="0" smtClean="0">
                <a:latin typeface="Source Sans 3" pitchFamily="34" charset="0"/>
                <a:ea typeface="Source Sans 3" pitchFamily="34" charset="-122"/>
                <a:cs typeface="Source Sans 3" pitchFamily="34" charset="-120"/>
              </a:rPr>
              <a:t>and </a:t>
            </a:r>
            <a:r>
              <a:rPr lang="en-US" sz="1250" dirty="0">
                <a:latin typeface="Source Sans 3" pitchFamily="34" charset="0"/>
                <a:ea typeface="Source Sans 3" pitchFamily="34" charset="-122"/>
                <a:cs typeface="Source Sans 3" pitchFamily="34" charset="-120"/>
              </a:rPr>
              <a:t>user-friendly dashboard for comprehensive monitoring.</a:t>
            </a:r>
            <a:endParaRPr lang="en-US" sz="1250" dirty="0"/>
          </a:p>
        </p:txBody>
      </p:sp>
    </p:spTree>
    <p:extLst>
      <p:ext uri="{BB962C8B-B14F-4D97-AF65-F5344CB8AC3E}">
        <p14:creationId xmlns:p14="http://schemas.microsoft.com/office/powerpoint/2010/main" val="24014437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3F7B221-54AC-BCA9-2FF3-F3DEA78DE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6F72BBC-6A7C-F5D7-7492-AA2E83060D96}"/>
              </a:ext>
            </a:extLst>
          </p:cNvPr>
          <p:cNvSpPr>
            <a:spLocks noGrp="1"/>
          </p:cNvSpPr>
          <p:nvPr>
            <p:ph type="title"/>
          </p:nvPr>
        </p:nvSpPr>
        <p:spPr>
          <a:xfrm>
            <a:off x="1294361" y="122663"/>
            <a:ext cx="9879161" cy="914400"/>
          </a:xfrm>
        </p:spPr>
        <p:txBody>
          <a:bodyPr>
            <a:normAutofit/>
          </a:bodyPr>
          <a:lstStyle/>
          <a:p>
            <a:r>
              <a:rPr lang="en-IN" dirty="0">
                <a:solidFill>
                  <a:schemeClr val="tx1"/>
                </a:solidFill>
              </a:rPr>
              <a:t>Architecture Diagram</a:t>
            </a:r>
          </a:p>
        </p:txBody>
      </p:sp>
      <p:sp>
        <p:nvSpPr>
          <p:cNvPr id="3" name="Content Placeholder 2"/>
          <p:cNvSpPr>
            <a:spLocks noGrp="1"/>
          </p:cNvSpPr>
          <p:nvPr>
            <p:ph idx="1"/>
          </p:nvPr>
        </p:nvSpPr>
        <p:spPr/>
        <p:txBody>
          <a:bodyPr/>
          <a:lstStyle/>
          <a:p>
            <a:endParaRPr lang="en-IN"/>
          </a:p>
        </p:txBody>
      </p:sp>
      <p:sp>
        <p:nvSpPr>
          <p:cNvPr id="6" name="AutoShape 4" descr="AI generated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descr="C:\Users\VishnuSwathi\Downloads\SUNLIGH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285963" cy="691038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 y="533400"/>
            <a:ext cx="12285962" cy="646331"/>
          </a:xfrm>
          <a:prstGeom prst="rect">
            <a:avLst/>
          </a:prstGeom>
          <a:noFill/>
        </p:spPr>
        <p:txBody>
          <a:bodyPr wrap="square" rtlCol="0">
            <a:spAutoFit/>
          </a:bodyPr>
          <a:lstStyle/>
          <a:p>
            <a:pPr algn="ctr"/>
            <a:r>
              <a:rPr lang="en-US" b="1" spc="300" dirty="0">
                <a:solidFill>
                  <a:srgbClr val="3D3838"/>
                </a:solidFill>
                <a:latin typeface="Montserrat Bold" pitchFamily="34" charset="0"/>
                <a:ea typeface="Montserrat Bold" pitchFamily="34" charset="-122"/>
                <a:cs typeface="Montserrat Bold" pitchFamily="34" charset="-120"/>
              </a:rPr>
              <a:t>SYSTEM ARCHITECTURE</a:t>
            </a:r>
            <a:endParaRPr lang="en-US" spc="300" dirty="0"/>
          </a:p>
          <a:p>
            <a:pPr algn="ctr"/>
            <a:endParaRPr lang="en-IN" dirty="0"/>
          </a:p>
        </p:txBody>
      </p:sp>
    </p:spTree>
    <p:extLst>
      <p:ext uri="{BB962C8B-B14F-4D97-AF65-F5344CB8AC3E}">
        <p14:creationId xmlns:p14="http://schemas.microsoft.com/office/powerpoint/2010/main" val="23334615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1DD9449-A927-4095-E8CE-3C52BF6C67A5}"/>
            </a:ext>
          </a:extLst>
        </p:cNvPr>
        <p:cNvGrpSpPr/>
        <p:nvPr/>
      </p:nvGrpSpPr>
      <p:grpSpPr>
        <a:xfrm>
          <a:off x="0" y="0"/>
          <a:ext cx="0" cy="0"/>
          <a:chOff x="0" y="0"/>
          <a:chExt cx="0" cy="0"/>
        </a:xfrm>
      </p:grpSpPr>
      <p:sp>
        <p:nvSpPr>
          <p:cNvPr id="6" name="Title 5"/>
          <p:cNvSpPr>
            <a:spLocks noGrp="1"/>
          </p:cNvSpPr>
          <p:nvPr>
            <p:ph type="title"/>
          </p:nvPr>
        </p:nvSpPr>
        <p:spPr>
          <a:xfrm>
            <a:off x="2231136" y="50800"/>
            <a:ext cx="7729728" cy="1188720"/>
          </a:xfrm>
        </p:spPr>
        <p:txBody>
          <a:bodyPr>
            <a:normAutofit fontScale="90000"/>
          </a:bodyPr>
          <a:lstStyle/>
          <a:p>
            <a:r>
              <a:rPr lang="en-US" b="1" spc="300" dirty="0" smtClean="0">
                <a:solidFill>
                  <a:schemeClr val="tx1"/>
                </a:solidFill>
                <a:ea typeface="Montserrat Bold" pitchFamily="34" charset="-122"/>
                <a:cs typeface="Montserrat Bold" pitchFamily="34" charset="-120"/>
              </a:rPr>
              <a:t/>
            </a:r>
            <a:br>
              <a:rPr lang="en-US" b="1" spc="300" dirty="0" smtClean="0">
                <a:solidFill>
                  <a:schemeClr val="tx1"/>
                </a:solidFill>
                <a:ea typeface="Montserrat Bold" pitchFamily="34" charset="-122"/>
                <a:cs typeface="Montserrat Bold" pitchFamily="34" charset="-120"/>
              </a:rPr>
            </a:br>
            <a:r>
              <a:rPr lang="en-US" b="1" spc="300" dirty="0" smtClean="0">
                <a:solidFill>
                  <a:schemeClr val="tx1"/>
                </a:solidFill>
                <a:ea typeface="Montserrat Bold" pitchFamily="34" charset="-122"/>
                <a:cs typeface="Montserrat Bold" pitchFamily="34" charset="-120"/>
              </a:rPr>
              <a:t>SYSTEM </a:t>
            </a:r>
            <a:r>
              <a:rPr lang="en-US" b="1" spc="300" dirty="0">
                <a:solidFill>
                  <a:schemeClr val="tx1"/>
                </a:solidFill>
                <a:ea typeface="Montserrat Bold" pitchFamily="34" charset="-122"/>
                <a:cs typeface="Montserrat Bold" pitchFamily="34" charset="-120"/>
              </a:rPr>
              <a:t>REQUIREMENTS</a:t>
            </a:r>
            <a:r>
              <a:rPr lang="en-US" spc="300" dirty="0">
                <a:solidFill>
                  <a:schemeClr val="tx1"/>
                </a:solidFill>
              </a:rPr>
              <a:t/>
            </a:r>
            <a:br>
              <a:rPr lang="en-US" spc="300" dirty="0">
                <a:solidFill>
                  <a:schemeClr val="tx1"/>
                </a:solidFill>
              </a:rPr>
            </a:br>
            <a:endParaRPr lang="en-IN" dirty="0">
              <a:solidFill>
                <a:schemeClr val="tx1"/>
              </a:solidFill>
            </a:endParaRPr>
          </a:p>
        </p:txBody>
      </p:sp>
      <p:graphicFrame>
        <p:nvGraphicFramePr>
          <p:cNvPr id="28" name="Content Placeholder 27"/>
          <p:cNvGraphicFramePr>
            <a:graphicFrameLocks noGrp="1"/>
          </p:cNvGraphicFramePr>
          <p:nvPr>
            <p:ph idx="1"/>
            <p:extLst>
              <p:ext uri="{D42A27DB-BD31-4B8C-83A1-F6EECF244321}">
                <p14:modId xmlns:p14="http://schemas.microsoft.com/office/powerpoint/2010/main" val="4000129564"/>
              </p:ext>
            </p:extLst>
          </p:nvPr>
        </p:nvGraphicFramePr>
        <p:xfrm>
          <a:off x="647700" y="1752601"/>
          <a:ext cx="10857126" cy="4754426"/>
        </p:xfrm>
        <a:graphic>
          <a:graphicData uri="http://schemas.openxmlformats.org/drawingml/2006/table">
            <a:tbl>
              <a:tblPr>
                <a:tableStyleId>{284E427A-3D55-4303-BF80-6455036E1DE7}</a:tableStyleId>
              </a:tblPr>
              <a:tblGrid>
                <a:gridCol w="5428563"/>
                <a:gridCol w="5428563"/>
              </a:tblGrid>
              <a:tr h="284564">
                <a:tc>
                  <a:txBody>
                    <a:bodyPr/>
                    <a:lstStyle/>
                    <a:p>
                      <a:pPr algn="ctr"/>
                      <a:r>
                        <a:rPr lang="en-IN" sz="1600" dirty="0" smtClean="0"/>
                        <a:t>Hardware</a:t>
                      </a:r>
                      <a:endParaRPr lang="en-IN" sz="1600" dirty="0"/>
                    </a:p>
                  </a:txBody>
                  <a:tcPr marL="51700" marR="51700" marT="25850" marB="25850" anchor="ctr"/>
                </a:tc>
                <a:tc>
                  <a:txBody>
                    <a:bodyPr/>
                    <a:lstStyle/>
                    <a:p>
                      <a:pPr algn="ctr"/>
                      <a:r>
                        <a:rPr lang="en-IN" sz="1600" dirty="0" smtClean="0"/>
                        <a:t>Software</a:t>
                      </a:r>
                      <a:endParaRPr lang="en-IN" sz="1600" dirty="0"/>
                    </a:p>
                  </a:txBody>
                  <a:tcPr marL="51700" marR="51700" marT="25850" marB="25850" anchor="ctr"/>
                </a:tc>
              </a:tr>
              <a:tr h="562041">
                <a:tc>
                  <a:txBody>
                    <a:bodyPr/>
                    <a:lstStyle/>
                    <a:p>
                      <a:r>
                        <a:rPr lang="en-IN" sz="1800" smtClean="0"/>
                        <a:t>Solar</a:t>
                      </a:r>
                      <a:r>
                        <a:rPr lang="en-IN" sz="1600" smtClean="0"/>
                        <a:t> Panel – Efficient energy capture</a:t>
                      </a:r>
                      <a:endParaRPr lang="en-IN" sz="1600" dirty="0"/>
                    </a:p>
                  </a:txBody>
                  <a:tcPr marL="51700" marR="51700" marT="25850" marB="25850" anchor="ctr"/>
                </a:tc>
                <a:tc>
                  <a:txBody>
                    <a:bodyPr/>
                    <a:lstStyle/>
                    <a:p>
                      <a:r>
                        <a:rPr lang="en-US" sz="1600" smtClean="0"/>
                        <a:t>Arduino IDE / ESP32 – Integrated programming environment</a:t>
                      </a:r>
                      <a:endParaRPr lang="en-US" sz="1600"/>
                    </a:p>
                  </a:txBody>
                  <a:tcPr marL="51700" marR="51700" marT="25850" marB="25850" anchor="ctr"/>
                </a:tc>
              </a:tr>
              <a:tr h="695371">
                <a:tc>
                  <a:txBody>
                    <a:bodyPr/>
                    <a:lstStyle/>
                    <a:p>
                      <a:r>
                        <a:rPr lang="en-IN" sz="1600" smtClean="0"/>
                        <a:t>ESP32 Microcontroller – Central to data processing and control</a:t>
                      </a:r>
                      <a:endParaRPr lang="en-IN" sz="1600"/>
                    </a:p>
                  </a:txBody>
                  <a:tcPr marL="51700" marR="51700" marT="25850" marB="25850" anchor="ctr"/>
                </a:tc>
                <a:tc>
                  <a:txBody>
                    <a:bodyPr/>
                    <a:lstStyle/>
                    <a:p>
                      <a:r>
                        <a:rPr lang="en-IN" sz="1600" smtClean="0"/>
                        <a:t>Python – ML model development</a:t>
                      </a:r>
                      <a:endParaRPr lang="en-IN" sz="1600"/>
                    </a:p>
                  </a:txBody>
                  <a:tcPr marL="51700" marR="51700" marT="25850" marB="25850" anchor="ctr"/>
                </a:tc>
              </a:tr>
              <a:tr h="562041">
                <a:tc>
                  <a:txBody>
                    <a:bodyPr/>
                    <a:lstStyle/>
                    <a:p>
                      <a:r>
                        <a:rPr lang="en-US" sz="1600" smtClean="0"/>
                        <a:t>LDRs (Light Dependent Resistors) – Detect sunlight intensity</a:t>
                      </a:r>
                      <a:endParaRPr lang="en-US" sz="1600" dirty="0"/>
                    </a:p>
                  </a:txBody>
                  <a:tcPr marL="51700" marR="51700" marT="25850" marB="25850" anchor="ctr"/>
                </a:tc>
                <a:tc>
                  <a:txBody>
                    <a:bodyPr/>
                    <a:lstStyle/>
                    <a:p>
                      <a:r>
                        <a:rPr lang="en-US" sz="1600" smtClean="0"/>
                        <a:t>ML Libraries (Scikit-learn, Pandas) – Data analysis</a:t>
                      </a:r>
                      <a:endParaRPr lang="en-US" sz="1600"/>
                    </a:p>
                  </a:txBody>
                  <a:tcPr marL="51700" marR="51700" marT="25850" marB="25850" anchor="ctr"/>
                </a:tc>
              </a:tr>
              <a:tr h="519348">
                <a:tc>
                  <a:txBody>
                    <a:bodyPr/>
                    <a:lstStyle/>
                    <a:p>
                      <a:r>
                        <a:rPr lang="en-US" sz="1600" smtClean="0"/>
                        <a:t>Servo Motor – Enables precise panel adjustment</a:t>
                      </a:r>
                      <a:endParaRPr lang="en-US" sz="1600" dirty="0"/>
                    </a:p>
                  </a:txBody>
                  <a:tcPr marL="51700" marR="51700" marT="25850" marB="25850" anchor="ctr"/>
                </a:tc>
                <a:tc>
                  <a:txBody>
                    <a:bodyPr/>
                    <a:lstStyle/>
                    <a:p>
                      <a:r>
                        <a:rPr lang="it-IT" sz="1600" smtClean="0"/>
                        <a:t>Database (MySQL / Firebase) – Secure data storage</a:t>
                      </a:r>
                      <a:endParaRPr lang="it-IT" sz="1600" dirty="0"/>
                    </a:p>
                  </a:txBody>
                  <a:tcPr marL="51700" marR="51700" marT="25850" marB="25850" anchor="ctr"/>
                </a:tc>
              </a:tr>
              <a:tr h="562041">
                <a:tc>
                  <a:txBody>
                    <a:bodyPr/>
                    <a:lstStyle/>
                    <a:p>
                      <a:r>
                        <a:rPr lang="en-IN" sz="1600" smtClean="0"/>
                        <a:t>Sensors – Accurate voltage and current monitoring</a:t>
                      </a:r>
                      <a:endParaRPr lang="en-IN" sz="1600"/>
                    </a:p>
                  </a:txBody>
                  <a:tcPr marL="51700" marR="51700" marT="25850" marB="25850" anchor="ctr"/>
                </a:tc>
                <a:tc>
                  <a:txBody>
                    <a:bodyPr/>
                    <a:lstStyle/>
                    <a:p>
                      <a:r>
                        <a:rPr lang="en-US" sz="1600" smtClean="0"/>
                        <a:t>Web Dashboard – Interactive data visualization and user interface</a:t>
                      </a:r>
                      <a:endParaRPr lang="en-US" sz="1600"/>
                    </a:p>
                  </a:txBody>
                  <a:tcPr marL="51700" marR="51700" marT="25850" marB="25850" anchor="ctr"/>
                </a:tc>
              </a:tr>
              <a:tr h="519348">
                <a:tc>
                  <a:txBody>
                    <a:bodyPr/>
                    <a:lstStyle/>
                    <a:p>
                      <a:r>
                        <a:rPr lang="en-IN" sz="1800" b="0" kern="1200" dirty="0" smtClean="0">
                          <a:solidFill>
                            <a:schemeClr val="dk1"/>
                          </a:solidFill>
                          <a:effectLst/>
                          <a:latin typeface="Arial" pitchFamily="34" charset="0"/>
                          <a:ea typeface="+mn-ea"/>
                          <a:cs typeface="Arial" pitchFamily="34" charset="0"/>
                        </a:rPr>
                        <a:t>Buck Converter</a:t>
                      </a:r>
                      <a:endParaRPr lang="en-US" sz="1600" b="0" dirty="0">
                        <a:latin typeface="Arial" pitchFamily="34" charset="0"/>
                        <a:cs typeface="Arial" pitchFamily="34" charset="0"/>
                      </a:endParaRPr>
                    </a:p>
                  </a:txBody>
                  <a:tcPr marL="51700" marR="51700" marT="25850" marB="25850" anchor="ctr"/>
                </a:tc>
                <a:tc>
                  <a:txBody>
                    <a:bodyPr/>
                    <a:lstStyle/>
                    <a:p>
                      <a:endParaRPr lang="en-IN" sz="1600"/>
                    </a:p>
                  </a:txBody>
                  <a:tcPr marL="51700" marR="51700" marT="25850" marB="25850" anchor="ctr"/>
                </a:tc>
              </a:tr>
              <a:tr h="519348">
                <a:tc>
                  <a:txBody>
                    <a:bodyPr/>
                    <a:lstStyle/>
                    <a:p>
                      <a:r>
                        <a:rPr lang="en-US" sz="1600" dirty="0" smtClean="0">
                          <a:latin typeface="Arial" pitchFamily="34" charset="0"/>
                          <a:cs typeface="Arial" pitchFamily="34" charset="0"/>
                        </a:rPr>
                        <a:t>Power Supply – Continuous system operation</a:t>
                      </a:r>
                      <a:endParaRPr lang="en-US" sz="1600" dirty="0">
                        <a:latin typeface="Arial" pitchFamily="34" charset="0"/>
                        <a:cs typeface="Arial" pitchFamily="34" charset="0"/>
                      </a:endParaRPr>
                    </a:p>
                  </a:txBody>
                  <a:tcPr marL="51700" marR="51700" marT="25850" marB="25850" anchor="ctr"/>
                </a:tc>
                <a:tc>
                  <a:txBody>
                    <a:bodyPr/>
                    <a:lstStyle/>
                    <a:p>
                      <a:endParaRPr lang="en-IN" sz="1600"/>
                    </a:p>
                  </a:txBody>
                  <a:tcPr marL="51700" marR="51700" marT="25850" marB="25850" anchor="ctr"/>
                </a:tc>
              </a:tr>
              <a:tr h="519348">
                <a:tc>
                  <a:txBody>
                    <a:bodyPr/>
                    <a:lstStyle/>
                    <a:p>
                      <a:r>
                        <a:rPr lang="en-US" sz="1600" smtClean="0"/>
                        <a:t>Mounting Structure – Stable physical support</a:t>
                      </a:r>
                      <a:endParaRPr lang="en-US" sz="1600"/>
                    </a:p>
                  </a:txBody>
                  <a:tcPr marL="51700" marR="51700" marT="25850" marB="25850" anchor="ctr"/>
                </a:tc>
                <a:tc>
                  <a:txBody>
                    <a:bodyPr/>
                    <a:lstStyle/>
                    <a:p>
                      <a:endParaRPr lang="en-IN" sz="1600" dirty="0"/>
                    </a:p>
                  </a:txBody>
                  <a:tcPr marL="51700" marR="51700" marT="25850" marB="25850" anchor="ctr"/>
                </a:tc>
              </a:tr>
            </a:tbl>
          </a:graphicData>
        </a:graphic>
      </p:graphicFrame>
    </p:spTree>
    <p:extLst>
      <p:ext uri="{BB962C8B-B14F-4D97-AF65-F5344CB8AC3E}">
        <p14:creationId xmlns:p14="http://schemas.microsoft.com/office/powerpoint/2010/main" val="30277964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Hardware simulation</a:t>
            </a:r>
            <a:endParaRPr lang="en-IN" b="1"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81025" y="2332113"/>
            <a:ext cx="3871627" cy="4189738"/>
          </a:xfrm>
          <a:prstGeom prst="rect">
            <a:avLst/>
          </a:prstGeom>
          <a:ln w="38100" cap="sq">
            <a:noFill/>
            <a:prstDash val="solid"/>
            <a:miter lim="800000"/>
          </a:ln>
          <a:effectLst>
            <a:outerShdw blurRad="50800" dist="38100" dir="2700000" algn="tl" rotWithShape="0">
              <a:srgbClr val="000000">
                <a:alpha val="43000"/>
              </a:srgbClr>
            </a:outerShdw>
          </a:effectLst>
        </p:spPr>
      </p:pic>
      <p:graphicFrame>
        <p:nvGraphicFramePr>
          <p:cNvPr id="6" name="Table 5"/>
          <p:cNvGraphicFramePr>
            <a:graphicFrameLocks noGrp="1"/>
          </p:cNvGraphicFramePr>
          <p:nvPr>
            <p:extLst>
              <p:ext uri="{D42A27DB-BD31-4B8C-83A1-F6EECF244321}">
                <p14:modId xmlns:p14="http://schemas.microsoft.com/office/powerpoint/2010/main" val="61785515"/>
              </p:ext>
            </p:extLst>
          </p:nvPr>
        </p:nvGraphicFramePr>
        <p:xfrm>
          <a:off x="4831450" y="2673380"/>
          <a:ext cx="7227200" cy="3694318"/>
        </p:xfrm>
        <a:graphic>
          <a:graphicData uri="http://schemas.openxmlformats.org/drawingml/2006/table">
            <a:tbl>
              <a:tblPr>
                <a:tableStyleId>{69C7853C-536D-4A76-A0AE-DD22124D55A5}</a:tableStyleId>
              </a:tblPr>
              <a:tblGrid>
                <a:gridCol w="2988576"/>
                <a:gridCol w="4238624"/>
              </a:tblGrid>
              <a:tr h="0">
                <a:tc>
                  <a:txBody>
                    <a:bodyPr/>
                    <a:lstStyle/>
                    <a:p>
                      <a:pPr algn="ctr"/>
                      <a:r>
                        <a:rPr lang="en-IN" sz="1200" dirty="0" smtClean="0"/>
                        <a:t> </a:t>
                      </a:r>
                      <a:r>
                        <a:rPr lang="en-IN" sz="1200" dirty="0"/>
                        <a:t>Category</a:t>
                      </a:r>
                    </a:p>
                  </a:txBody>
                  <a:tcPr marL="58528" marR="58528" marT="29264" marB="29264" anchor="ctr"/>
                </a:tc>
                <a:tc>
                  <a:txBody>
                    <a:bodyPr/>
                    <a:lstStyle/>
                    <a:p>
                      <a:pPr algn="ctr"/>
                      <a:r>
                        <a:rPr lang="en-IN" sz="1200" dirty="0" smtClean="0"/>
                        <a:t> </a:t>
                      </a:r>
                      <a:r>
                        <a:rPr lang="en-IN" sz="1200" dirty="0"/>
                        <a:t>Description</a:t>
                      </a:r>
                    </a:p>
                  </a:txBody>
                  <a:tcPr marL="58528" marR="58528" marT="29264" marB="29264" anchor="ctr"/>
                </a:tc>
              </a:tr>
              <a:tr h="1334121">
                <a:tc>
                  <a:txBody>
                    <a:bodyPr/>
                    <a:lstStyle/>
                    <a:p>
                      <a:pPr algn="ctr"/>
                      <a:r>
                        <a:rPr lang="en-IN" sz="1200" dirty="0" smtClean="0"/>
                        <a:t>Key </a:t>
                      </a:r>
                      <a:r>
                        <a:rPr lang="en-IN" sz="1200" dirty="0"/>
                        <a:t>Features</a:t>
                      </a:r>
                    </a:p>
                  </a:txBody>
                  <a:tcPr marL="58528" marR="58528" marT="29264" marB="29264" anchor="ctr"/>
                </a:tc>
                <a:tc>
                  <a:txBody>
                    <a:bodyPr/>
                    <a:lstStyle/>
                    <a:p>
                      <a:r>
                        <a:rPr lang="en-IN" sz="1200" dirty="0"/>
                        <a:t>• Real-time sunlight detection using LDR sensors </a:t>
                      </a:r>
                      <a:endParaRPr lang="en-IN" sz="1200" dirty="0" smtClean="0"/>
                    </a:p>
                    <a:p>
                      <a:r>
                        <a:rPr lang="en-IN" sz="1200" dirty="0" smtClean="0"/>
                        <a:t>• </a:t>
                      </a:r>
                      <a:r>
                        <a:rPr lang="en-IN" sz="1200" dirty="0"/>
                        <a:t>Automatic panel alignment using servo motor </a:t>
                      </a:r>
                      <a:endParaRPr lang="en-IN" sz="1200" dirty="0" smtClean="0"/>
                    </a:p>
                    <a:p>
                      <a:r>
                        <a:rPr lang="en-IN" sz="1200" dirty="0" smtClean="0"/>
                        <a:t>• </a:t>
                      </a:r>
                      <a:r>
                        <a:rPr lang="en-IN" sz="1200" dirty="0"/>
                        <a:t>Microcontroller-based intelligent control </a:t>
                      </a:r>
                      <a:endParaRPr lang="en-IN" sz="1200" dirty="0" smtClean="0"/>
                    </a:p>
                    <a:p>
                      <a:r>
                        <a:rPr lang="en-IN" sz="1200" dirty="0" smtClean="0"/>
                        <a:t>• </a:t>
                      </a:r>
                      <a:r>
                        <a:rPr lang="en-IN" sz="1200" dirty="0"/>
                        <a:t>Live monitoring via LCD display</a:t>
                      </a:r>
                    </a:p>
                  </a:txBody>
                  <a:tcPr marL="58528" marR="58528" marT="29264" marB="29264" anchor="ctr"/>
                </a:tc>
              </a:tr>
              <a:tr h="706263">
                <a:tc>
                  <a:txBody>
                    <a:bodyPr/>
                    <a:lstStyle/>
                    <a:p>
                      <a:pPr algn="ctr"/>
                      <a:r>
                        <a:rPr lang="en-IN" sz="1200" dirty="0" smtClean="0"/>
                        <a:t> </a:t>
                      </a:r>
                      <a:r>
                        <a:rPr lang="en-IN" sz="1200" dirty="0"/>
                        <a:t>Performance</a:t>
                      </a:r>
                    </a:p>
                  </a:txBody>
                  <a:tcPr marL="58528" marR="58528" marT="29264" marB="29264" anchor="ctr"/>
                </a:tc>
                <a:tc>
                  <a:txBody>
                    <a:bodyPr/>
                    <a:lstStyle/>
                    <a:p>
                      <a:r>
                        <a:rPr lang="en-US" sz="1200" dirty="0"/>
                        <a:t>• Fast and accurate light </a:t>
                      </a:r>
                      <a:r>
                        <a:rPr lang="en-US" sz="1200" dirty="0" smtClean="0"/>
                        <a:t>tracking</a:t>
                      </a:r>
                    </a:p>
                    <a:p>
                      <a:r>
                        <a:rPr lang="en-US" sz="1200" dirty="0" smtClean="0"/>
                        <a:t> </a:t>
                      </a:r>
                      <a:r>
                        <a:rPr lang="en-US" sz="1200" dirty="0"/>
                        <a:t>• Higher efficiency than fixed panels </a:t>
                      </a:r>
                      <a:endParaRPr lang="en-US" sz="1200" dirty="0" smtClean="0"/>
                    </a:p>
                    <a:p>
                      <a:r>
                        <a:rPr lang="en-US" sz="1200" dirty="0" smtClean="0"/>
                        <a:t>• </a:t>
                      </a:r>
                      <a:r>
                        <a:rPr lang="en-US" sz="1200" dirty="0"/>
                        <a:t>Stable and reliable operation</a:t>
                      </a:r>
                    </a:p>
                  </a:txBody>
                  <a:tcPr marL="58528" marR="58528" marT="29264" marB="29264" anchor="ctr"/>
                </a:tc>
              </a:tr>
              <a:tr h="706263">
                <a:tc>
                  <a:txBody>
                    <a:bodyPr/>
                    <a:lstStyle/>
                    <a:p>
                      <a:pPr algn="ctr"/>
                      <a:r>
                        <a:rPr lang="en-IN" sz="1200" dirty="0" smtClean="0"/>
                        <a:t> </a:t>
                      </a:r>
                      <a:r>
                        <a:rPr lang="en-IN" sz="1200" dirty="0"/>
                        <a:t>Power &amp; Design</a:t>
                      </a:r>
                    </a:p>
                  </a:txBody>
                  <a:tcPr marL="58528" marR="58528" marT="29264" marB="29264" anchor="ctr"/>
                </a:tc>
                <a:tc>
                  <a:txBody>
                    <a:bodyPr/>
                    <a:lstStyle/>
                    <a:p>
                      <a:r>
                        <a:rPr lang="en-US" sz="1200" dirty="0"/>
                        <a:t>• Battery-backed power supply </a:t>
                      </a:r>
                      <a:endParaRPr lang="en-US" sz="1200" dirty="0" smtClean="0"/>
                    </a:p>
                    <a:p>
                      <a:r>
                        <a:rPr lang="en-US" sz="1200" dirty="0" smtClean="0"/>
                        <a:t>• </a:t>
                      </a:r>
                      <a:r>
                        <a:rPr lang="en-US" sz="1200" dirty="0"/>
                        <a:t>Voltage regulation for </a:t>
                      </a:r>
                      <a:r>
                        <a:rPr lang="en-US" sz="1200" dirty="0" smtClean="0"/>
                        <a:t>safety</a:t>
                      </a:r>
                    </a:p>
                    <a:p>
                      <a:r>
                        <a:rPr lang="en-US" sz="1200" dirty="0" smtClean="0"/>
                        <a:t>• </a:t>
                      </a:r>
                      <a:r>
                        <a:rPr lang="en-US" sz="1200" dirty="0"/>
                        <a:t>Compact and cost-effective design</a:t>
                      </a:r>
                    </a:p>
                  </a:txBody>
                  <a:tcPr marL="58528" marR="58528" marT="29264" marB="29264" anchor="ctr"/>
                </a:tc>
              </a:tr>
              <a:tr h="706263">
                <a:tc>
                  <a:txBody>
                    <a:bodyPr/>
                    <a:lstStyle/>
                    <a:p>
                      <a:pPr algn="ctr"/>
                      <a:r>
                        <a:rPr lang="en-IN" sz="1200" dirty="0" smtClean="0"/>
                        <a:t> </a:t>
                      </a:r>
                      <a:r>
                        <a:rPr lang="en-IN" sz="1200" dirty="0"/>
                        <a:t>Outcome</a:t>
                      </a:r>
                    </a:p>
                  </a:txBody>
                  <a:tcPr marL="58528" marR="58528" marT="29264" marB="29264" anchor="ctr"/>
                </a:tc>
                <a:tc>
                  <a:txBody>
                    <a:bodyPr/>
                    <a:lstStyle/>
                    <a:p>
                      <a:r>
                        <a:rPr lang="en-IN" sz="1200" dirty="0"/>
                        <a:t>• Validates system design </a:t>
                      </a:r>
                      <a:endParaRPr lang="en-IN" sz="1200" dirty="0" smtClean="0"/>
                    </a:p>
                    <a:p>
                      <a:r>
                        <a:rPr lang="en-IN" sz="1200" dirty="0" smtClean="0"/>
                        <a:t>• </a:t>
                      </a:r>
                      <a:r>
                        <a:rPr lang="en-IN" sz="1200" dirty="0"/>
                        <a:t>Proves practical feasibility </a:t>
                      </a:r>
                      <a:endParaRPr lang="en-IN" sz="1200" dirty="0" smtClean="0"/>
                    </a:p>
                    <a:p>
                      <a:r>
                        <a:rPr lang="en-IN" sz="1200" dirty="0" smtClean="0"/>
                        <a:t>• </a:t>
                      </a:r>
                      <a:r>
                        <a:rPr lang="en-IN" sz="1200" dirty="0"/>
                        <a:t>Enhances solar energy utilization</a:t>
                      </a:r>
                    </a:p>
                  </a:txBody>
                  <a:tcPr marL="58528" marR="58528" marT="29264" marB="29264" anchor="ctr"/>
                </a:tc>
              </a:tr>
            </a:tbl>
          </a:graphicData>
        </a:graphic>
      </p:graphicFrame>
    </p:spTree>
    <p:extLst>
      <p:ext uri="{BB962C8B-B14F-4D97-AF65-F5344CB8AC3E}">
        <p14:creationId xmlns:p14="http://schemas.microsoft.com/office/powerpoint/2010/main" val="262071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A7344BB-CB6F-D70C-ACA7-8F3BE40545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ABA5796-9B81-0EFE-62D9-7A642D80FC2B}"/>
              </a:ext>
            </a:extLst>
          </p:cNvPr>
          <p:cNvSpPr>
            <a:spLocks noGrp="1"/>
          </p:cNvSpPr>
          <p:nvPr>
            <p:ph type="title"/>
          </p:nvPr>
        </p:nvSpPr>
        <p:spPr>
          <a:xfrm>
            <a:off x="1294361" y="122663"/>
            <a:ext cx="9879161" cy="914400"/>
          </a:xfrm>
        </p:spPr>
        <p:txBody>
          <a:bodyPr>
            <a:normAutofit/>
          </a:bodyPr>
          <a:lstStyle/>
          <a:p>
            <a:r>
              <a:rPr lang="en-IN" dirty="0">
                <a:solidFill>
                  <a:schemeClr val="tx1"/>
                </a:solidFill>
              </a:rPr>
              <a:t>Module descriptions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5788705"/>
              </p:ext>
            </p:extLst>
          </p:nvPr>
        </p:nvGraphicFramePr>
        <p:xfrm>
          <a:off x="1254547" y="1335314"/>
          <a:ext cx="10033938" cy="5369611"/>
        </p:xfrm>
        <a:graphic>
          <a:graphicData uri="http://schemas.openxmlformats.org/drawingml/2006/table">
            <a:tbl>
              <a:tblPr>
                <a:tableStyleId>{284E427A-3D55-4303-BF80-6455036E1DE7}</a:tableStyleId>
              </a:tblPr>
              <a:tblGrid>
                <a:gridCol w="5016969"/>
                <a:gridCol w="5016969"/>
              </a:tblGrid>
              <a:tr h="338183">
                <a:tc>
                  <a:txBody>
                    <a:bodyPr/>
                    <a:lstStyle/>
                    <a:p>
                      <a:pPr algn="ctr"/>
                      <a:r>
                        <a:rPr lang="en-IN" sz="1800" dirty="0"/>
                        <a:t>Module</a:t>
                      </a:r>
                    </a:p>
                  </a:txBody>
                  <a:tcPr marL="90222" marR="90222" marT="45111" marB="45111" anchor="ctr"/>
                </a:tc>
                <a:tc>
                  <a:txBody>
                    <a:bodyPr/>
                    <a:lstStyle/>
                    <a:p>
                      <a:pPr algn="ctr"/>
                      <a:r>
                        <a:rPr lang="en-IN" sz="1800" dirty="0"/>
                        <a:t>Function</a:t>
                      </a:r>
                    </a:p>
                  </a:txBody>
                  <a:tcPr marL="90222" marR="90222" marT="45111" marB="45111" anchor="ctr"/>
                </a:tc>
              </a:tr>
              <a:tr h="1199572">
                <a:tc>
                  <a:txBody>
                    <a:bodyPr/>
                    <a:lstStyle/>
                    <a:p>
                      <a:r>
                        <a:rPr lang="en-IN" sz="1800"/>
                        <a:t>Solar Tracking Module</a:t>
                      </a:r>
                    </a:p>
                  </a:txBody>
                  <a:tcPr marL="90222" marR="90222" marT="45111" marB="45111" anchor="ctr"/>
                </a:tc>
                <a:tc>
                  <a:txBody>
                    <a:bodyPr/>
                    <a:lstStyle/>
                    <a:p>
                      <a:r>
                        <a:rPr lang="en-US" sz="1800"/>
                        <a:t>Uses LDR sensors and a servo motor to align the solar panel for maximum sunlight exposure.</a:t>
                      </a:r>
                    </a:p>
                  </a:txBody>
                  <a:tcPr marL="90222" marR="90222" marT="45111" marB="45111" anchor="ctr"/>
                </a:tc>
              </a:tr>
              <a:tr h="1055545">
                <a:tc>
                  <a:txBody>
                    <a:bodyPr/>
                    <a:lstStyle/>
                    <a:p>
                      <a:r>
                        <a:rPr lang="en-IN" sz="1800" dirty="0"/>
                        <a:t>Data Acquisition Module</a:t>
                      </a:r>
                    </a:p>
                  </a:txBody>
                  <a:tcPr marL="90222" marR="90222" marT="45111" marB="45111" anchor="ctr"/>
                </a:tc>
                <a:tc>
                  <a:txBody>
                    <a:bodyPr/>
                    <a:lstStyle/>
                    <a:p>
                      <a:r>
                        <a:rPr lang="en-US" sz="1800" dirty="0"/>
                        <a:t>Measures voltage, current, and power output from the solar panel, providing raw data.</a:t>
                      </a:r>
                    </a:p>
                  </a:txBody>
                  <a:tcPr marL="90222" marR="90222" marT="45111" marB="45111" anchor="ctr"/>
                </a:tc>
              </a:tr>
              <a:tr h="1055545">
                <a:tc>
                  <a:txBody>
                    <a:bodyPr/>
                    <a:lstStyle/>
                    <a:p>
                      <a:r>
                        <a:rPr lang="en-IN" sz="1800" dirty="0" err="1"/>
                        <a:t>IoT</a:t>
                      </a:r>
                      <a:r>
                        <a:rPr lang="en-IN" sz="1800" dirty="0"/>
                        <a:t> Communication Module</a:t>
                      </a:r>
                    </a:p>
                  </a:txBody>
                  <a:tcPr marL="90222" marR="90222" marT="45111" marB="45111" anchor="ctr"/>
                </a:tc>
                <a:tc>
                  <a:txBody>
                    <a:bodyPr/>
                    <a:lstStyle/>
                    <a:p>
                      <a:r>
                        <a:rPr lang="en-US" sz="1800" dirty="0"/>
                        <a:t>Transmits acquired data securely via Wi-Fi to the backend server for remote monitoring.</a:t>
                      </a:r>
                    </a:p>
                  </a:txBody>
                  <a:tcPr marL="90222" marR="90222" marT="45111" marB="45111" anchor="ctr"/>
                </a:tc>
              </a:tr>
              <a:tr h="1055545">
                <a:tc>
                  <a:txBody>
                    <a:bodyPr/>
                    <a:lstStyle/>
                    <a:p>
                      <a:r>
                        <a:rPr lang="en-IN" sz="1800" dirty="0"/>
                        <a:t>Machine Learning Module</a:t>
                      </a:r>
                    </a:p>
                  </a:txBody>
                  <a:tcPr marL="90222" marR="90222" marT="45111" marB="45111" anchor="ctr"/>
                </a:tc>
                <a:tc>
                  <a:txBody>
                    <a:bodyPr/>
                    <a:lstStyle/>
                    <a:p>
                      <a:r>
                        <a:rPr lang="en-US" sz="1800"/>
                        <a:t>Analyzes historical and real-time data with algorithms to predict future energy generation.</a:t>
                      </a:r>
                    </a:p>
                  </a:txBody>
                  <a:tcPr marL="90222" marR="90222" marT="45111" marB="45111" anchor="ctr"/>
                </a:tc>
              </a:tr>
              <a:tr h="592668">
                <a:tc>
                  <a:txBody>
                    <a:bodyPr/>
                    <a:lstStyle/>
                    <a:p>
                      <a:r>
                        <a:rPr lang="en-IN" sz="1800"/>
                        <a:t>Visualization Module</a:t>
                      </a:r>
                    </a:p>
                  </a:txBody>
                  <a:tcPr marL="90222" marR="90222" marT="45111" marB="45111" anchor="ctr"/>
                </a:tc>
                <a:tc>
                  <a:txBody>
                    <a:bodyPr/>
                    <a:lstStyle/>
                    <a:p>
                      <a:r>
                        <a:rPr lang="en-US" sz="1800" dirty="0"/>
                        <a:t>Displays real-time data and predictive insights through an interactive dashboard.</a:t>
                      </a:r>
                    </a:p>
                  </a:txBody>
                  <a:tcPr marL="90222" marR="90222" marT="45111" marB="45111" anchor="ctr"/>
                </a:tc>
              </a:tr>
            </a:tbl>
          </a:graphicData>
        </a:graphic>
      </p:graphicFrame>
    </p:spTree>
    <p:extLst>
      <p:ext uri="{BB962C8B-B14F-4D97-AF65-F5344CB8AC3E}">
        <p14:creationId xmlns:p14="http://schemas.microsoft.com/office/powerpoint/2010/main" val="4103928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32418F-F51F-A980-AB5F-B5A1F0E7C653}"/>
            </a:ext>
          </a:extLst>
        </p:cNvPr>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DFD DIAGRAM</a:t>
            </a:r>
            <a:endParaRPr lang="en-IN" dirty="0"/>
          </a:p>
        </p:txBody>
      </p:sp>
      <p:sp>
        <p:nvSpPr>
          <p:cNvPr id="23" name="Text 2"/>
          <p:cNvSpPr/>
          <p:nvPr/>
        </p:nvSpPr>
        <p:spPr>
          <a:xfrm>
            <a:off x="1696401" y="245293"/>
            <a:ext cx="9319504" cy="56090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4400"/>
              </a:lnSpc>
              <a:buNone/>
            </a:pPr>
            <a:r>
              <a:rPr lang="en-US" sz="3500" b="1" spc="300" dirty="0">
                <a:latin typeface="Aptos Display" panose="020B0004020202020204" pitchFamily="34" charset="0"/>
                <a:ea typeface="Montserrat Bold" pitchFamily="34" charset="-122"/>
                <a:cs typeface="Montserrat Bold" pitchFamily="34" charset="-120"/>
              </a:rPr>
              <a:t>SENSOR DATA ACQUISITION MODULE</a:t>
            </a:r>
            <a:endParaRPr lang="en-US" sz="3500" spc="300" dirty="0">
              <a:latin typeface="Aptos Display" panose="020B0004020202020204" pitchFamily="34" charset="0"/>
            </a:endParaRPr>
          </a:p>
        </p:txBody>
      </p:sp>
      <p:pic>
        <p:nvPicPr>
          <p:cNvPr id="31" name="Picture 30">
            <a:extLst>
              <a:ext uri="{FF2B5EF4-FFF2-40B4-BE49-F238E27FC236}">
                <a16:creationId xmlns:a16="http://schemas.microsoft.com/office/drawing/2014/main" xmlns:lc="http://schemas.openxmlformats.org/drawingml/2006/lockedCanvas" xmlns="" id="{60616D61-BABC-2355-062D-F22279226DBF}"/>
              </a:ext>
            </a:extLst>
          </p:cNvPr>
          <p:cNvPicPr>
            <a:picLocks noChangeAspect="1"/>
          </p:cNvPicPr>
          <p:nvPr/>
        </p:nvPicPr>
        <p:blipFill>
          <a:blip r:embed="rId2"/>
          <a:stretch>
            <a:fillRect/>
          </a:stretch>
        </p:blipFill>
        <p:spPr>
          <a:xfrm>
            <a:off x="2118410" y="2309773"/>
            <a:ext cx="8897495" cy="4917341"/>
          </a:xfrm>
          <a:prstGeom prst="rect">
            <a:avLst/>
          </a:prstGeom>
        </p:spPr>
      </p:pic>
      <p:pic>
        <p:nvPicPr>
          <p:cNvPr id="32" name="Picture 31">
            <a:extLst>
              <a:ext uri="{FF2B5EF4-FFF2-40B4-BE49-F238E27FC236}">
                <a16:creationId xmlns:a16="http://schemas.microsoft.com/office/drawing/2014/main" xmlns:lc="http://schemas.openxmlformats.org/drawingml/2006/lockedCanvas" xmlns="" id="{BA4AB1F7-273B-1487-B780-AA2895DB7AA1}"/>
              </a:ext>
            </a:extLst>
          </p:cNvPr>
          <p:cNvPicPr>
            <a:picLocks noChangeAspect="1"/>
          </p:cNvPicPr>
          <p:nvPr/>
        </p:nvPicPr>
        <p:blipFill>
          <a:blip r:embed="rId3"/>
          <a:stretch>
            <a:fillRect/>
          </a:stretch>
        </p:blipFill>
        <p:spPr>
          <a:xfrm>
            <a:off x="7965326" y="6407044"/>
            <a:ext cx="3050579" cy="901911"/>
          </a:xfrm>
          <a:prstGeom prst="rect">
            <a:avLst/>
          </a:prstGeom>
        </p:spPr>
      </p:pic>
      <p:pic>
        <p:nvPicPr>
          <p:cNvPr id="33" name="Picture 32">
            <a:extLst>
              <a:ext uri="{FF2B5EF4-FFF2-40B4-BE49-F238E27FC236}">
                <a16:creationId xmlns:a16="http://schemas.microsoft.com/office/drawing/2014/main" xmlns:lc="http://schemas.openxmlformats.org/drawingml/2006/lockedCanvas" xmlns="" id="{01FBC4CA-D545-9AB2-1742-60B40498CD36}"/>
              </a:ext>
            </a:extLst>
          </p:cNvPr>
          <p:cNvPicPr>
            <a:picLocks noChangeAspect="1"/>
          </p:cNvPicPr>
          <p:nvPr/>
        </p:nvPicPr>
        <p:blipFill>
          <a:blip r:embed="rId4"/>
          <a:stretch>
            <a:fillRect/>
          </a:stretch>
        </p:blipFill>
        <p:spPr>
          <a:xfrm>
            <a:off x="2708728" y="4533817"/>
            <a:ext cx="764604" cy="234627"/>
          </a:xfrm>
          <a:prstGeom prst="rect">
            <a:avLst/>
          </a:prstGeom>
        </p:spPr>
      </p:pic>
      <p:sp>
        <p:nvSpPr>
          <p:cNvPr id="34" name="TextBox 13">
            <a:extLst>
              <a:ext uri="{FF2B5EF4-FFF2-40B4-BE49-F238E27FC236}">
                <a16:creationId xmlns:a16="http://schemas.microsoft.com/office/drawing/2014/main" xmlns:lc="http://schemas.openxmlformats.org/drawingml/2006/lockedCanvas" xmlns="" id="{6CEDF4EF-B3EA-4EDB-15B0-A8FA799E69F5}"/>
              </a:ext>
            </a:extLst>
          </p:cNvPr>
          <p:cNvSpPr txBox="1"/>
          <p:nvPr/>
        </p:nvSpPr>
        <p:spPr>
          <a:xfrm>
            <a:off x="2639999" y="4486862"/>
            <a:ext cx="876009"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solidFill>
                  <a:schemeClr val="bg1"/>
                </a:solidFill>
              </a:rPr>
              <a:t>Battery</a:t>
            </a:r>
            <a:endParaRPr lang="en-IN" dirty="0">
              <a:solidFill>
                <a:schemeClr val="bg1"/>
              </a:solidFill>
            </a:endParaRPr>
          </a:p>
        </p:txBody>
      </p:sp>
      <p:pic>
        <p:nvPicPr>
          <p:cNvPr id="35" name="Picture 34">
            <a:extLst>
              <a:ext uri="{FF2B5EF4-FFF2-40B4-BE49-F238E27FC236}">
                <a16:creationId xmlns:a16="http://schemas.microsoft.com/office/drawing/2014/main" xmlns:lc="http://schemas.openxmlformats.org/drawingml/2006/lockedCanvas" xmlns="" id="{70FC11D0-1117-A19C-509A-0EA11E58E38C}"/>
              </a:ext>
            </a:extLst>
          </p:cNvPr>
          <p:cNvPicPr>
            <a:picLocks noChangeAspect="1"/>
          </p:cNvPicPr>
          <p:nvPr/>
        </p:nvPicPr>
        <p:blipFill>
          <a:blip r:embed="rId5"/>
          <a:stretch>
            <a:fillRect/>
          </a:stretch>
        </p:blipFill>
        <p:spPr>
          <a:xfrm>
            <a:off x="2757339" y="3990620"/>
            <a:ext cx="571566" cy="183447"/>
          </a:xfrm>
          <a:prstGeom prst="rect">
            <a:avLst/>
          </a:prstGeom>
        </p:spPr>
      </p:pic>
    </p:spTree>
    <p:extLst>
      <p:ext uri="{BB962C8B-B14F-4D97-AF65-F5344CB8AC3E}">
        <p14:creationId xmlns:p14="http://schemas.microsoft.com/office/powerpoint/2010/main" val="9712960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80CC9EF-965A-31A7-A505-E0BCCC5BEE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9FDB1DE-45DC-B879-BBE4-6CA597260BED}"/>
              </a:ext>
            </a:extLst>
          </p:cNvPr>
          <p:cNvSpPr>
            <a:spLocks noGrp="1"/>
          </p:cNvSpPr>
          <p:nvPr>
            <p:ph type="title"/>
          </p:nvPr>
        </p:nvSpPr>
        <p:spPr>
          <a:xfrm>
            <a:off x="1294361" y="122663"/>
            <a:ext cx="9879161" cy="914400"/>
          </a:xfrm>
        </p:spPr>
        <p:txBody>
          <a:bodyPr>
            <a:normAutofit/>
          </a:bodyPr>
          <a:lstStyle/>
          <a:p>
            <a:r>
              <a:rPr lang="en-IN" dirty="0">
                <a:solidFill>
                  <a:schemeClr val="tx1"/>
                </a:solidFill>
              </a:rPr>
              <a:t>UML diagrams</a:t>
            </a:r>
          </a:p>
        </p:txBody>
      </p:sp>
      <p:sp>
        <p:nvSpPr>
          <p:cNvPr id="6" name="Text 5"/>
          <p:cNvSpPr/>
          <p:nvPr/>
        </p:nvSpPr>
        <p:spPr>
          <a:xfrm>
            <a:off x="7403329" y="2169438"/>
            <a:ext cx="3369940" cy="35063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2750"/>
              </a:lnSpc>
              <a:buNone/>
            </a:pPr>
            <a:r>
              <a:rPr lang="en-US" sz="2400" b="1" dirty="0">
                <a:latin typeface="Montserrat Bold" pitchFamily="34" charset="0"/>
                <a:ea typeface="Montserrat Bold" pitchFamily="34" charset="-122"/>
                <a:cs typeface="Montserrat Bold" pitchFamily="34" charset="-120"/>
              </a:rPr>
              <a:t>Use Case Diagram</a:t>
            </a:r>
            <a:endParaRPr lang="en-US" sz="2400" dirty="0"/>
          </a:p>
        </p:txBody>
      </p:sp>
      <p:sp>
        <p:nvSpPr>
          <p:cNvPr id="7" name="Text 6"/>
          <p:cNvSpPr/>
          <p:nvPr/>
        </p:nvSpPr>
        <p:spPr>
          <a:xfrm>
            <a:off x="7403328" y="2634517"/>
            <a:ext cx="3581756" cy="1110496"/>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2900"/>
              </a:lnSpc>
              <a:buNone/>
            </a:pPr>
            <a:r>
              <a:rPr lang="en-US" sz="2000" dirty="0">
                <a:latin typeface="Source Sans 3" pitchFamily="34" charset="0"/>
                <a:ea typeface="Source Sans 3" pitchFamily="34" charset="-122"/>
                <a:cs typeface="Source Sans 3" pitchFamily="34" charset="-120"/>
              </a:rPr>
              <a:t>Illustrates user interactions: monitor energy, track panel, view predictions.</a:t>
            </a:r>
            <a:endParaRPr lang="en-US" sz="2000" dirty="0"/>
          </a:p>
        </p:txBody>
      </p:sp>
      <p:sp>
        <p:nvSpPr>
          <p:cNvPr id="8" name="Text 11"/>
          <p:cNvSpPr/>
          <p:nvPr/>
        </p:nvSpPr>
        <p:spPr>
          <a:xfrm>
            <a:off x="757191" y="2182355"/>
            <a:ext cx="2804875" cy="35063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2750"/>
              </a:lnSpc>
              <a:buNone/>
            </a:pPr>
            <a:r>
              <a:rPr lang="en-US" sz="2400" b="1" dirty="0">
                <a:latin typeface="Montserrat Bold" pitchFamily="34" charset="0"/>
                <a:ea typeface="Montserrat Bold" pitchFamily="34" charset="-122"/>
                <a:cs typeface="Montserrat Bold" pitchFamily="34" charset="-120"/>
              </a:rPr>
              <a:t>Sequence Diagram</a:t>
            </a:r>
            <a:endParaRPr lang="en-US" sz="2400" dirty="0"/>
          </a:p>
        </p:txBody>
      </p:sp>
      <p:sp>
        <p:nvSpPr>
          <p:cNvPr id="9" name="Text 12"/>
          <p:cNvSpPr/>
          <p:nvPr/>
        </p:nvSpPr>
        <p:spPr>
          <a:xfrm>
            <a:off x="757193" y="2680989"/>
            <a:ext cx="3581756" cy="740331"/>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2900"/>
              </a:lnSpc>
              <a:buNone/>
            </a:pPr>
            <a:r>
              <a:rPr lang="en-US" sz="2000" dirty="0">
                <a:latin typeface="Source Sans 3" pitchFamily="34" charset="0"/>
                <a:ea typeface="Source Sans 3" pitchFamily="34" charset="-122"/>
                <a:cs typeface="Source Sans 3" pitchFamily="34" charset="-120"/>
              </a:rPr>
              <a:t>Flow of operations: Sensors → ESP32 → Cloud → ML → Dashboard.</a:t>
            </a:r>
            <a:endParaRPr lang="en-US" sz="2000" dirty="0"/>
          </a:p>
        </p:txBody>
      </p:sp>
      <p:sp>
        <p:nvSpPr>
          <p:cNvPr id="10" name="Text 17"/>
          <p:cNvSpPr/>
          <p:nvPr/>
        </p:nvSpPr>
        <p:spPr>
          <a:xfrm>
            <a:off x="4287555" y="4271844"/>
            <a:ext cx="2804875" cy="35063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2750"/>
              </a:lnSpc>
              <a:buNone/>
            </a:pPr>
            <a:r>
              <a:rPr lang="en-US" sz="2400" b="1" dirty="0">
                <a:latin typeface="Montserrat Bold" pitchFamily="34" charset="0"/>
                <a:ea typeface="Montserrat Bold" pitchFamily="34" charset="-122"/>
                <a:cs typeface="Montserrat Bold" pitchFamily="34" charset="-120"/>
              </a:rPr>
              <a:t>Class Diagram</a:t>
            </a:r>
            <a:endParaRPr lang="en-US" sz="2400" dirty="0"/>
          </a:p>
        </p:txBody>
      </p:sp>
      <p:sp>
        <p:nvSpPr>
          <p:cNvPr id="11" name="Text 18"/>
          <p:cNvSpPr/>
          <p:nvPr/>
        </p:nvSpPr>
        <p:spPr>
          <a:xfrm>
            <a:off x="4287556" y="4770478"/>
            <a:ext cx="3581756" cy="1480661"/>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2900"/>
              </a:lnSpc>
              <a:buNone/>
            </a:pPr>
            <a:r>
              <a:rPr lang="en-US" sz="2000" dirty="0">
                <a:latin typeface="Source Sans 3" pitchFamily="34" charset="0"/>
                <a:ea typeface="Source Sans 3" pitchFamily="34" charset="-122"/>
                <a:cs typeface="Source Sans 3" pitchFamily="34" charset="-120"/>
              </a:rPr>
              <a:t>Defines system entities: LDR Sensor, Power Sensor, ESP32, Servo Motor, ML Model, Dashboard.</a:t>
            </a:r>
            <a:endParaRPr lang="en-US" sz="2000" dirty="0"/>
          </a:p>
        </p:txBody>
      </p:sp>
    </p:spTree>
    <p:extLst>
      <p:ext uri="{BB962C8B-B14F-4D97-AF65-F5344CB8AC3E}">
        <p14:creationId xmlns:p14="http://schemas.microsoft.com/office/powerpoint/2010/main" val="26653641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5">
            <a:extLst>
              <a:ext uri="{FF2B5EF4-FFF2-40B4-BE49-F238E27FC236}">
                <a16:creationId xmlns:a16="http://schemas.microsoft.com/office/drawing/2014/main" xmlns="" id="{64756D04-D6E3-DBB5-2E67-9E6DE1C3FA51}"/>
              </a:ext>
            </a:extLst>
          </p:cNvPr>
          <p:cNvSpPr/>
          <p:nvPr/>
        </p:nvSpPr>
        <p:spPr>
          <a:xfrm>
            <a:off x="4206877" y="1412976"/>
            <a:ext cx="4193182" cy="925413"/>
          </a:xfrm>
          <a:prstGeom prst="rect">
            <a:avLst/>
          </a:prstGeom>
          <a:noFill/>
          <a:ln/>
        </p:spPr>
        <p:txBody>
          <a:bodyPr wrap="none" lIns="0" tIns="0" rIns="0" bIns="0" rtlCol="0" anchor="t"/>
          <a:lstStyle/>
          <a:p>
            <a:pPr>
              <a:lnSpc>
                <a:spcPts val="2292"/>
              </a:lnSpc>
            </a:pPr>
            <a:endParaRPr lang="en-US" sz="1700" spc="250" dirty="0"/>
          </a:p>
        </p:txBody>
      </p:sp>
      <p:sp>
        <p:nvSpPr>
          <p:cNvPr id="5" name="Text 6">
            <a:extLst>
              <a:ext uri="{FF2B5EF4-FFF2-40B4-BE49-F238E27FC236}">
                <a16:creationId xmlns:a16="http://schemas.microsoft.com/office/drawing/2014/main" xmlns="" id="{F4653ADC-2193-8364-766C-D8B7EE12BE50}"/>
              </a:ext>
            </a:extLst>
          </p:cNvPr>
          <p:cNvSpPr/>
          <p:nvPr/>
        </p:nvSpPr>
        <p:spPr>
          <a:xfrm>
            <a:off x="559331" y="3485060"/>
            <a:ext cx="3801004" cy="925413"/>
          </a:xfrm>
          <a:prstGeom prst="rect">
            <a:avLst/>
          </a:prstGeom>
          <a:noFill/>
          <a:ln/>
        </p:spPr>
        <p:txBody>
          <a:bodyPr wrap="square" lIns="0" tIns="0" rIns="0" bIns="0" rtlCol="0" anchor="t"/>
          <a:lstStyle/>
          <a:p>
            <a:endParaRPr lang="en-IN" sz="1700" dirty="0"/>
          </a:p>
        </p:txBody>
      </p:sp>
      <p:pic>
        <p:nvPicPr>
          <p:cNvPr id="6" name="Picture 5">
            <a:extLst>
              <a:ext uri="{FF2B5EF4-FFF2-40B4-BE49-F238E27FC236}">
                <a16:creationId xmlns:a16="http://schemas.microsoft.com/office/drawing/2014/main" xmlns="" id="{AA2950D3-EA53-8F2F-2E3E-22FA2BB680F1}"/>
              </a:ext>
            </a:extLst>
          </p:cNvPr>
          <p:cNvPicPr>
            <a:picLocks noChangeAspect="1"/>
          </p:cNvPicPr>
          <p:nvPr/>
        </p:nvPicPr>
        <p:blipFill>
          <a:blip r:embed="rId2"/>
          <a:stretch>
            <a:fillRect/>
          </a:stretch>
        </p:blipFill>
        <p:spPr>
          <a:xfrm>
            <a:off x="10561898" y="6340843"/>
            <a:ext cx="1563906" cy="458476"/>
          </a:xfrm>
          <a:prstGeom prst="rect">
            <a:avLst/>
          </a:prstGeom>
        </p:spPr>
      </p:pic>
      <p:pic>
        <p:nvPicPr>
          <p:cNvPr id="8" name="Picture 7">
            <a:extLst>
              <a:ext uri="{FF2B5EF4-FFF2-40B4-BE49-F238E27FC236}">
                <a16:creationId xmlns:a16="http://schemas.microsoft.com/office/drawing/2014/main" xmlns="" id="{ED12656D-F347-4FC4-6CF6-99EBD3A86CFA}"/>
              </a:ext>
            </a:extLst>
          </p:cNvPr>
          <p:cNvPicPr>
            <a:picLocks noChangeAspect="1"/>
          </p:cNvPicPr>
          <p:nvPr/>
        </p:nvPicPr>
        <p:blipFill>
          <a:blip r:embed="rId3"/>
          <a:stretch>
            <a:fillRect/>
          </a:stretch>
        </p:blipFill>
        <p:spPr>
          <a:xfrm>
            <a:off x="4405129" y="26633"/>
            <a:ext cx="7786873" cy="6799318"/>
          </a:xfrm>
          <a:prstGeom prst="rect">
            <a:avLst/>
          </a:prstGeom>
        </p:spPr>
      </p:pic>
      <p:pic>
        <p:nvPicPr>
          <p:cNvPr id="9" name="Picture 8">
            <a:extLst>
              <a:ext uri="{FF2B5EF4-FFF2-40B4-BE49-F238E27FC236}">
                <a16:creationId xmlns:a16="http://schemas.microsoft.com/office/drawing/2014/main" xmlns="" id="{45B48CC7-2DEC-EF04-450F-B3B916921637}"/>
              </a:ext>
            </a:extLst>
          </p:cNvPr>
          <p:cNvPicPr>
            <a:picLocks noChangeAspect="1"/>
          </p:cNvPicPr>
          <p:nvPr/>
        </p:nvPicPr>
        <p:blipFill>
          <a:blip r:embed="rId4"/>
          <a:stretch>
            <a:fillRect/>
          </a:stretch>
        </p:blipFill>
        <p:spPr>
          <a:xfrm>
            <a:off x="10437262" y="6309092"/>
            <a:ext cx="1688540" cy="416442"/>
          </a:xfrm>
          <a:prstGeom prst="rect">
            <a:avLst/>
          </a:prstGeom>
        </p:spPr>
      </p:pic>
      <p:sp>
        <p:nvSpPr>
          <p:cNvPr id="15" name="TextBox 14">
            <a:extLst>
              <a:ext uri="{FF2B5EF4-FFF2-40B4-BE49-F238E27FC236}">
                <a16:creationId xmlns:a16="http://schemas.microsoft.com/office/drawing/2014/main" xmlns="" id="{DC47D628-3DE6-8A25-1863-C5F71C11BC16}"/>
              </a:ext>
            </a:extLst>
          </p:cNvPr>
          <p:cNvSpPr txBox="1"/>
          <p:nvPr/>
        </p:nvSpPr>
        <p:spPr>
          <a:xfrm>
            <a:off x="-588169" y="230883"/>
            <a:ext cx="6096000" cy="371893"/>
          </a:xfrm>
          <a:prstGeom prst="rect">
            <a:avLst/>
          </a:prstGeom>
          <a:noFill/>
        </p:spPr>
        <p:txBody>
          <a:bodyPr wrap="square" lIns="76197" tIns="38098" rIns="76197" bIns="38098">
            <a:spAutoFit/>
          </a:bodyPr>
          <a:lstStyle/>
          <a:p>
            <a:pPr algn="ctr">
              <a:lnSpc>
                <a:spcPts val="2292"/>
              </a:lnSpc>
            </a:pPr>
            <a:r>
              <a:rPr lang="en-US" sz="1700" b="1" spc="250" dirty="0">
                <a:latin typeface="Montserrat Bold" pitchFamily="34" charset="0"/>
                <a:ea typeface="Montserrat Bold" pitchFamily="34" charset="-122"/>
                <a:cs typeface="Montserrat Bold" pitchFamily="34" charset="-120"/>
              </a:rPr>
              <a:t>SEQUENCE DIAGRAM</a:t>
            </a:r>
            <a:endParaRPr lang="en-US" sz="1700" spc="250" dirty="0"/>
          </a:p>
        </p:txBody>
      </p:sp>
      <p:sp>
        <p:nvSpPr>
          <p:cNvPr id="17" name="TextBox 16">
            <a:extLst>
              <a:ext uri="{FF2B5EF4-FFF2-40B4-BE49-F238E27FC236}">
                <a16:creationId xmlns:a16="http://schemas.microsoft.com/office/drawing/2014/main" xmlns="" id="{6F4F464D-8B95-6D74-FC79-677BD82C5EEC}"/>
              </a:ext>
            </a:extLst>
          </p:cNvPr>
          <p:cNvSpPr txBox="1"/>
          <p:nvPr/>
        </p:nvSpPr>
        <p:spPr>
          <a:xfrm>
            <a:off x="262122" y="721675"/>
            <a:ext cx="4098212" cy="5893917"/>
          </a:xfrm>
          <a:prstGeom prst="rect">
            <a:avLst/>
          </a:prstGeom>
          <a:noFill/>
        </p:spPr>
        <p:txBody>
          <a:bodyPr wrap="square" lIns="76197" tIns="38098" rIns="76197" bIns="38098">
            <a:spAutoFit/>
          </a:bodyPr>
          <a:lstStyle/>
          <a:p>
            <a:pPr algn="ctr">
              <a:buNone/>
            </a:pPr>
            <a:r>
              <a:rPr lang="en-US" b="1" dirty="0">
                <a:latin typeface="Montserrat Bold" pitchFamily="2" charset="0"/>
              </a:rPr>
              <a:t>System Workflow</a:t>
            </a:r>
          </a:p>
          <a:p>
            <a:pPr algn="ctr">
              <a:buNone/>
            </a:pPr>
            <a:endParaRPr lang="en-US" b="1" dirty="0"/>
          </a:p>
          <a:p>
            <a:pPr>
              <a:buFont typeface="Arial" panose="020B0604020202020204" pitchFamily="34" charset="0"/>
              <a:buChar char="•"/>
            </a:pPr>
            <a:r>
              <a:rPr lang="en-US" dirty="0"/>
              <a:t>Sensors collect sunlight and electrical data.</a:t>
            </a:r>
          </a:p>
          <a:p>
            <a:pPr>
              <a:buFont typeface="Arial" panose="020B0604020202020204" pitchFamily="34" charset="0"/>
              <a:buChar char="•"/>
            </a:pPr>
            <a:endParaRPr lang="en-US" dirty="0"/>
          </a:p>
          <a:p>
            <a:pPr>
              <a:buFont typeface="Arial" panose="020B0604020202020204" pitchFamily="34" charset="0"/>
              <a:buChar char="•"/>
            </a:pPr>
            <a:r>
              <a:rPr lang="en-US" dirty="0"/>
              <a:t>ESP32 processes readings and sends data to the cloud.</a:t>
            </a:r>
          </a:p>
          <a:p>
            <a:pPr>
              <a:buFont typeface="Arial" panose="020B0604020202020204" pitchFamily="34" charset="0"/>
              <a:buChar char="•"/>
            </a:pPr>
            <a:endParaRPr lang="en-US" dirty="0"/>
          </a:p>
          <a:p>
            <a:pPr>
              <a:buFont typeface="Arial" panose="020B0604020202020204" pitchFamily="34" charset="0"/>
              <a:buChar char="•"/>
            </a:pPr>
            <a:r>
              <a:rPr lang="en-US" dirty="0"/>
              <a:t>Cloud stores data and updates the dashboard.</a:t>
            </a:r>
          </a:p>
          <a:p>
            <a:pPr>
              <a:buFont typeface="Arial" panose="020B0604020202020204" pitchFamily="34" charset="0"/>
              <a:buChar char="•"/>
            </a:pPr>
            <a:endParaRPr lang="en-US" dirty="0"/>
          </a:p>
          <a:p>
            <a:pPr>
              <a:buFont typeface="Arial" panose="020B0604020202020204" pitchFamily="34" charset="0"/>
              <a:buChar char="•"/>
            </a:pPr>
            <a:r>
              <a:rPr lang="en-US" dirty="0"/>
              <a:t>Cloud requests ML service for energy prediction.</a:t>
            </a:r>
          </a:p>
          <a:p>
            <a:pPr>
              <a:buFont typeface="Arial" panose="020B0604020202020204" pitchFamily="34" charset="0"/>
              <a:buChar char="•"/>
            </a:pPr>
            <a:endParaRPr lang="en-US" dirty="0"/>
          </a:p>
          <a:p>
            <a:pPr>
              <a:buFont typeface="Arial" panose="020B0604020202020204" pitchFamily="34" charset="0"/>
              <a:buChar char="•"/>
            </a:pPr>
            <a:r>
              <a:rPr lang="en-US" dirty="0"/>
              <a:t>ML service returns prediction results to the cloud.</a:t>
            </a:r>
          </a:p>
          <a:p>
            <a:pPr>
              <a:buFont typeface="Arial" panose="020B0604020202020204" pitchFamily="34" charset="0"/>
              <a:buChar char="•"/>
            </a:pPr>
            <a:endParaRPr lang="en-US" dirty="0"/>
          </a:p>
          <a:p>
            <a:pPr>
              <a:buFont typeface="Arial" panose="020B0604020202020204" pitchFamily="34" charset="0"/>
              <a:buChar char="•"/>
            </a:pPr>
            <a:r>
              <a:rPr lang="en-US" dirty="0"/>
              <a:t>Dashboard displays real-time data and predictions to the user.</a:t>
            </a:r>
          </a:p>
          <a:p>
            <a:pPr>
              <a:buFont typeface="Arial" panose="020B0604020202020204" pitchFamily="34" charset="0"/>
              <a:buChar char="•"/>
            </a:pPr>
            <a:endParaRPr lang="en-US" dirty="0"/>
          </a:p>
          <a:p>
            <a:pPr>
              <a:buFont typeface="Arial" panose="020B0604020202020204" pitchFamily="34" charset="0"/>
              <a:buChar char="•"/>
            </a:pPr>
            <a:r>
              <a:rPr lang="en-US" dirty="0"/>
              <a:t>Errors are logged and user is notified.</a:t>
            </a:r>
          </a:p>
        </p:txBody>
      </p:sp>
    </p:spTree>
    <p:extLst>
      <p:ext uri="{BB962C8B-B14F-4D97-AF65-F5344CB8AC3E}">
        <p14:creationId xmlns:p14="http://schemas.microsoft.com/office/powerpoint/2010/main" val="19659289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43CACE71-9FA7-AC27-63CD-8A9DECC97B62}"/>
              </a:ext>
            </a:extLst>
          </p:cNvPr>
          <p:cNvSpPr txBox="1"/>
          <p:nvPr/>
        </p:nvSpPr>
        <p:spPr>
          <a:xfrm>
            <a:off x="0" y="182156"/>
            <a:ext cx="12192000" cy="666845"/>
          </a:xfrm>
          <a:prstGeom prst="rect">
            <a:avLst/>
          </a:prstGeom>
          <a:noFill/>
        </p:spPr>
        <p:txBody>
          <a:bodyPr wrap="square" lIns="76197" tIns="38098" rIns="76197" bIns="38098">
            <a:spAutoFit/>
          </a:bodyPr>
          <a:lstStyle/>
          <a:p>
            <a:pPr algn="ctr">
              <a:lnSpc>
                <a:spcPts val="2292"/>
              </a:lnSpc>
            </a:pPr>
            <a:r>
              <a:rPr lang="en-US" sz="1700" b="1" spc="250" dirty="0">
                <a:latin typeface="Montserrat Bold" pitchFamily="34" charset="0"/>
                <a:ea typeface="Montserrat Bold" pitchFamily="34" charset="-122"/>
                <a:cs typeface="Montserrat Bold" pitchFamily="34" charset="-120"/>
              </a:rPr>
              <a:t>USE CASE DIAGRAM</a:t>
            </a:r>
            <a:endParaRPr lang="en-US" sz="1700" spc="250" dirty="0"/>
          </a:p>
          <a:p>
            <a:pPr algn="ctr">
              <a:lnSpc>
                <a:spcPts val="2292"/>
              </a:lnSpc>
            </a:pPr>
            <a:endParaRPr lang="en-US" sz="1700" spc="250" dirty="0"/>
          </a:p>
        </p:txBody>
      </p:sp>
      <p:pic>
        <p:nvPicPr>
          <p:cNvPr id="3" name="Picture 2">
            <a:extLst>
              <a:ext uri="{FF2B5EF4-FFF2-40B4-BE49-F238E27FC236}">
                <a16:creationId xmlns:a16="http://schemas.microsoft.com/office/drawing/2014/main" xmlns="" id="{8C69B9AC-BE64-1B1D-C264-E78FA7326D5E}"/>
              </a:ext>
            </a:extLst>
          </p:cNvPr>
          <p:cNvPicPr>
            <a:picLocks noChangeAspect="1"/>
          </p:cNvPicPr>
          <p:nvPr/>
        </p:nvPicPr>
        <p:blipFill>
          <a:blip r:embed="rId2"/>
          <a:stretch>
            <a:fillRect/>
          </a:stretch>
        </p:blipFill>
        <p:spPr>
          <a:xfrm>
            <a:off x="1168390" y="619943"/>
            <a:ext cx="9855223" cy="5821617"/>
          </a:xfrm>
          <a:prstGeom prst="rect">
            <a:avLst/>
          </a:prstGeom>
        </p:spPr>
      </p:pic>
      <p:sp>
        <p:nvSpPr>
          <p:cNvPr id="5" name="TextBox 4">
            <a:extLst>
              <a:ext uri="{FF2B5EF4-FFF2-40B4-BE49-F238E27FC236}">
                <a16:creationId xmlns:a16="http://schemas.microsoft.com/office/drawing/2014/main" xmlns="" id="{01733129-FDBF-C8A1-04B1-B6FA0AA3BC71}"/>
              </a:ext>
            </a:extLst>
          </p:cNvPr>
          <p:cNvSpPr txBox="1"/>
          <p:nvPr/>
        </p:nvSpPr>
        <p:spPr>
          <a:xfrm>
            <a:off x="1332751" y="6071483"/>
            <a:ext cx="7275447" cy="630938"/>
          </a:xfrm>
          <a:prstGeom prst="rect">
            <a:avLst/>
          </a:prstGeom>
          <a:noFill/>
        </p:spPr>
        <p:txBody>
          <a:bodyPr wrap="none" lIns="76197" tIns="38098" rIns="76197" bIns="38098" rtlCol="0">
            <a:spAutoFit/>
          </a:bodyPr>
          <a:lstStyle/>
          <a:p>
            <a:r>
              <a:rPr lang="en-US" dirty="0">
                <a:solidFill>
                  <a:srgbClr val="3D3838"/>
                </a:solidFill>
                <a:latin typeface="Source Sans 3" pitchFamily="34" charset="0"/>
                <a:ea typeface="Source Sans 3" pitchFamily="34" charset="-122"/>
                <a:cs typeface="Source Sans 3" pitchFamily="34" charset="-120"/>
              </a:rPr>
              <a:t>Flow of operations: Sensors → ESP32 → Cloud → ML → Dashboard.</a:t>
            </a:r>
            <a:endParaRPr lang="en-US" dirty="0"/>
          </a:p>
          <a:p>
            <a:endParaRPr lang="en-IN" dirty="0"/>
          </a:p>
        </p:txBody>
      </p:sp>
      <p:pic>
        <p:nvPicPr>
          <p:cNvPr id="12" name="Picture 11">
            <a:extLst>
              <a:ext uri="{FF2B5EF4-FFF2-40B4-BE49-F238E27FC236}">
                <a16:creationId xmlns:a16="http://schemas.microsoft.com/office/drawing/2014/main" xmlns="" id="{413D49A5-6B78-6993-F648-B6A1A29675A3}"/>
              </a:ext>
            </a:extLst>
          </p:cNvPr>
          <p:cNvPicPr>
            <a:picLocks noChangeAspect="1"/>
          </p:cNvPicPr>
          <p:nvPr/>
        </p:nvPicPr>
        <p:blipFill>
          <a:blip r:embed="rId3"/>
          <a:stretch>
            <a:fillRect/>
          </a:stretch>
        </p:blipFill>
        <p:spPr>
          <a:xfrm>
            <a:off x="9587213" y="5760649"/>
            <a:ext cx="1436398" cy="357238"/>
          </a:xfrm>
          <a:prstGeom prst="rect">
            <a:avLst/>
          </a:prstGeom>
        </p:spPr>
      </p:pic>
    </p:spTree>
    <p:extLst>
      <p:ext uri="{BB962C8B-B14F-4D97-AF65-F5344CB8AC3E}">
        <p14:creationId xmlns:p14="http://schemas.microsoft.com/office/powerpoint/2010/main" val="29938453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DC5B1EB3-8CB9-672D-A6E1-AF6F0A7A507F}"/>
              </a:ext>
            </a:extLst>
          </p:cNvPr>
          <p:cNvPicPr>
            <a:picLocks noChangeAspect="1"/>
          </p:cNvPicPr>
          <p:nvPr/>
        </p:nvPicPr>
        <p:blipFill>
          <a:blip r:embed="rId2"/>
          <a:stretch>
            <a:fillRect/>
          </a:stretch>
        </p:blipFill>
        <p:spPr>
          <a:xfrm>
            <a:off x="1653396" y="55063"/>
            <a:ext cx="9026612" cy="6858000"/>
          </a:xfrm>
          <a:prstGeom prst="rect">
            <a:avLst/>
          </a:prstGeom>
        </p:spPr>
      </p:pic>
      <p:pic>
        <p:nvPicPr>
          <p:cNvPr id="5" name="Picture 4">
            <a:extLst>
              <a:ext uri="{FF2B5EF4-FFF2-40B4-BE49-F238E27FC236}">
                <a16:creationId xmlns:a16="http://schemas.microsoft.com/office/drawing/2014/main" xmlns="" id="{A503B6EC-1F70-33A5-D641-A8B2BE3C5B8B}"/>
              </a:ext>
            </a:extLst>
          </p:cNvPr>
          <p:cNvPicPr>
            <a:picLocks noChangeAspect="1"/>
          </p:cNvPicPr>
          <p:nvPr/>
        </p:nvPicPr>
        <p:blipFill>
          <a:blip r:embed="rId3"/>
          <a:stretch>
            <a:fillRect/>
          </a:stretch>
        </p:blipFill>
        <p:spPr>
          <a:xfrm>
            <a:off x="6559868" y="5853713"/>
            <a:ext cx="4120139" cy="1016142"/>
          </a:xfrm>
          <a:prstGeom prst="rect">
            <a:avLst/>
          </a:prstGeom>
        </p:spPr>
      </p:pic>
      <p:sp>
        <p:nvSpPr>
          <p:cNvPr id="4" name="TextBox 3">
            <a:extLst>
              <a:ext uri="{FF2B5EF4-FFF2-40B4-BE49-F238E27FC236}">
                <a16:creationId xmlns:a16="http://schemas.microsoft.com/office/drawing/2014/main" xmlns="" id="{E8624458-0FDA-8442-4764-9E494123B1E1}"/>
              </a:ext>
            </a:extLst>
          </p:cNvPr>
          <p:cNvSpPr txBox="1"/>
          <p:nvPr/>
        </p:nvSpPr>
        <p:spPr>
          <a:xfrm>
            <a:off x="3118700" y="370641"/>
            <a:ext cx="6096000" cy="371893"/>
          </a:xfrm>
          <a:prstGeom prst="rect">
            <a:avLst/>
          </a:prstGeom>
          <a:noFill/>
        </p:spPr>
        <p:txBody>
          <a:bodyPr wrap="square" lIns="76197" tIns="38098" rIns="76197" bIns="38098">
            <a:spAutoFit/>
          </a:bodyPr>
          <a:lstStyle/>
          <a:p>
            <a:pPr algn="ctr">
              <a:lnSpc>
                <a:spcPts val="2292"/>
              </a:lnSpc>
            </a:pPr>
            <a:r>
              <a:rPr lang="en-US" sz="1700" b="1" spc="250" dirty="0">
                <a:solidFill>
                  <a:srgbClr val="3D3838"/>
                </a:solidFill>
                <a:latin typeface="Montserrat Bold" pitchFamily="34" charset="0"/>
                <a:ea typeface="Montserrat Bold" pitchFamily="34" charset="-122"/>
                <a:cs typeface="Montserrat Bold" pitchFamily="34" charset="-120"/>
              </a:rPr>
              <a:t>CLASS DIAGRAM</a:t>
            </a:r>
            <a:endParaRPr lang="en-US" sz="1700" spc="250" dirty="0"/>
          </a:p>
        </p:txBody>
      </p:sp>
      <p:sp>
        <p:nvSpPr>
          <p:cNvPr id="6" name="TextBox 5">
            <a:extLst>
              <a:ext uri="{FF2B5EF4-FFF2-40B4-BE49-F238E27FC236}">
                <a16:creationId xmlns:a16="http://schemas.microsoft.com/office/drawing/2014/main" xmlns="" id="{F922379A-477E-F778-6CFA-59766BFEF177}"/>
              </a:ext>
            </a:extLst>
          </p:cNvPr>
          <p:cNvSpPr txBox="1"/>
          <p:nvPr/>
        </p:nvSpPr>
        <p:spPr>
          <a:xfrm>
            <a:off x="3373037" y="5961904"/>
            <a:ext cx="6373662" cy="907937"/>
          </a:xfrm>
          <a:prstGeom prst="rect">
            <a:avLst/>
          </a:prstGeom>
          <a:noFill/>
        </p:spPr>
        <p:txBody>
          <a:bodyPr wrap="none" lIns="76197" tIns="38098" rIns="76197" bIns="38098" rtlCol="0">
            <a:spAutoFit/>
          </a:bodyPr>
          <a:lstStyle/>
          <a:p>
            <a:pPr algn="ctr"/>
            <a:r>
              <a:rPr lang="en-US" dirty="0">
                <a:solidFill>
                  <a:srgbClr val="3D3838"/>
                </a:solidFill>
                <a:latin typeface="Source Sans 3" pitchFamily="34" charset="0"/>
                <a:ea typeface="Source Sans 3" pitchFamily="34" charset="-122"/>
                <a:cs typeface="Source Sans 3" pitchFamily="34" charset="-120"/>
              </a:rPr>
              <a:t>Defines system entities: LDR Sensor, Power Sensor, ESP32</a:t>
            </a:r>
            <a:r>
              <a:rPr lang="en-US" dirty="0" smtClean="0">
                <a:solidFill>
                  <a:srgbClr val="3D3838"/>
                </a:solidFill>
                <a:latin typeface="Source Sans 3" pitchFamily="34" charset="0"/>
                <a:ea typeface="Source Sans 3" pitchFamily="34" charset="-122"/>
                <a:cs typeface="Source Sans 3" pitchFamily="34" charset="-120"/>
              </a:rPr>
              <a:t>,</a:t>
            </a:r>
          </a:p>
          <a:p>
            <a:pPr algn="ctr"/>
            <a:r>
              <a:rPr lang="en-US" dirty="0" smtClean="0">
                <a:solidFill>
                  <a:srgbClr val="3D3838"/>
                </a:solidFill>
                <a:latin typeface="Source Sans 3" pitchFamily="34" charset="0"/>
                <a:ea typeface="Source Sans 3" pitchFamily="34" charset="-122"/>
                <a:cs typeface="Source Sans 3" pitchFamily="34" charset="-120"/>
              </a:rPr>
              <a:t> </a:t>
            </a:r>
            <a:r>
              <a:rPr lang="en-US" dirty="0">
                <a:solidFill>
                  <a:srgbClr val="3D3838"/>
                </a:solidFill>
                <a:latin typeface="Source Sans 3" pitchFamily="34" charset="0"/>
                <a:ea typeface="Source Sans 3" pitchFamily="34" charset="-122"/>
                <a:cs typeface="Source Sans 3" pitchFamily="34" charset="-120"/>
              </a:rPr>
              <a:t>Servo Motor, ML Model, Dashboard.</a:t>
            </a:r>
            <a:endParaRPr lang="en-US" dirty="0"/>
          </a:p>
          <a:p>
            <a:pPr algn="ctr"/>
            <a:endParaRPr lang="en-IN" dirty="0"/>
          </a:p>
        </p:txBody>
      </p:sp>
    </p:spTree>
    <p:extLst>
      <p:ext uri="{BB962C8B-B14F-4D97-AF65-F5344CB8AC3E}">
        <p14:creationId xmlns:p14="http://schemas.microsoft.com/office/powerpoint/2010/main" val="10960031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81BB484-1DC2-1025-19D4-40A10189AF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C3694D8-8EA8-DD5A-3E3F-E7D1BAD76AC6}"/>
              </a:ext>
            </a:extLst>
          </p:cNvPr>
          <p:cNvSpPr>
            <a:spLocks noGrp="1"/>
          </p:cNvSpPr>
          <p:nvPr>
            <p:ph type="title"/>
          </p:nvPr>
        </p:nvSpPr>
        <p:spPr>
          <a:xfrm>
            <a:off x="1294361" y="122663"/>
            <a:ext cx="9879161" cy="914400"/>
          </a:xfrm>
        </p:spPr>
        <p:txBody>
          <a:bodyPr>
            <a:normAutofit/>
          </a:bodyPr>
          <a:lstStyle/>
          <a:p>
            <a:r>
              <a:rPr lang="en-IN" dirty="0">
                <a:solidFill>
                  <a:schemeClr val="tx1"/>
                </a:solidFill>
              </a:rPr>
              <a:t>Screenshots</a:t>
            </a:r>
          </a:p>
        </p:txBody>
      </p:sp>
      <p:sp>
        <p:nvSpPr>
          <p:cNvPr id="3" name="Rectangle 2"/>
          <p:cNvSpPr/>
          <p:nvPr/>
        </p:nvSpPr>
        <p:spPr>
          <a:xfrm>
            <a:off x="0" y="2322495"/>
            <a:ext cx="6096000" cy="2695610"/>
          </a:xfrm>
          <a:prstGeom prst="rect">
            <a:avLst/>
          </a:prstGeom>
        </p:spPr>
        <p:txBody>
          <a:bodyPr>
            <a:spAutoFit/>
          </a:bodyPr>
          <a:lstStyle/>
          <a:p>
            <a:pPr marL="342900" indent="-342900">
              <a:lnSpc>
                <a:spcPts val="2900"/>
              </a:lnSpc>
              <a:buSzPct val="100000"/>
              <a:buChar char="•"/>
            </a:pPr>
            <a:r>
              <a:rPr lang="en-US" dirty="0">
                <a:latin typeface="Source Sans 3" pitchFamily="34" charset="0"/>
                <a:ea typeface="Source Sans 3" pitchFamily="34" charset="-122"/>
                <a:cs typeface="Source Sans 3" pitchFamily="34" charset="-120"/>
              </a:rPr>
              <a:t>White and orange themed UI.</a:t>
            </a:r>
          </a:p>
          <a:p>
            <a:pPr marL="342900" indent="-342900">
              <a:lnSpc>
                <a:spcPts val="2900"/>
              </a:lnSpc>
              <a:buSzPct val="100000"/>
              <a:buChar char="•"/>
            </a:pPr>
            <a:endParaRPr lang="en-US" dirty="0"/>
          </a:p>
          <a:p>
            <a:pPr marL="342900" indent="-342900">
              <a:lnSpc>
                <a:spcPts val="2900"/>
              </a:lnSpc>
              <a:buSzPct val="100000"/>
              <a:buChar char="•"/>
            </a:pPr>
            <a:r>
              <a:rPr lang="en-US" dirty="0">
                <a:latin typeface="Source Sans 3" pitchFamily="34" charset="0"/>
                <a:ea typeface="Source Sans 3" pitchFamily="34" charset="-122"/>
                <a:cs typeface="Source Sans 3" pitchFamily="34" charset="-120"/>
              </a:rPr>
              <a:t>Displays real-time solar parameters.</a:t>
            </a:r>
          </a:p>
          <a:p>
            <a:pPr marL="342900" indent="-342900">
              <a:lnSpc>
                <a:spcPts val="2900"/>
              </a:lnSpc>
              <a:buSzPct val="100000"/>
              <a:buChar char="•"/>
            </a:pPr>
            <a:endParaRPr lang="en-US" dirty="0"/>
          </a:p>
          <a:p>
            <a:pPr marL="342900" indent="-342900">
              <a:lnSpc>
                <a:spcPts val="2900"/>
              </a:lnSpc>
              <a:buSzPct val="100000"/>
              <a:buChar char="•"/>
            </a:pPr>
            <a:r>
              <a:rPr lang="en-US" dirty="0">
                <a:latin typeface="Source Sans 3" pitchFamily="34" charset="0"/>
                <a:ea typeface="Source Sans 3" pitchFamily="34" charset="-122"/>
                <a:cs typeface="Source Sans 3" pitchFamily="34" charset="-120"/>
              </a:rPr>
              <a:t>Shows ML predicted energy.</a:t>
            </a:r>
          </a:p>
          <a:p>
            <a:pPr marL="342900" indent="-342900">
              <a:lnSpc>
                <a:spcPts val="2900"/>
              </a:lnSpc>
              <a:buSzPct val="100000"/>
              <a:buChar char="•"/>
            </a:pPr>
            <a:endParaRPr lang="en-US" dirty="0"/>
          </a:p>
          <a:p>
            <a:pPr marL="342900" indent="-342900">
              <a:lnSpc>
                <a:spcPts val="2900"/>
              </a:lnSpc>
              <a:buSzPct val="100000"/>
              <a:buChar char="•"/>
            </a:pPr>
            <a:r>
              <a:rPr lang="en-US" dirty="0">
                <a:latin typeface="Source Sans 3" pitchFamily="34" charset="0"/>
                <a:ea typeface="Source Sans 3" pitchFamily="34" charset="-122"/>
                <a:cs typeface="Source Sans 3" pitchFamily="34" charset="-120"/>
              </a:rPr>
              <a:t>Displays system logs</a:t>
            </a:r>
            <a:endParaRPr lang="en-IN"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06004" y="1771650"/>
            <a:ext cx="7238664" cy="4069715"/>
          </a:xfrm>
          <a:prstGeom prst="rect">
            <a:avLst/>
          </a:prstGeom>
          <a:noFill/>
          <a:ln>
            <a:noFill/>
          </a:ln>
        </p:spPr>
      </p:pic>
    </p:spTree>
    <p:extLst>
      <p:ext uri="{BB962C8B-B14F-4D97-AF65-F5344CB8AC3E}">
        <p14:creationId xmlns:p14="http://schemas.microsoft.com/office/powerpoint/2010/main" val="7371447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79A8101-061B-2622-D6D6-87246FF78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2582CA6-757A-E92D-50ED-DD5E5F9501EC}"/>
              </a:ext>
            </a:extLst>
          </p:cNvPr>
          <p:cNvSpPr>
            <a:spLocks noGrp="1"/>
          </p:cNvSpPr>
          <p:nvPr>
            <p:ph type="title"/>
          </p:nvPr>
        </p:nvSpPr>
        <p:spPr>
          <a:xfrm>
            <a:off x="1294361" y="122663"/>
            <a:ext cx="9879161" cy="914400"/>
          </a:xfrm>
        </p:spPr>
        <p:txBody>
          <a:bodyPr>
            <a:normAutofit/>
          </a:bodyPr>
          <a:lstStyle/>
          <a:p>
            <a:r>
              <a:rPr lang="en-IN" dirty="0">
                <a:solidFill>
                  <a:schemeClr val="tx1"/>
                </a:solidFill>
              </a:rPr>
              <a:t>Testing </a:t>
            </a:r>
          </a:p>
        </p:txBody>
      </p:sp>
      <p:pic>
        <p:nvPicPr>
          <p:cNvPr id="6" name="Image 0" descr="preencoded.png"/>
          <p:cNvPicPr>
            <a:picLocks noChangeAspect="1"/>
          </p:cNvPicPr>
          <p:nvPr/>
        </p:nvPicPr>
        <p:blipFill>
          <a:blip r:embed="rId2"/>
          <a:stretch>
            <a:fillRect/>
          </a:stretch>
        </p:blipFill>
        <p:spPr>
          <a:xfrm>
            <a:off x="-256083" y="1450599"/>
            <a:ext cx="8176021" cy="4092059"/>
          </a:xfrm>
          <a:prstGeom prst="rect">
            <a:avLst/>
          </a:prstGeom>
        </p:spPr>
      </p:pic>
      <p:sp>
        <p:nvSpPr>
          <p:cNvPr id="7" name="Text 1"/>
          <p:cNvSpPr/>
          <p:nvPr/>
        </p:nvSpPr>
        <p:spPr>
          <a:xfrm>
            <a:off x="-32959" y="3288950"/>
            <a:ext cx="1535543" cy="20878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600"/>
              </a:lnSpc>
              <a:buNone/>
            </a:pPr>
            <a:r>
              <a:rPr lang="en-US" sz="1300" b="1" dirty="0">
                <a:latin typeface="Montserrat Bold" pitchFamily="34" charset="0"/>
                <a:ea typeface="Montserrat Bold" pitchFamily="34" charset="-122"/>
                <a:cs typeface="Montserrat Bold" pitchFamily="34" charset="-120"/>
              </a:rPr>
              <a:t>Lower Cost</a:t>
            </a:r>
            <a:endParaRPr lang="en-US" sz="1300" dirty="0"/>
          </a:p>
        </p:txBody>
      </p:sp>
      <p:sp>
        <p:nvSpPr>
          <p:cNvPr id="8" name="Text 2"/>
          <p:cNvSpPr/>
          <p:nvPr/>
        </p:nvSpPr>
        <p:spPr>
          <a:xfrm>
            <a:off x="3086976" y="5200135"/>
            <a:ext cx="1670567" cy="20878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600"/>
              </a:lnSpc>
              <a:buNone/>
            </a:pPr>
            <a:r>
              <a:rPr lang="en-US" sz="1300" b="1" dirty="0">
                <a:latin typeface="Montserrat Bold" pitchFamily="34" charset="0"/>
                <a:ea typeface="Montserrat Bold" pitchFamily="34" charset="-122"/>
                <a:cs typeface="Montserrat Bold" pitchFamily="34" charset="-120"/>
              </a:rPr>
              <a:t>Lower Energy</a:t>
            </a:r>
            <a:endParaRPr lang="en-US" sz="1300" dirty="0"/>
          </a:p>
        </p:txBody>
      </p:sp>
      <p:sp>
        <p:nvSpPr>
          <p:cNvPr id="9" name="Text 3"/>
          <p:cNvSpPr/>
          <p:nvPr/>
        </p:nvSpPr>
        <p:spPr>
          <a:xfrm>
            <a:off x="6330035" y="3354209"/>
            <a:ext cx="1535543" cy="20878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600"/>
              </a:lnSpc>
              <a:buNone/>
            </a:pPr>
            <a:r>
              <a:rPr lang="en-US" sz="1300" b="1" dirty="0">
                <a:latin typeface="Montserrat Bold" pitchFamily="34" charset="0"/>
                <a:ea typeface="Montserrat Bold" pitchFamily="34" charset="-122"/>
                <a:cs typeface="Montserrat Bold" pitchFamily="34" charset="-120"/>
              </a:rPr>
              <a:t>Higher Cost</a:t>
            </a:r>
            <a:endParaRPr lang="en-US" sz="1300" dirty="0"/>
          </a:p>
        </p:txBody>
      </p:sp>
      <p:sp>
        <p:nvSpPr>
          <p:cNvPr id="10" name="Text 4"/>
          <p:cNvSpPr/>
          <p:nvPr/>
        </p:nvSpPr>
        <p:spPr>
          <a:xfrm>
            <a:off x="3102210" y="1654694"/>
            <a:ext cx="1670567" cy="20878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600"/>
              </a:lnSpc>
              <a:buNone/>
            </a:pPr>
            <a:r>
              <a:rPr lang="en-US" sz="1300" b="1" dirty="0">
                <a:latin typeface="Montserrat Bold" pitchFamily="34" charset="0"/>
                <a:ea typeface="Montserrat Bold" pitchFamily="34" charset="-122"/>
                <a:cs typeface="Montserrat Bold" pitchFamily="34" charset="-120"/>
              </a:rPr>
              <a:t>Higher Energy</a:t>
            </a:r>
            <a:endParaRPr lang="en-US" sz="1300" dirty="0"/>
          </a:p>
        </p:txBody>
      </p:sp>
      <p:sp>
        <p:nvSpPr>
          <p:cNvPr id="11" name="Text 5"/>
          <p:cNvSpPr/>
          <p:nvPr/>
        </p:nvSpPr>
        <p:spPr>
          <a:xfrm>
            <a:off x="2037199" y="4164675"/>
            <a:ext cx="1576382" cy="55132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400"/>
              </a:lnSpc>
              <a:buNone/>
            </a:pPr>
            <a:r>
              <a:rPr lang="en-US" sz="1150" dirty="0">
                <a:latin typeface="Source Sans 3" pitchFamily="34" charset="0"/>
                <a:ea typeface="Source Sans 3" pitchFamily="34" charset="-122"/>
                <a:cs typeface="Source Sans 3" pitchFamily="34" charset="-120"/>
              </a:rPr>
              <a:t>Tracking Costs — Higher Installation &amp; Maintenance</a:t>
            </a:r>
            <a:endParaRPr lang="en-US" sz="1150" dirty="0"/>
          </a:p>
        </p:txBody>
      </p:sp>
      <p:pic>
        <p:nvPicPr>
          <p:cNvPr id="12" name="Image 1" descr="preencoded.png"/>
          <p:cNvPicPr>
            <a:picLocks noChangeAspect="1"/>
          </p:cNvPicPr>
          <p:nvPr/>
        </p:nvPicPr>
        <p:blipFill>
          <a:blip>
            <a:extLst>
              <a:ext uri="{96DAC541-7B7A-43D3-8B79-37D633B846F1}">
                <asvg:svgBlip xmlns:asvg="http://schemas.microsoft.com/office/drawing/2016/SVG/main" xmlns:lc="http://schemas.openxmlformats.org/drawingml/2006/lockedCanvas" xmlns="" r:embed="rId3"/>
              </a:ext>
            </a:extLst>
          </a:blip>
          <a:stretch>
            <a:fillRect/>
          </a:stretch>
        </p:blipFill>
        <p:spPr>
          <a:xfrm>
            <a:off x="2663055" y="3761644"/>
            <a:ext cx="228699" cy="228698"/>
          </a:xfrm>
          <a:prstGeom prst="rect">
            <a:avLst/>
          </a:prstGeom>
        </p:spPr>
      </p:pic>
      <p:sp>
        <p:nvSpPr>
          <p:cNvPr id="13" name="Text 6"/>
          <p:cNvSpPr/>
          <p:nvPr/>
        </p:nvSpPr>
        <p:spPr>
          <a:xfrm>
            <a:off x="4201661" y="4172843"/>
            <a:ext cx="1576382" cy="55132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400"/>
              </a:lnSpc>
              <a:buNone/>
            </a:pPr>
            <a:r>
              <a:rPr lang="en-US" sz="1150" dirty="0">
                <a:latin typeface="Source Sans 3" pitchFamily="34" charset="0"/>
                <a:ea typeface="Source Sans 3" pitchFamily="34" charset="-122"/>
                <a:cs typeface="Source Sans 3" pitchFamily="34" charset="-120"/>
              </a:rPr>
              <a:t>Fixed Benefits — Lower Cost, Simple Maintenance</a:t>
            </a:r>
            <a:endParaRPr lang="en-US" sz="1150" dirty="0"/>
          </a:p>
        </p:txBody>
      </p:sp>
      <p:pic>
        <p:nvPicPr>
          <p:cNvPr id="14" name="Image 2" descr="preencoded.png"/>
          <p:cNvPicPr>
            <a:picLocks noChangeAspect="1"/>
          </p:cNvPicPr>
          <p:nvPr/>
        </p:nvPicPr>
        <p:blipFill>
          <a:blip>
            <a:extLst>
              <a:ext uri="{96DAC541-7B7A-43D3-8B79-37D633B846F1}">
                <asvg:svgBlip xmlns:asvg="http://schemas.microsoft.com/office/drawing/2016/SVG/main" xmlns:lc="http://schemas.openxmlformats.org/drawingml/2006/lockedCanvas" xmlns="" r:embed="rId4"/>
              </a:ext>
            </a:extLst>
          </a:blip>
          <a:stretch>
            <a:fillRect/>
          </a:stretch>
        </p:blipFill>
        <p:spPr>
          <a:xfrm>
            <a:off x="4875503" y="3766494"/>
            <a:ext cx="228699" cy="228698"/>
          </a:xfrm>
          <a:prstGeom prst="rect">
            <a:avLst/>
          </a:prstGeom>
        </p:spPr>
      </p:pic>
      <p:sp>
        <p:nvSpPr>
          <p:cNvPr id="15" name="Text 7"/>
          <p:cNvSpPr/>
          <p:nvPr/>
        </p:nvSpPr>
        <p:spPr>
          <a:xfrm>
            <a:off x="4201661" y="2753689"/>
            <a:ext cx="1576382" cy="367550"/>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400"/>
              </a:lnSpc>
              <a:buNone/>
            </a:pPr>
            <a:r>
              <a:rPr lang="en-US" sz="1150" dirty="0">
                <a:latin typeface="Source Sans 3" pitchFamily="34" charset="0"/>
                <a:ea typeface="Source Sans 3" pitchFamily="34" charset="-122"/>
                <a:cs typeface="Source Sans 3" pitchFamily="34" charset="-120"/>
              </a:rPr>
              <a:t>Tracking Panel — High Energy, Variable Output</a:t>
            </a:r>
            <a:endParaRPr lang="en-US" sz="1150" dirty="0"/>
          </a:p>
        </p:txBody>
      </p:sp>
      <p:pic>
        <p:nvPicPr>
          <p:cNvPr id="16" name="Image 3" descr="preencoded.png"/>
          <p:cNvPicPr>
            <a:picLocks noChangeAspect="1"/>
          </p:cNvPicPr>
          <p:nvPr/>
        </p:nvPicPr>
        <p:blipFill>
          <a:blip>
            <a:extLst>
              <a:ext uri="{96DAC541-7B7A-43D3-8B79-37D633B846F1}">
                <asvg:svgBlip xmlns:asvg="http://schemas.microsoft.com/office/drawing/2016/SVG/main" xmlns:lc="http://schemas.openxmlformats.org/drawingml/2006/lockedCanvas" xmlns="" r:embed="rId5"/>
              </a:ext>
            </a:extLst>
          </a:blip>
          <a:stretch>
            <a:fillRect/>
          </a:stretch>
        </p:blipFill>
        <p:spPr>
          <a:xfrm>
            <a:off x="4875503" y="2255455"/>
            <a:ext cx="228699" cy="228698"/>
          </a:xfrm>
          <a:prstGeom prst="rect">
            <a:avLst/>
          </a:prstGeom>
        </p:spPr>
      </p:pic>
      <p:sp>
        <p:nvSpPr>
          <p:cNvPr id="17" name="Text 8"/>
          <p:cNvSpPr/>
          <p:nvPr/>
        </p:nvSpPr>
        <p:spPr>
          <a:xfrm>
            <a:off x="1988191" y="2753689"/>
            <a:ext cx="1576382" cy="367550"/>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400"/>
              </a:lnSpc>
              <a:buNone/>
            </a:pPr>
            <a:r>
              <a:rPr lang="en-US" sz="1150" dirty="0">
                <a:latin typeface="Source Sans 3" pitchFamily="34" charset="0"/>
                <a:ea typeface="Source Sans 3" pitchFamily="34" charset="-122"/>
                <a:cs typeface="Source Sans 3" pitchFamily="34" charset="-120"/>
              </a:rPr>
              <a:t>Fixed Panel — Low Energy, Stable Output</a:t>
            </a:r>
            <a:endParaRPr lang="en-US" sz="1150" dirty="0"/>
          </a:p>
        </p:txBody>
      </p:sp>
      <p:pic>
        <p:nvPicPr>
          <p:cNvPr id="18" name="Image 4" descr="preencoded.png"/>
          <p:cNvPicPr>
            <a:picLocks noChangeAspect="1"/>
          </p:cNvPicPr>
          <p:nvPr/>
        </p:nvPicPr>
        <p:blipFill>
          <a:blip>
            <a:extLst>
              <a:ext uri="{96DAC541-7B7A-43D3-8B79-37D633B846F1}">
                <asvg:svgBlip xmlns:asvg="http://schemas.microsoft.com/office/drawing/2016/SVG/main" xmlns:lc="http://schemas.openxmlformats.org/drawingml/2006/lockedCanvas" xmlns="" r:embed="rId6"/>
              </a:ext>
            </a:extLst>
          </a:blip>
          <a:stretch>
            <a:fillRect/>
          </a:stretch>
        </p:blipFill>
        <p:spPr>
          <a:xfrm>
            <a:off x="2662035" y="2255455"/>
            <a:ext cx="228699" cy="228698"/>
          </a:xfrm>
          <a:prstGeom prst="rect">
            <a:avLst/>
          </a:prstGeom>
        </p:spPr>
      </p:pic>
      <p:sp>
        <p:nvSpPr>
          <p:cNvPr id="19" name="Text 9"/>
          <p:cNvSpPr/>
          <p:nvPr/>
        </p:nvSpPr>
        <p:spPr>
          <a:xfrm>
            <a:off x="2242023" y="6274655"/>
            <a:ext cx="8176021" cy="370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900"/>
              </a:lnSpc>
              <a:buNone/>
            </a:pPr>
            <a:r>
              <a:rPr lang="en-US" sz="1900" dirty="0">
                <a:latin typeface="Source Sans 3" pitchFamily="34" charset="0"/>
                <a:ea typeface="Source Sans 3" pitchFamily="34" charset="-122"/>
                <a:cs typeface="Source Sans 3" pitchFamily="34" charset="-120"/>
              </a:rPr>
              <a:t>Tracking mode consistently produces higher energy output.</a:t>
            </a:r>
            <a:endParaRPr lang="en-US" sz="1900" dirty="0"/>
          </a:p>
        </p:txBody>
      </p:sp>
      <p:sp>
        <p:nvSpPr>
          <p:cNvPr id="20" name="Text 10"/>
          <p:cNvSpPr/>
          <p:nvPr/>
        </p:nvSpPr>
        <p:spPr>
          <a:xfrm>
            <a:off x="7998561" y="1450599"/>
            <a:ext cx="246818" cy="308491"/>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900"/>
              </a:lnSpc>
              <a:buNone/>
            </a:pPr>
            <a:r>
              <a:rPr lang="en-US" sz="1900" dirty="0">
                <a:latin typeface="Montserrat Light" pitchFamily="34" charset="0"/>
                <a:ea typeface="Montserrat Light" pitchFamily="34" charset="-122"/>
                <a:cs typeface="Montserrat Light" pitchFamily="34" charset="-120"/>
              </a:rPr>
              <a:t>01</a:t>
            </a:r>
            <a:endParaRPr lang="en-US" sz="1900" dirty="0"/>
          </a:p>
        </p:txBody>
      </p:sp>
      <p:sp>
        <p:nvSpPr>
          <p:cNvPr id="21" name="Shape 11"/>
          <p:cNvSpPr/>
          <p:nvPr/>
        </p:nvSpPr>
        <p:spPr>
          <a:xfrm>
            <a:off x="7998558" y="1839575"/>
            <a:ext cx="4124444" cy="30480"/>
          </a:xfrm>
          <a:prstGeom prst="rect">
            <a:avLst/>
          </a:prstGeom>
          <a:solidFill>
            <a:srgbClr val="2D2E34"/>
          </a:solidFill>
          <a:ln/>
        </p:spPr>
        <p:txBody>
          <a:bodyPr/>
          <a:lstStyle/>
          <a:p>
            <a:endParaRPr lang="en-IN"/>
          </a:p>
        </p:txBody>
      </p:sp>
      <p:sp>
        <p:nvSpPr>
          <p:cNvPr id="22" name="Text 12"/>
          <p:cNvSpPr/>
          <p:nvPr/>
        </p:nvSpPr>
        <p:spPr>
          <a:xfrm>
            <a:off x="7998560" y="2023885"/>
            <a:ext cx="3476626" cy="35063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b="1" dirty="0">
                <a:latin typeface="Montserrat Bold" pitchFamily="34" charset="0"/>
                <a:ea typeface="Montserrat Bold" pitchFamily="34" charset="-122"/>
                <a:cs typeface="Montserrat Bold" pitchFamily="34" charset="-120"/>
              </a:rPr>
              <a:t>ML Prediction Accuracy</a:t>
            </a:r>
            <a:endParaRPr lang="en-US" sz="2200" dirty="0"/>
          </a:p>
        </p:txBody>
      </p:sp>
      <p:sp>
        <p:nvSpPr>
          <p:cNvPr id="23" name="Text 13"/>
          <p:cNvSpPr/>
          <p:nvPr/>
        </p:nvSpPr>
        <p:spPr>
          <a:xfrm>
            <a:off x="7998558" y="2621341"/>
            <a:ext cx="4124444" cy="740331"/>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900"/>
              </a:lnSpc>
              <a:buNone/>
            </a:pPr>
            <a:r>
              <a:rPr lang="en-US" sz="1900" dirty="0">
                <a:latin typeface="Source Sans 3" pitchFamily="34" charset="0"/>
                <a:ea typeface="Source Sans 3" pitchFamily="34" charset="-122"/>
                <a:cs typeface="Source Sans 3" pitchFamily="34" charset="-120"/>
              </a:rPr>
              <a:t>Machine Learning predictions closely align with actual trends.</a:t>
            </a:r>
            <a:endParaRPr lang="en-US" sz="1900" dirty="0"/>
          </a:p>
        </p:txBody>
      </p:sp>
      <p:sp>
        <p:nvSpPr>
          <p:cNvPr id="24" name="Text 14"/>
          <p:cNvSpPr/>
          <p:nvPr/>
        </p:nvSpPr>
        <p:spPr>
          <a:xfrm>
            <a:off x="7998561" y="3793511"/>
            <a:ext cx="246818" cy="308491"/>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900"/>
              </a:lnSpc>
              <a:buNone/>
            </a:pPr>
            <a:r>
              <a:rPr lang="en-US" sz="1900" dirty="0">
                <a:latin typeface="Montserrat Light" pitchFamily="34" charset="0"/>
                <a:ea typeface="Montserrat Light" pitchFamily="34" charset="-122"/>
                <a:cs typeface="Montserrat Light" pitchFamily="34" charset="-120"/>
              </a:rPr>
              <a:t>02</a:t>
            </a:r>
            <a:endParaRPr lang="en-US" sz="1900" dirty="0"/>
          </a:p>
        </p:txBody>
      </p:sp>
      <p:sp>
        <p:nvSpPr>
          <p:cNvPr id="25" name="Shape 15"/>
          <p:cNvSpPr/>
          <p:nvPr/>
        </p:nvSpPr>
        <p:spPr>
          <a:xfrm>
            <a:off x="7998558" y="4182487"/>
            <a:ext cx="4124444" cy="30480"/>
          </a:xfrm>
          <a:prstGeom prst="rect">
            <a:avLst/>
          </a:prstGeom>
          <a:solidFill>
            <a:srgbClr val="2D2E34"/>
          </a:solidFill>
          <a:ln/>
        </p:spPr>
        <p:txBody>
          <a:bodyPr/>
          <a:lstStyle/>
          <a:p>
            <a:endParaRPr lang="en-IN"/>
          </a:p>
        </p:txBody>
      </p:sp>
      <p:sp>
        <p:nvSpPr>
          <p:cNvPr id="26" name="Text 16"/>
          <p:cNvSpPr/>
          <p:nvPr/>
        </p:nvSpPr>
        <p:spPr>
          <a:xfrm>
            <a:off x="7998560" y="4366797"/>
            <a:ext cx="3073479" cy="35063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b="1" dirty="0">
                <a:latin typeface="Montserrat Bold" pitchFamily="34" charset="0"/>
                <a:ea typeface="Montserrat Bold" pitchFamily="34" charset="-122"/>
                <a:cs typeface="Montserrat Bold" pitchFamily="34" charset="-120"/>
              </a:rPr>
              <a:t>System Performance</a:t>
            </a:r>
            <a:endParaRPr lang="en-US" sz="2200" dirty="0"/>
          </a:p>
        </p:txBody>
      </p:sp>
      <p:sp>
        <p:nvSpPr>
          <p:cNvPr id="27" name="Text 17"/>
          <p:cNvSpPr/>
          <p:nvPr/>
        </p:nvSpPr>
        <p:spPr>
          <a:xfrm>
            <a:off x="7998558" y="4964253"/>
            <a:ext cx="4124444" cy="370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900"/>
              </a:lnSpc>
              <a:buNone/>
            </a:pPr>
            <a:r>
              <a:rPr lang="en-US" sz="1900" dirty="0">
                <a:latin typeface="Source Sans 3" pitchFamily="34" charset="0"/>
                <a:ea typeface="Source Sans 3" pitchFamily="34" charset="-122"/>
                <a:cs typeface="Source Sans 3" pitchFamily="34" charset="-120"/>
              </a:rPr>
              <a:t>Overall system performs as expected .</a:t>
            </a:r>
            <a:endParaRPr lang="en-US" sz="1900" dirty="0"/>
          </a:p>
        </p:txBody>
      </p:sp>
    </p:spTree>
    <p:extLst>
      <p:ext uri="{BB962C8B-B14F-4D97-AF65-F5344CB8AC3E}">
        <p14:creationId xmlns:p14="http://schemas.microsoft.com/office/powerpoint/2010/main" val="33755433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E7AB09F-907C-512B-5DD8-B33CBFF451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CCF140A-1270-2472-5824-FE652D221CA4}"/>
              </a:ext>
            </a:extLst>
          </p:cNvPr>
          <p:cNvSpPr>
            <a:spLocks noGrp="1"/>
          </p:cNvSpPr>
          <p:nvPr>
            <p:ph type="title"/>
          </p:nvPr>
        </p:nvSpPr>
        <p:spPr>
          <a:xfrm>
            <a:off x="1294361" y="122663"/>
            <a:ext cx="9879161" cy="914400"/>
          </a:xfrm>
        </p:spPr>
        <p:txBody>
          <a:bodyPr>
            <a:normAutofit/>
          </a:bodyPr>
          <a:lstStyle/>
          <a:p>
            <a:r>
              <a:rPr lang="en-IN" dirty="0">
                <a:solidFill>
                  <a:schemeClr val="tx1"/>
                </a:solidFill>
              </a:rPr>
              <a:t>Test cases</a:t>
            </a:r>
          </a:p>
        </p:txBody>
      </p:sp>
      <p:sp>
        <p:nvSpPr>
          <p:cNvPr id="3" name="Content Placeholder 2">
            <a:extLst>
              <a:ext uri="{FF2B5EF4-FFF2-40B4-BE49-F238E27FC236}">
                <a16:creationId xmlns:a16="http://schemas.microsoft.com/office/drawing/2014/main" xmlns="" id="{F3C9265D-9F48-F52A-31B8-2294E2161E2C}"/>
              </a:ext>
            </a:extLst>
          </p:cNvPr>
          <p:cNvSpPr>
            <a:spLocks noGrp="1"/>
          </p:cNvSpPr>
          <p:nvPr>
            <p:ph idx="1"/>
          </p:nvPr>
        </p:nvSpPr>
        <p:spPr>
          <a:xfrm>
            <a:off x="1005905" y="1271238"/>
            <a:ext cx="7747803" cy="4873084"/>
          </a:xfrm>
        </p:spPr>
        <p:txBody>
          <a:bodyPr>
            <a:noAutofit/>
          </a:bodyPr>
          <a:lstStyle/>
          <a:p>
            <a:pPr marL="742950" indent="-742950">
              <a:buFont typeface="Wingdings" panose="05000000000000000000" pitchFamily="2" charset="2"/>
              <a:buChar char="Ø"/>
            </a:pPr>
            <a:r>
              <a:rPr lang="en-IN" sz="2400" dirty="0" err="1">
                <a:solidFill>
                  <a:schemeClr val="tx1"/>
                </a:solidFill>
              </a:rPr>
              <a:t>gjslkdgj</a:t>
            </a:r>
            <a:endParaRPr lang="en-IN" sz="2400" dirty="0">
              <a:solidFill>
                <a:schemeClr val="tx1"/>
              </a:solidFill>
            </a:endParaRPr>
          </a:p>
        </p:txBody>
      </p:sp>
      <p:pic>
        <p:nvPicPr>
          <p:cNvPr id="4" name="Picture 2" descr="C:\Users\VishnuSwathi\OneDrive\Pictures\ChatGPT Image Apr 10, 2026, 10_31_52 A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 y="0"/>
            <a:ext cx="12179300" cy="784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1628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DC5236E-0235-B4C9-26F1-EFC4DD5D4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4B88997-A7F4-A161-3CD5-A8AA352FC437}"/>
              </a:ext>
            </a:extLst>
          </p:cNvPr>
          <p:cNvSpPr>
            <a:spLocks noGrp="1"/>
          </p:cNvSpPr>
          <p:nvPr>
            <p:ph type="title"/>
          </p:nvPr>
        </p:nvSpPr>
        <p:spPr>
          <a:xfrm>
            <a:off x="1294361" y="122663"/>
            <a:ext cx="9879161" cy="914400"/>
          </a:xfrm>
        </p:spPr>
        <p:txBody>
          <a:bodyPr>
            <a:normAutofit/>
          </a:bodyPr>
          <a:lstStyle/>
          <a:p>
            <a:r>
              <a:rPr lang="en-IN" dirty="0">
                <a:solidFill>
                  <a:schemeClr val="tx1"/>
                </a:solidFill>
              </a:rPr>
              <a:t>Conclusion</a:t>
            </a:r>
          </a:p>
        </p:txBody>
      </p:sp>
      <p:sp>
        <p:nvSpPr>
          <p:cNvPr id="3" name="Content Placeholder 2">
            <a:extLst>
              <a:ext uri="{FF2B5EF4-FFF2-40B4-BE49-F238E27FC236}">
                <a16:creationId xmlns:a16="http://schemas.microsoft.com/office/drawing/2014/main" xmlns="" id="{2549D905-0BCE-35FF-39F1-3C1D8DDD0391}"/>
              </a:ext>
            </a:extLst>
          </p:cNvPr>
          <p:cNvSpPr>
            <a:spLocks noGrp="1"/>
          </p:cNvSpPr>
          <p:nvPr>
            <p:ph idx="1"/>
          </p:nvPr>
        </p:nvSpPr>
        <p:spPr>
          <a:xfrm>
            <a:off x="1024954" y="1175988"/>
            <a:ext cx="10919396" cy="4873084"/>
          </a:xfrm>
        </p:spPr>
        <p:txBody>
          <a:bodyPr>
            <a:noAutofit/>
          </a:bodyPr>
          <a:lstStyle/>
          <a:p>
            <a:pPr algn="just">
              <a:lnSpc>
                <a:spcPct val="150000"/>
              </a:lnSpc>
            </a:pPr>
            <a:r>
              <a:rPr lang="en-US" sz="2400" dirty="0"/>
              <a:t>The project successfully demonstrates an </a:t>
            </a:r>
            <a:r>
              <a:rPr lang="en-US" sz="2400" dirty="0" smtClean="0"/>
              <a:t>“</a:t>
            </a:r>
            <a:r>
              <a:rPr lang="en-US" sz="2400" b="1" dirty="0" smtClean="0"/>
              <a:t>IOT-based </a:t>
            </a:r>
            <a:r>
              <a:rPr lang="en-US" sz="2400" b="1" dirty="0"/>
              <a:t>intelligent solar tracking </a:t>
            </a:r>
            <a:r>
              <a:rPr lang="en-US" sz="2400" b="1" dirty="0" smtClean="0"/>
              <a:t>system</a:t>
            </a:r>
            <a:r>
              <a:rPr lang="en-US" sz="2400" dirty="0" smtClean="0"/>
              <a:t>”. </a:t>
            </a:r>
            <a:endParaRPr lang="en-US" sz="2400" dirty="0"/>
          </a:p>
          <a:p>
            <a:pPr algn="just">
              <a:lnSpc>
                <a:spcPct val="150000"/>
              </a:lnSpc>
            </a:pPr>
            <a:r>
              <a:rPr lang="en-US" sz="2400" dirty="0"/>
              <a:t>Automatic tracking improves </a:t>
            </a:r>
            <a:r>
              <a:rPr lang="en-US" sz="2400" b="1" dirty="0"/>
              <a:t>energy efficiency and power output</a:t>
            </a:r>
            <a:r>
              <a:rPr lang="en-US" sz="2400" dirty="0"/>
              <a:t>. </a:t>
            </a:r>
          </a:p>
          <a:p>
            <a:pPr algn="just">
              <a:lnSpc>
                <a:spcPct val="150000"/>
              </a:lnSpc>
            </a:pPr>
            <a:r>
              <a:rPr lang="en-US" sz="2400" dirty="0" smtClean="0"/>
              <a:t>IOT </a:t>
            </a:r>
            <a:r>
              <a:rPr lang="en-US" sz="2400" dirty="0"/>
              <a:t>enables </a:t>
            </a:r>
            <a:r>
              <a:rPr lang="en-US" sz="2400" b="1" dirty="0"/>
              <a:t>real-time monitoring and remote access</a:t>
            </a:r>
            <a:r>
              <a:rPr lang="en-US" sz="2400" dirty="0"/>
              <a:t>. </a:t>
            </a:r>
          </a:p>
          <a:p>
            <a:pPr algn="just">
              <a:lnSpc>
                <a:spcPct val="150000"/>
              </a:lnSpc>
            </a:pPr>
            <a:r>
              <a:rPr lang="en-US" sz="2400" dirty="0"/>
              <a:t>Machine learning enhances </a:t>
            </a:r>
            <a:r>
              <a:rPr lang="en-US" sz="2400" b="1" dirty="0"/>
              <a:t>energy prediction and planning</a:t>
            </a:r>
            <a:r>
              <a:rPr lang="en-US" sz="2400" dirty="0"/>
              <a:t>. </a:t>
            </a:r>
          </a:p>
          <a:p>
            <a:pPr algn="just">
              <a:lnSpc>
                <a:spcPct val="150000"/>
              </a:lnSpc>
            </a:pPr>
            <a:r>
              <a:rPr lang="en-US" sz="2400" dirty="0"/>
              <a:t>The system is </a:t>
            </a:r>
            <a:r>
              <a:rPr lang="en-US" sz="2400" b="1" dirty="0"/>
              <a:t>cost-effective, scalable, and supports renewable energy adoption</a:t>
            </a:r>
            <a:r>
              <a:rPr lang="en-US" sz="2400" dirty="0"/>
              <a:t>. </a:t>
            </a:r>
          </a:p>
          <a:p>
            <a:pPr marL="0" indent="0">
              <a:buNone/>
            </a:pPr>
            <a:endParaRPr lang="en-IN" sz="2400" dirty="0">
              <a:solidFill>
                <a:schemeClr val="tx1"/>
              </a:solidFill>
            </a:endParaRPr>
          </a:p>
        </p:txBody>
      </p:sp>
    </p:spTree>
    <p:extLst>
      <p:ext uri="{BB962C8B-B14F-4D97-AF65-F5344CB8AC3E}">
        <p14:creationId xmlns:p14="http://schemas.microsoft.com/office/powerpoint/2010/main" val="35520216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2089F01-DD7D-0A51-A1DF-57A9A00D64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2A5ACA0-16A0-9289-0315-DF22AA2BED76}"/>
              </a:ext>
            </a:extLst>
          </p:cNvPr>
          <p:cNvSpPr>
            <a:spLocks noGrp="1"/>
          </p:cNvSpPr>
          <p:nvPr>
            <p:ph type="title"/>
          </p:nvPr>
        </p:nvSpPr>
        <p:spPr>
          <a:xfrm>
            <a:off x="1294361" y="122663"/>
            <a:ext cx="9879161" cy="914400"/>
          </a:xfrm>
        </p:spPr>
        <p:txBody>
          <a:bodyPr>
            <a:normAutofit/>
          </a:bodyPr>
          <a:lstStyle/>
          <a:p>
            <a:r>
              <a:rPr lang="en-IN" dirty="0">
                <a:solidFill>
                  <a:schemeClr val="tx1"/>
                </a:solidFill>
              </a:rPr>
              <a:t>Future Enhancement</a:t>
            </a:r>
          </a:p>
        </p:txBody>
      </p:sp>
      <p:sp>
        <p:nvSpPr>
          <p:cNvPr id="3" name="Content Placeholder 2">
            <a:extLst>
              <a:ext uri="{FF2B5EF4-FFF2-40B4-BE49-F238E27FC236}">
                <a16:creationId xmlns:a16="http://schemas.microsoft.com/office/drawing/2014/main" xmlns="" id="{761AEC82-0C92-1724-C67D-B7D324620974}"/>
              </a:ext>
            </a:extLst>
          </p:cNvPr>
          <p:cNvSpPr>
            <a:spLocks noGrp="1"/>
          </p:cNvSpPr>
          <p:nvPr>
            <p:ph idx="1"/>
          </p:nvPr>
        </p:nvSpPr>
        <p:spPr>
          <a:xfrm>
            <a:off x="1253555" y="1385538"/>
            <a:ext cx="9871646" cy="4873084"/>
          </a:xfrm>
        </p:spPr>
        <p:txBody>
          <a:bodyPr>
            <a:noAutofit/>
          </a:bodyPr>
          <a:lstStyle/>
          <a:p>
            <a:pPr algn="just">
              <a:lnSpc>
                <a:spcPct val="150000"/>
              </a:lnSpc>
            </a:pPr>
            <a:r>
              <a:rPr lang="en-IN" sz="2400" b="1" dirty="0"/>
              <a:t>Dual-axis solar tracking</a:t>
            </a:r>
            <a:r>
              <a:rPr lang="en-IN" sz="2400" dirty="0"/>
              <a:t> to maximize energy efficiency </a:t>
            </a:r>
          </a:p>
          <a:p>
            <a:pPr algn="just">
              <a:lnSpc>
                <a:spcPct val="150000"/>
              </a:lnSpc>
            </a:pPr>
            <a:r>
              <a:rPr lang="en-IN" sz="2400" b="1" dirty="0"/>
              <a:t>Advanced AI/Deep Learning models</a:t>
            </a:r>
            <a:r>
              <a:rPr lang="en-IN" sz="2400" dirty="0"/>
              <a:t> for accurate energy prediction </a:t>
            </a:r>
          </a:p>
          <a:p>
            <a:pPr algn="just">
              <a:lnSpc>
                <a:spcPct val="150000"/>
              </a:lnSpc>
            </a:pPr>
            <a:r>
              <a:rPr lang="en-IN" sz="2400" b="1" dirty="0"/>
              <a:t>Battery storage integration</a:t>
            </a:r>
            <a:r>
              <a:rPr lang="en-IN" sz="2400" dirty="0"/>
              <a:t> for efficient energy utilization </a:t>
            </a:r>
          </a:p>
          <a:p>
            <a:pPr algn="just">
              <a:lnSpc>
                <a:spcPct val="150000"/>
              </a:lnSpc>
            </a:pPr>
            <a:r>
              <a:rPr lang="en-IN" sz="2400" b="1" dirty="0"/>
              <a:t>Mobile/Web app</a:t>
            </a:r>
            <a:r>
              <a:rPr lang="en-IN" sz="2400" dirty="0"/>
              <a:t> for real-time monitoring and control </a:t>
            </a:r>
          </a:p>
          <a:p>
            <a:pPr algn="just">
              <a:lnSpc>
                <a:spcPct val="150000"/>
              </a:lnSpc>
            </a:pPr>
            <a:r>
              <a:rPr lang="en-IN" sz="2400" b="1" dirty="0"/>
              <a:t>Smart grid integration</a:t>
            </a:r>
            <a:r>
              <a:rPr lang="en-IN" sz="2400" dirty="0"/>
              <a:t> for large-scale deployment </a:t>
            </a:r>
          </a:p>
          <a:p>
            <a:pPr marL="0" indent="0">
              <a:lnSpc>
                <a:spcPct val="150000"/>
              </a:lnSpc>
              <a:buNone/>
            </a:pPr>
            <a:endParaRPr lang="en-IN" sz="2400" dirty="0">
              <a:solidFill>
                <a:schemeClr val="tx1"/>
              </a:solidFill>
            </a:endParaRPr>
          </a:p>
        </p:txBody>
      </p:sp>
    </p:spTree>
    <p:extLst>
      <p:ext uri="{BB962C8B-B14F-4D97-AF65-F5344CB8AC3E}">
        <p14:creationId xmlns:p14="http://schemas.microsoft.com/office/powerpoint/2010/main" val="38918745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ank You">
            <a:extLst>
              <a:ext uri="{FF2B5EF4-FFF2-40B4-BE49-F238E27FC236}">
                <a16:creationId xmlns:a16="http://schemas.microsoft.com/office/drawing/2014/main" xmlns="" id="{B097B0E1-5FCD-3F42-D806-5708F7F421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8058"/>
            <a:ext cx="12192000" cy="7574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893757"/>
      </p:ext>
    </p:extLst>
  </p:cSld>
  <p:clrMapOvr>
    <a:masterClrMapping/>
  </p:clrMapOvr>
  <p:timing>
    <p:tnLst>
      <p:par>
        <p:cTn id="1" dur="indefinite" restart="never" nodeType="tmRoot"/>
      </p:par>
    </p:tnLst>
  </p:timing>
</p:sld>
</file>

<file path=ppt/theme/theme1.xml><?xml version="1.0" encoding="utf-8"?>
<a:theme xmlns:a="http://schemas.openxmlformats.org/drawingml/2006/main" name="Parcel">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xmlns="" name="Parcel" id="{8BEC4385-4EB9-4D53-BFB5-0EA123736B6D}" vid="{0BDC4BB7-8AF9-46FD-8C32-AB93AC9C4100}"/>
    </a:ext>
  </a:extLst>
</a:theme>
</file>

<file path=docProps/app.xml><?xml version="1.0" encoding="utf-8"?>
<Properties xmlns="http://schemas.openxmlformats.org/officeDocument/2006/extended-properties" xmlns:vt="http://schemas.openxmlformats.org/officeDocument/2006/docPropsVTypes">
  <Template/>
  <TotalTime>898</TotalTime>
  <Words>1071</Words>
  <Application>Microsoft Office PowerPoint</Application>
  <PresentationFormat>Custom</PresentationFormat>
  <Paragraphs>191</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Parcel</vt:lpstr>
      <vt:lpstr> IOT-BASED INTELLIGENT SOLAR TRACKING AND ENERGY PREDICTION SYSTEM USING MACHINE LEARNING </vt:lpstr>
      <vt:lpstr>CONTENTS</vt:lpstr>
      <vt:lpstr>Abstract</vt:lpstr>
      <vt:lpstr>Existing System</vt:lpstr>
      <vt:lpstr>Proposed System</vt:lpstr>
      <vt:lpstr>Architecture Diagram</vt:lpstr>
      <vt:lpstr> SYSTEM REQUIREMENTS </vt:lpstr>
      <vt:lpstr>Hardware simulation</vt:lpstr>
      <vt:lpstr>Module descriptions</vt:lpstr>
      <vt:lpstr>DFD DIAGRAM</vt:lpstr>
      <vt:lpstr>UML diagrams</vt:lpstr>
      <vt:lpstr>PowerPoint Presentation</vt:lpstr>
      <vt:lpstr>PowerPoint Presentation</vt:lpstr>
      <vt:lpstr>PowerPoint Presentation</vt:lpstr>
      <vt:lpstr>Screenshots</vt:lpstr>
      <vt:lpstr>Testing </vt:lpstr>
      <vt:lpstr>Test cases</vt:lpstr>
      <vt:lpstr>Conclusion</vt:lpstr>
      <vt:lpstr>Future Enhancement</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S.Senthil Nayagam</dc:creator>
  <cp:lastModifiedBy>sharkesh</cp:lastModifiedBy>
  <cp:revision>69</cp:revision>
  <dcterms:created xsi:type="dcterms:W3CDTF">2024-01-11T12:50:43Z</dcterms:created>
  <dcterms:modified xsi:type="dcterms:W3CDTF">2026-04-21T15:27:30Z</dcterms:modified>
</cp:coreProperties>
</file>